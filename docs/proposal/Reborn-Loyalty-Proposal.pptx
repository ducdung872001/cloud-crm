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57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v1.1  •  23/04/2026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XUẤT GIẢI PHÁP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Loyalty thống nhất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chuỗi siêu thị bán lẻ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Goldmem · MS Access · MS Excel · Supporter thành 1 nền tảng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sàng mở rộng từ 300 đến 1.500 điểm bán — xử lý 300.000 giao dịch/ngày peak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" y="5120640"/>
            <a:ext cx="2103120" cy="1097280"/>
          </a:xfrm>
          <a:prstGeom prst="roundRect">
            <a:avLst>
              <a:gd name="adj" fmla="val 8333"/>
            </a:avLst>
          </a:prstGeom>
          <a:solidFill>
            <a:srgbClr val="0D3D38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" y="51937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0916" y="5623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cửa hàng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0916" y="5897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1.500 trong 3 năm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56916" y="5120640"/>
            <a:ext cx="2103120" cy="1097280"/>
          </a:xfrm>
          <a:prstGeom prst="roundRect">
            <a:avLst>
              <a:gd name="adj" fmla="val 8333"/>
            </a:avLst>
          </a:prstGeom>
          <a:solidFill>
            <a:srgbClr val="0D3D38"/>
          </a:solidFill>
          <a:ln w="19050">
            <a:solidFill>
              <a:srgbClr val="FF8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56916" y="51937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triệu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756916" y="5623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hội viên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56916" y="5897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70-80% có mua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42916" y="5120640"/>
            <a:ext cx="2103120" cy="1097280"/>
          </a:xfrm>
          <a:prstGeom prst="roundRect">
            <a:avLst>
              <a:gd name="adj" fmla="val 8333"/>
            </a:avLst>
          </a:prstGeom>
          <a:solidFill>
            <a:srgbClr val="0D3D38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42916" y="51937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150K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042916" y="5623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txn/ngày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42916" y="5897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300K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28916" y="5120640"/>
            <a:ext cx="2103120" cy="1097280"/>
          </a:xfrm>
          <a:prstGeom prst="roundRect">
            <a:avLst>
              <a:gd name="adj" fmla="val 8333"/>
            </a:avLst>
          </a:prstGeom>
          <a:solidFill>
            <a:srgbClr val="0D3D38"/>
          </a:solidFill>
          <a:ln w="19050">
            <a:solidFill>
              <a:srgbClr val="D69E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28916" y="51937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→ 1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28916" y="5623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28916" y="5897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data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614916" y="5120640"/>
            <a:ext cx="2103120" cy="1097280"/>
          </a:xfrm>
          <a:prstGeom prst="roundRect">
            <a:avLst>
              <a:gd name="adj" fmla="val 8333"/>
            </a:avLst>
          </a:prstGeom>
          <a:solidFill>
            <a:srgbClr val="0D3D38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14916" y="51937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9614916" y="5623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thương hiệu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614916" y="5897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dùng chéo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•  ceo@reborn.vn  •  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trình bày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phần — tập trung vào bài toán, giải pháp và lộ trình mở rộng 3 năm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146304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4630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37360" y="1463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Hiện trạng &amp; Bài toán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0" y="1463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công cụ rời rạc, 2 brand độc lập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05740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057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2057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liệu khảo sát Q&amp;A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2057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 KH, 150K txn/ngày, kế hoạch 1.500 store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265176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2651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Reborn Loyalty Platform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dữ liệu + tự động hoá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324612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2461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73736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&amp; Công nghệ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Multi-tenant, scale 300K txn peak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384048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840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73736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tiết 20 tính năng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sàng, cấu hình không code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443484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44348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737360" y="44348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4 hệ thống + Tích hợp POS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858000" y="44348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Goldmem/Access/Excel/Supporter → Reborn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4400" y="502920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737360" y="5029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6 tháng + Mở rộng 3 năm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858000" y="5029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→ 800 → 1.500 điểm bán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14400" y="5623560"/>
            <a:ext cx="548640" cy="45720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6235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737360" y="56235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kết SLA + Tại sao chọn Reborn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858000" y="56235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txn/giây sustained, 99.5% uptime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Hiện trạng — Dữ liệu KHTV rải rác 4 công cụ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Quý khách đang vận hành song song 4 phần mềm riêng biệt, liên kết thủ công — thiếu công cụ hợp nhất.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46304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AFCF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463040"/>
            <a:ext cx="2651760" cy="411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630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GOLDMEM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KHTV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Đăng ký / sửa thông tin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Quyền lợi sinh nhật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Lịch sử mua hàng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Lịch sử thay đổi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83280" y="146304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AFCFB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3280" y="1463040"/>
            <a:ext cx="2651760" cy="4114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14630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ACCESS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38328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hợp quyền lợi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66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Danh mục KHTV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6616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Lịch sử tích luỹ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6616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Phát sinh quyền lợi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6616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Thống kê cơ bản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146304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AFCFB"/>
          </a:solidFill>
          <a:ln w="25400">
            <a:solidFill>
              <a:srgbClr val="D69E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17920" y="1463040"/>
            <a:ext cx="2651760" cy="41148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14630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EXCEL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21792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&amp; xử lý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Bảng tổng hợp KHTV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Xử lý dữ liệu thủ công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Dashboard báo cáo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Biểu đồ phân tích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052560" y="146304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AFCFB"/>
          </a:solidFill>
          <a:ln w="25400">
            <a:solidFill>
              <a:srgbClr val="E85D4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52560" y="1463040"/>
            <a:ext cx="2651760" cy="411480"/>
          </a:xfrm>
          <a:prstGeom prst="rect">
            <a:avLst/>
          </a:prstGeom>
          <a:solidFill>
            <a:srgbClr val="E85D4B"/>
          </a:solidFill>
          <a:ln/>
        </p:spPr>
      </p:sp>
      <p:sp>
        <p:nvSpPr>
          <p:cNvPr id="36" name="Text 34"/>
          <p:cNvSpPr/>
          <p:nvPr/>
        </p:nvSpPr>
        <p:spPr>
          <a:xfrm>
            <a:off x="9052560" y="14630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05256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85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Khiếu nại CSKH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23544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Tên, SĐT khách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23544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Nội dung khiếu nại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3544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Mức độ, đơn vị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23544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Kết quả xử lý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48640" y="4663440"/>
            <a:ext cx="11091672" cy="1463040"/>
          </a:xfrm>
          <a:prstGeom prst="roundRect">
            <a:avLst>
              <a:gd name="adj" fmla="val 6250"/>
            </a:avLst>
          </a:prstGeom>
          <a:solidFill>
            <a:srgbClr val="FEF2F2"/>
          </a:solidFill>
          <a:ln w="19050">
            <a:solidFill>
              <a:srgbClr val="E85D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4754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QUẢ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22960" y="507492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Mỗi lần truy vấn 1 KH → tra 3-4 nơi, mất thời gian, dễ sai lệch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507492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Thao tác KHTV chủ yếu thủ công → phụ thuộc kỹ năng nhân sự, không scale được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22960" y="553212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Khiếu nại ở Supporter tách khỏi profile KH → CSKH không biết khách hạng gì khi tiếp nhận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09360" y="553212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2 brand loyalty độc lập → cùng 1 người nhận diện riêng, không upsell chéo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liệu khảo sát — Quy mô &amp; Kế hoạch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Trích xuất từ Q&amp;A khảo sát khách hàng (docs/Q&amp;A/QA_FN.xlsx)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MÔ HIỆN TẠI (2025)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737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0" y="1737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thương hiệu bán lẻ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2860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743200" y="2286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cửa hàng / điểm bán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83464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8346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triệu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74320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KHTV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3832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743200" y="3383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tỷ lệ KHTV có phát sinh mua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93192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931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~150.000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74320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giao dịch / ngày trung bình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4805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5F9F8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480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~300.000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74320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giao dịch / ngày peak (lễ/sale)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 HOẠCH MỞ RỘNG (1–3 NĂM)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30936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1737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1.000–1.500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0" y="1737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bán / điểm chạm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2286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22860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503920" y="2286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kênh trực tuyến mở rộng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283464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37" name="Text 35"/>
          <p:cNvSpPr/>
          <p:nvPr/>
        </p:nvSpPr>
        <p:spPr>
          <a:xfrm>
            <a:off x="6492240" y="28346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0392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liên kết đối tác / hệ sinh thái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33832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thức: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503920" y="3383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hệ thống x5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309360" y="393192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43" name="Text 41"/>
          <p:cNvSpPr/>
          <p:nvPr/>
        </p:nvSpPr>
        <p:spPr>
          <a:xfrm>
            <a:off x="6492240" y="3931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thức: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50392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thay thế agency marketing ngoài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309360" y="44805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/>
        </p:spPr>
      </p:sp>
      <p:sp>
        <p:nvSpPr>
          <p:cNvPr id="46" name="Text 44"/>
          <p:cNvSpPr/>
          <p:nvPr/>
        </p:nvSpPr>
        <p:spPr>
          <a:xfrm>
            <a:off x="6492240" y="4480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thức: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50392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CNTT cao hơn trong dịch vụ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48640" y="530352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0D3D38"/>
          </a:solidFill>
          <a:ln/>
        </p:spPr>
      </p:sp>
      <p:sp>
        <p:nvSpPr>
          <p:cNvPr id="49" name="Text 47"/>
          <p:cNvSpPr/>
          <p:nvPr/>
        </p:nvSpPr>
        <p:spPr>
          <a:xfrm>
            <a:off x="822960" y="5394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22960" y="566928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70-80% KHTV active là rất cao. Bài toán là NÂNG GIÁ TRỊ VÒNG ĐỜI (CLV) + UPSELL CROSS-BRAND — không phải giữ chân. Nền tảng phải sẵn sàng scale x5 trong 3 năm, giải phóng khỏi agency marketing ngoài, tự động hoá để không phụ thuộc kỹ năng nhân sự.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pháp: Reborn Loyalty Platform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nguyên tắc thiết kế — mỗi nguyên tắc giải 1 pain point cụ thể của khách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3776" y="137160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1371600"/>
            <a:ext cx="2697480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" y="150876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85216" y="2057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hợp, không thay POS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" y="24688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giữ nguyên, chỉ thêm API call sau thanh toán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68096" y="315468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" y="32004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Không gián đoạn 150K txn/ngày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28416" y="137160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28416" y="1371600"/>
            <a:ext cx="269748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3328416" y="150876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419856" y="2057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hoá tối đa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65576" y="24688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thao tác KHTV chạy bằng cron + rule engine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02736" y="315468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23" name="Text 21"/>
          <p:cNvSpPr/>
          <p:nvPr/>
        </p:nvSpPr>
        <p:spPr>
          <a:xfrm>
            <a:off x="3465576" y="32004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Giải vấn đề thủ công, thiếu kỹ năng 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63056" y="137160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1371600"/>
            <a:ext cx="2697480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6163056" y="150876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254496" y="2057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1 nguồn data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0216" y="24688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Goldmem + Access + Excel + Supporter → hồ sơ 360°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37376" y="315468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30" name="Text 28"/>
          <p:cNvSpPr/>
          <p:nvPr/>
        </p:nvSpPr>
        <p:spPr>
          <a:xfrm>
            <a:off x="6300216" y="32004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Giải data rải rác, liên kết thủ công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997696" y="137160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997696" y="1371600"/>
            <a:ext cx="2697480" cy="7315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3" name="Text 31"/>
          <p:cNvSpPr/>
          <p:nvPr/>
        </p:nvSpPr>
        <p:spPr>
          <a:xfrm>
            <a:off x="8997696" y="150876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🎛️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9089136" y="2057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hình, không code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34856" y="24688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nghiệp vụ tự đổi rule, campaign, hạng, hạn điểm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272016" y="315468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37" name="Text 35"/>
          <p:cNvSpPr/>
          <p:nvPr/>
        </p:nvSpPr>
        <p:spPr>
          <a:xfrm>
            <a:off x="9134856" y="32004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Độc lập với IT/agency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911096" y="379476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11096" y="3794760"/>
            <a:ext cx="2697480" cy="73152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40" name="Text 38"/>
          <p:cNvSpPr/>
          <p:nvPr/>
        </p:nvSpPr>
        <p:spPr>
          <a:xfrm>
            <a:off x="1911096" y="3931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2002536" y="44805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Multi-brand + Multi-branch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048256" y="489204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2 brand, mở rộng 300 → 1.500 cửa hàng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185416" y="557784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44" name="Text 42"/>
          <p:cNvSpPr/>
          <p:nvPr/>
        </p:nvSpPr>
        <p:spPr>
          <a:xfrm>
            <a:off x="2048256" y="56235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Sẵn sàng kế hoạch 3 năm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45736" y="379476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45736" y="3794760"/>
            <a:ext cx="2697480" cy="7315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7" name="Text 45"/>
          <p:cNvSpPr/>
          <p:nvPr/>
        </p:nvSpPr>
        <p:spPr>
          <a:xfrm>
            <a:off x="4745736" y="3931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4837176" y="44805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API-first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882896" y="489204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tính năng có API — Phòng CNTT&amp;CĐS tự tích hợp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020056" y="557784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51" name="Text 49"/>
          <p:cNvSpPr/>
          <p:nvPr/>
        </p:nvSpPr>
        <p:spPr>
          <a:xfrm>
            <a:off x="4882896" y="56235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Tận dụng năng lực IT nội bộ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80376" y="3794760"/>
            <a:ext cx="2697480" cy="2240280"/>
          </a:xfrm>
          <a:prstGeom prst="roundRect">
            <a:avLst>
              <a:gd name="adj" fmla="val 4082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80376" y="3794760"/>
            <a:ext cx="2697480" cy="73152"/>
          </a:xfrm>
          <a:prstGeom prst="rect">
            <a:avLst/>
          </a:prstGeom>
          <a:solidFill>
            <a:srgbClr val="E85D4B"/>
          </a:solidFill>
          <a:ln/>
        </p:spPr>
      </p:sp>
      <p:sp>
        <p:nvSpPr>
          <p:cNvPr id="54" name="Text 52"/>
          <p:cNvSpPr/>
          <p:nvPr/>
        </p:nvSpPr>
        <p:spPr>
          <a:xfrm>
            <a:off x="7580376" y="3931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7671816" y="44805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3M KH, 300K peak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717536" y="489204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jobs, Redis cache, async queue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854696" y="5577840"/>
            <a:ext cx="2148840" cy="18288"/>
          </a:xfrm>
          <a:prstGeom prst="rect">
            <a:avLst/>
          </a:prstGeom>
          <a:solidFill>
            <a:srgbClr val="D9E0DE"/>
          </a:solidFill>
          <a:ln/>
        </p:spPr>
      </p:sp>
      <p:sp>
        <p:nvSpPr>
          <p:cNvPr id="58" name="Text 56"/>
          <p:cNvSpPr/>
          <p:nvPr/>
        </p:nvSpPr>
        <p:spPr>
          <a:xfrm>
            <a:off x="7717536" y="56235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85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Không nghẽn POS giờ vàng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hệ thống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Microservice · Multi-tenant · API Gateway · Scale 300K txn/ngày peak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D69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46304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Brand 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 store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D69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4688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Brand 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 store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7472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4805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4805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0" y="1463040"/>
            <a:ext cx="5760720" cy="3931920"/>
          </a:xfrm>
          <a:prstGeom prst="roundRect">
            <a:avLst>
              <a:gd name="adj" fmla="val 2791"/>
            </a:avLst>
          </a:prstGeom>
          <a:solidFill>
            <a:srgbClr val="0D3D38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0" y="15544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LOYALTY PLATFORM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18745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(Java Spring Boot microservices · MySQL 8 · Redis · RabbitMQ)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23591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Engine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832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điểm auto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36592" y="22860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36592" y="23591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&amp; Points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36592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Sổ cái, FIFO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89904" y="22860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89904" y="23591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Management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89904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Thăng/hạ hạng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43216" y="22860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43216" y="23591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43216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thưởng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383280" y="32004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2735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CSKH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383280" y="35661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Khiếu nại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736592" y="32004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36592" y="32735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Auto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35661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Email/SMS/Zalo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089904" y="32004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89904" y="32735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089904" y="35661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443216" y="3200400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43216" y="32735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Dashboard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443216" y="35661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383280" y="429768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00C9A7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42976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HUB — 3M+ hội viên, merge cross-brand, 360° profile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383280" y="466344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từ Goldmem · MS Access · MS Excel · Supporter qua ETL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601200" y="14630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601200" y="146304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9601200" y="246888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24688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Phân tích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9601200" y="347472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601200" y="347472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cho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đối tác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9601200" y="44805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AFCFB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805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2560320" y="19202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8961120" y="19202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2560320" y="292608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8961120" y="292608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2560320" y="3931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8961120" y="3931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2560320" y="49377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8961120" y="49377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457200" y="56692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SLA: API P95 &lt; 500ms · 500 txn/giây sustained · 99.5% uptime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tính năng — Phần 1: Hội viên &amp; Tích điểm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Tất cả sẵn sàng, deploy là dùng được, cấu hình theo chính sách khách hàng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371600"/>
            <a:ext cx="73152" cy="96012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1463040"/>
            <a:ext cx="411480" cy="4114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463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34440" y="148132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hội viên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34440" y="178308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 cứu 3M+ KH, lọc đa tiêu chí, phân trang tốc độ cao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72200" y="1371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1371600"/>
            <a:ext cx="73152" cy="96012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8" name="Shape 16"/>
          <p:cNvSpPr/>
          <p:nvPr/>
        </p:nvSpPr>
        <p:spPr>
          <a:xfrm>
            <a:off x="6355080" y="1463040"/>
            <a:ext cx="411480" cy="4114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1463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0" y="148132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barcode / QR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178308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ảo + in vật lý, scan tại POS nhận diện ngay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42316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423160"/>
            <a:ext cx="73152" cy="96012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2514600"/>
            <a:ext cx="411480" cy="4114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34440" y="253288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CSV 3M record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34440" y="28346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từ Goldmem, dedupe theo SĐT, merge cross-brand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72200" y="242316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23160"/>
            <a:ext cx="73152" cy="96012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0" name="Shape 28"/>
          <p:cNvSpPr/>
          <p:nvPr/>
        </p:nvSpPr>
        <p:spPr>
          <a:xfrm>
            <a:off x="6355080" y="2514600"/>
            <a:ext cx="411480" cy="4114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31" name="Text 29"/>
          <p:cNvSpPr/>
          <p:nvPr/>
        </p:nvSpPr>
        <p:spPr>
          <a:xfrm>
            <a:off x="635508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58000" y="253288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Hồ sơ KH 360°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58000" y="28346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Gộp lịch sử mua + quyền lợi + khiếu nại (từ Supporter)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3474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3474720"/>
            <a:ext cx="73152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6" name="Shape 34"/>
          <p:cNvSpPr/>
          <p:nvPr/>
        </p:nvSpPr>
        <p:spPr>
          <a:xfrm>
            <a:off x="731520" y="356616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7" name="Text 35"/>
          <p:cNvSpPr/>
          <p:nvPr/>
        </p:nvSpPr>
        <p:spPr>
          <a:xfrm>
            <a:off x="731520" y="3566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234440" y="358444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điểm tự động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234440" y="38862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gọi API sau thanh toán, tính điểm &lt; 200ms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72200" y="3474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72200" y="3474720"/>
            <a:ext cx="73152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2" name="Shape 40"/>
          <p:cNvSpPr/>
          <p:nvPr/>
        </p:nvSpPr>
        <p:spPr>
          <a:xfrm>
            <a:off x="6355080" y="356616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43" name="Text 41"/>
          <p:cNvSpPr/>
          <p:nvPr/>
        </p:nvSpPr>
        <p:spPr>
          <a:xfrm>
            <a:off x="6355080" y="3566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858000" y="358444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linh hoạt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58000" y="38862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 hoá đơn / danh mục / fix cố định, priority phối hợp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8640" y="452628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4526280"/>
            <a:ext cx="73152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8" name="Shape 46"/>
          <p:cNvSpPr/>
          <p:nvPr/>
        </p:nvSpPr>
        <p:spPr>
          <a:xfrm>
            <a:off x="731520" y="461772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49" name="Text 47"/>
          <p:cNvSpPr/>
          <p:nvPr/>
        </p:nvSpPr>
        <p:spPr>
          <a:xfrm>
            <a:off x="731520" y="4617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234440" y="4636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hệ số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234440" y="493776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x2 cuối tuần, x3 sinh nhật, x5 campaign — cấu hình UI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172200" y="452628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72200" y="4526280"/>
            <a:ext cx="73152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4" name="Shape 52"/>
          <p:cNvSpPr/>
          <p:nvPr/>
        </p:nvSpPr>
        <p:spPr>
          <a:xfrm>
            <a:off x="6355080" y="461772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5" name="Text 53"/>
          <p:cNvSpPr/>
          <p:nvPr/>
        </p:nvSpPr>
        <p:spPr>
          <a:xfrm>
            <a:off x="6355080" y="4617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858000" y="4636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spend + exclude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858000" y="493776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Dưới X đ không tích, SP khuyến mãi loại trừ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48640" y="557784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577840"/>
            <a:ext cx="73152" cy="9601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0" name="Shape 58"/>
          <p:cNvSpPr/>
          <p:nvPr/>
        </p:nvSpPr>
        <p:spPr>
          <a:xfrm>
            <a:off x="731520" y="5669280"/>
            <a:ext cx="411480" cy="41148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61" name="Text 59"/>
          <p:cNvSpPr/>
          <p:nvPr/>
        </p:nvSpPr>
        <p:spPr>
          <a:xfrm>
            <a:off x="731520" y="5669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234440" y="568756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4+ hạng thành viên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1234440" y="598932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→ Bạc → Vàng → Kim Cương, tên &amp; ngưỡng tuỳ chỉnh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72200" y="557784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172200" y="5577840"/>
            <a:ext cx="73152" cy="9601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6" name="Shape 64"/>
          <p:cNvSpPr/>
          <p:nvPr/>
        </p:nvSpPr>
        <p:spPr>
          <a:xfrm>
            <a:off x="6355080" y="5669280"/>
            <a:ext cx="411480" cy="41148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67" name="Text 65"/>
          <p:cNvSpPr/>
          <p:nvPr/>
        </p:nvSpPr>
        <p:spPr>
          <a:xfrm>
            <a:off x="6355080" y="5669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858000" y="568756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Thăng/hạ hạng auto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6858000" y="598932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 kỳ tháng/quý/năm, ân hạn 30 ngày cảnh báo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tính năng — Phần 2: Marketing &amp; Vận hành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371600"/>
            <a:ext cx="73152" cy="9601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463040"/>
            <a:ext cx="411480" cy="41148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463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34440" y="148132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sử dụng điểm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34440" y="178308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mode: không hạn / X tháng / cuối năm, FIFO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72200" y="1371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371600"/>
            <a:ext cx="73152" cy="96012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7" name="Shape 15"/>
          <p:cNvSpPr/>
          <p:nvPr/>
        </p:nvSpPr>
        <p:spPr>
          <a:xfrm>
            <a:off x="6355080" y="1463040"/>
            <a:ext cx="411480" cy="41148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1463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0" y="148132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báo điểm hết hạn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0" y="178308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30/14/7 ngày qua SMS/Email/Push/Zalo OA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242316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423160"/>
            <a:ext cx="73152" cy="960120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2514600"/>
            <a:ext cx="411480" cy="411480"/>
          </a:xfrm>
          <a:prstGeom prst="ellipse">
            <a:avLst/>
          </a:prstGeom>
          <a:solidFill>
            <a:srgbClr val="FF8A3C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34440" y="253288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thưởng đa dạng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34440" y="28346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Voucher, quà vật lý, dịch vụ, thăng hạng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242316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72200" y="2423160"/>
            <a:ext cx="73152" cy="960120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29" name="Shape 27"/>
          <p:cNvSpPr/>
          <p:nvPr/>
        </p:nvSpPr>
        <p:spPr>
          <a:xfrm>
            <a:off x="6355080" y="2514600"/>
            <a:ext cx="411480" cy="411480"/>
          </a:xfrm>
          <a:prstGeom prst="ellipse">
            <a:avLst/>
          </a:prstGeom>
          <a:solidFill>
            <a:srgbClr val="FF8A3C"/>
          </a:solidFill>
          <a:ln/>
        </p:spPr>
      </p:sp>
      <p:sp>
        <p:nvSpPr>
          <p:cNvPr id="30" name="Text 28"/>
          <p:cNvSpPr/>
          <p:nvPr/>
        </p:nvSpPr>
        <p:spPr>
          <a:xfrm>
            <a:off x="635508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0" y="253288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Tỷ giá điểm → VND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58000" y="28346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điểm = Xđ, trừ trực tiếp tại POS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3474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3474720"/>
            <a:ext cx="73152" cy="960120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3566160"/>
            <a:ext cx="411480" cy="411480"/>
          </a:xfrm>
          <a:prstGeom prst="ellipse">
            <a:avLst/>
          </a:prstGeom>
          <a:solidFill>
            <a:srgbClr val="FF8A3C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3566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234440" y="358444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Khuyến mãi đa kiểu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234440" y="38862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Discount, combo, flash sale, giá cố định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72200" y="3474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72200" y="3474720"/>
            <a:ext cx="73152" cy="960120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41" name="Shape 39"/>
          <p:cNvSpPr/>
          <p:nvPr/>
        </p:nvSpPr>
        <p:spPr>
          <a:xfrm>
            <a:off x="6355080" y="3566160"/>
            <a:ext cx="411480" cy="411480"/>
          </a:xfrm>
          <a:prstGeom prst="ellipse">
            <a:avLst/>
          </a:prstGeom>
          <a:solidFill>
            <a:srgbClr val="FF8A3C"/>
          </a:solidFill>
          <a:ln/>
        </p:spPr>
      </p:sp>
      <p:sp>
        <p:nvSpPr>
          <p:cNvPr id="42" name="Text 40"/>
          <p:cNvSpPr/>
          <p:nvPr/>
        </p:nvSpPr>
        <p:spPr>
          <a:xfrm>
            <a:off x="6355080" y="3566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858000" y="358444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Giới thiệu bạn bè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858000" y="38862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Mã referral, thưởng 2 chiều, bảng xếp hạng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8640" y="452628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8640" y="4526280"/>
            <a:ext cx="73152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7" name="Shape 45"/>
          <p:cNvSpPr/>
          <p:nvPr/>
        </p:nvSpPr>
        <p:spPr>
          <a:xfrm>
            <a:off x="731520" y="4617720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4617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234440" y="4636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Automation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234440" y="493776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Email/SMS/Push/Zalo OA — tự vận hành, thay agency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172200" y="452628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172200" y="4526280"/>
            <a:ext cx="73152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3" name="Shape 51"/>
          <p:cNvSpPr/>
          <p:nvPr/>
        </p:nvSpPr>
        <p:spPr>
          <a:xfrm>
            <a:off x="6355080" y="4617720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54" name="Text 52"/>
          <p:cNvSpPr/>
          <p:nvPr/>
        </p:nvSpPr>
        <p:spPr>
          <a:xfrm>
            <a:off x="6355080" y="4617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858000" y="4636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khúc RFM + CLV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858000" y="493776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tự động, target campaign theo nhóm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48640" y="557784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577840"/>
            <a:ext cx="73152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9" name="Shape 57"/>
          <p:cNvSpPr/>
          <p:nvPr/>
        </p:nvSpPr>
        <p:spPr>
          <a:xfrm>
            <a:off x="731520" y="5669280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60" name="Text 58"/>
          <p:cNvSpPr/>
          <p:nvPr/>
        </p:nvSpPr>
        <p:spPr>
          <a:xfrm>
            <a:off x="731520" y="5669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234440" y="568756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&amp; Báo cáo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234440" y="598932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KPI, xu hướng điểm, retention, CLV, export Excel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72200" y="557784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172200" y="5577840"/>
            <a:ext cx="73152" cy="9601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5" name="Shape 63"/>
          <p:cNvSpPr/>
          <p:nvPr/>
        </p:nvSpPr>
        <p:spPr>
          <a:xfrm>
            <a:off x="6355080" y="5669280"/>
            <a:ext cx="411480" cy="4114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6" name="Text 64"/>
          <p:cNvSpPr/>
          <p:nvPr/>
        </p:nvSpPr>
        <p:spPr>
          <a:xfrm>
            <a:off x="6355080" y="5669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858000" y="568756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Docs + SDK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858000" y="598932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tab docs tích hợp: auth, member, points, webhook, SDK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4 hệ thống cũ → Reborn Loyalty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tự động + dedupe theo SĐT + chạy song song 1 tháng để đối soát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AFCF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Goldmem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190195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KHTV + lịch sử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17520" y="16916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237744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AFCFB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Access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2491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quyền lợi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17520" y="25146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320040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AFCFB"/>
          </a:solidFill>
          <a:ln w="19050">
            <a:solidFill>
              <a:srgbClr val="D69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246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Excel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54787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017520" y="33375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48640" y="402336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AFCFB"/>
          </a:solidFill>
          <a:ln w="19050">
            <a:solidFill>
              <a:srgbClr val="E85D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0690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7083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khiếu nại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17520" y="416052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657600" y="1554480"/>
            <a:ext cx="3017520" cy="3977640"/>
          </a:xfrm>
          <a:prstGeom prst="roundRect">
            <a:avLst>
              <a:gd name="adj" fmla="val 3030"/>
            </a:avLst>
          </a:prstGeom>
          <a:solidFill>
            <a:srgbClr val="0D3D38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0" y="16916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+ DEDUPE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84048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Export full data 4 nguồn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40480" y="2697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Chuẩn hoá SĐT (E.164)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40480" y="3200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Match profile trùng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40480" y="3703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Preview → Confirm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4048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Merge điểm + lịch sử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4048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Import vào Reborn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7406640" y="1554480"/>
            <a:ext cx="4297680" cy="3977640"/>
          </a:xfrm>
          <a:prstGeom prst="roundRect">
            <a:avLst>
              <a:gd name="adj" fmla="val 2299"/>
            </a:avLst>
          </a:prstGeom>
          <a:solidFill>
            <a:srgbClr val="ECFDF5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06640" y="16916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LOYALTY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406640" y="20574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hồ sơ KH 360°)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89520" y="24688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3M hội viên gộp chung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589520" y="29260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Lịch sử mua + quyền lợi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589520" y="3383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Khiếu nại gắn với hồ sơ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589520" y="38404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Điểm 2 brand merge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589520" y="42976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Báo cáo thống nhất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589520" y="47548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Vận hành tự động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48640" y="57607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migration: 4 tuần + chạy song song 4 tuần để đối soát — tổng 2 tháng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POS — 1 API call sau thanh toán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giữ nguyên hoàn toàn. Quầy chỉ cần thêm 1 REST call vào cuối quy trình.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46304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AFCFB"/>
          </a:solidFill>
          <a:ln w="25400">
            <a:solidFill>
              <a:srgbClr val="D69E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80160" y="1600200"/>
            <a:ext cx="548640" cy="54864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Khách mua hàng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2697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bán hàng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bình thường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2880360" y="146304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AFCFB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11880" y="1600200"/>
            <a:ext cx="548640" cy="54864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8" name="Text 16"/>
          <p:cNvSpPr/>
          <p:nvPr/>
        </p:nvSpPr>
        <p:spPr>
          <a:xfrm>
            <a:off x="361188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880360" y="2286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toán xong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880360" y="2697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gọi API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autoEarn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212080" y="146304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AFCF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160020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212080" y="2286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tính điểm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2697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Áp rule + hệ số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200ms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26948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543800" y="146304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AFCFB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160020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0" name="Text 28"/>
          <p:cNvSpPr/>
          <p:nvPr/>
        </p:nvSpPr>
        <p:spPr>
          <a:xfrm>
            <a:off x="827532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543800" y="2286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kết quả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543800" y="2697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 điểm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dư 1,302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60120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9875520" y="146304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AFCFB"/>
          </a:solidFill>
          <a:ln w="25400">
            <a:solidFill>
              <a:srgbClr val="FF8A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7040" y="1600200"/>
            <a:ext cx="548640" cy="548640"/>
          </a:xfrm>
          <a:prstGeom prst="ellipse">
            <a:avLst/>
          </a:prstGeom>
          <a:solidFill>
            <a:srgbClr val="FF8A3C"/>
          </a:solidFill>
          <a:ln/>
        </p:spPr>
      </p:sp>
      <p:sp>
        <p:nvSpPr>
          <p:cNvPr id="36" name="Text 34"/>
          <p:cNvSpPr/>
          <p:nvPr/>
        </p:nvSpPr>
        <p:spPr>
          <a:xfrm>
            <a:off x="1060704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875520" y="2286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hiển thị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875520" y="2697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receipt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có điểm tích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4114800"/>
            <a:ext cx="11091672" cy="201168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4206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TÍCH HỢP API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45262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/bizapi/market/loyaltyPointLedger/autoEarn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Authorization: Bearer &lt;API_KEY&gt;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"phone": "0901234567", "orderAmount": 520000, "orderId": "INV-001", "branchId": 15 }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{ "code": 0, "result": { "pointsEarned": 52, "newBalance": 1302, "tier": "Bạc", "upgraded": false } }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triển khai — 6 tháng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3657600" cy="594360"/>
          </a:xfrm>
          <a:prstGeom prst="roundRect">
            <a:avLst>
              <a:gd name="adj" fmla="val 12308"/>
            </a:avLst>
          </a:prstGeom>
          <a:solidFill>
            <a:srgbClr val="00C9A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Nền tảng &amp; Migration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Tháng 1-2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05740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1945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T1-2: Khảo sát Goldmem/Access/Excel/Supporter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688336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T3: ETL + dedupe 3M KHTV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318211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T4: Deploy Reborn, import hội viên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67588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T5-6: Cấu hình rule điểm/hạng/hạn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" y="4169664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T7-8: Pilot POS Brand A (5-10 store)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43400" y="1371600"/>
            <a:ext cx="3657600" cy="594360"/>
          </a:xfrm>
          <a:prstGeom prst="roundRect">
            <a:avLst>
              <a:gd name="adj" fmla="val 12308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Rollout &amp; Cutover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4340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Tháng 3-4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205740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1945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T9-10: Chạy song song, đối soát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80560" y="2688336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T11: Tích hợp POS Brand B, 50 store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80560" y="318211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T12: Rollout 100 store tiếp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0560" y="367588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T13: Rollout đủ ~300 store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80560" y="4169664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T14: Bật cross-brand points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4663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T15-16: Training + UAT + tắt hệ cũ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38160" y="1371600"/>
            <a:ext cx="3657600" cy="594360"/>
          </a:xfrm>
          <a:prstGeom prst="roundRect">
            <a:avLst>
              <a:gd name="adj" fmla="val 12308"/>
            </a:avLst>
          </a:prstGeom>
          <a:solidFill>
            <a:srgbClr val="22C55E"/>
          </a:solidFill>
          <a:ln/>
        </p:spPr>
      </p:sp>
      <p:sp>
        <p:nvSpPr>
          <p:cNvPr id="29" name="Text 27"/>
          <p:cNvSpPr/>
          <p:nvPr/>
        </p:nvSpPr>
        <p:spPr>
          <a:xfrm>
            <a:off x="813816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Marketing Auto &amp; Tối ưu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3816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Tháng 5-6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205740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D9E0D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75320" y="21945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T17-18: Bật Email/SMS/Zalo OA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75320" y="2688336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T19: Tích hợp web + mobile app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75320" y="318211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T20: Chuyển Supporter → CSKH module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75320" y="367588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T21-22: RFM, CLV, churn prediction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275320" y="4169664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T23: Training campaign automation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275320" y="4663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T24: Bàn giao + SLA hậu mãi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5440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806440"/>
            <a:ext cx="182880" cy="1828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57607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 T2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103120" y="57607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Brand A live, admin dashboard hoạt động, migration 3M KH xong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0080" y="6080760"/>
            <a:ext cx="182880" cy="1828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60350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 T4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103120" y="60350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 store chạy loyalty thống nhất, Goldmem/Access/Excel/Supporter về chế độ archive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40080" y="6355080"/>
            <a:ext cx="182880" cy="18288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46" name="Text 44"/>
          <p:cNvSpPr/>
          <p:nvPr/>
        </p:nvSpPr>
        <p:spPr>
          <a:xfrm>
            <a:off x="91440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 T6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103120" y="630936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automation nội bộ chạy, Phòng CNTT&amp;CĐS vận hành 100%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mở rộng 3 năm — sẵn sàng đồng hành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multi-tenant + multi-branch từ đầu — thêm store không cần deploy lại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3657600" cy="1188720"/>
          </a:xfrm>
          <a:prstGeom prst="roundRect">
            <a:avLst>
              <a:gd name="adj" fmla="val 9231"/>
            </a:avLst>
          </a:prstGeom>
          <a:solidFill>
            <a:srgbClr val="00C9A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173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🏪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48640" y="1874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 store — Vận hành ổn định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65176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889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Baseline: chạy ổn định 300 cửa hàng, 3M KH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34747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Tối ưu rule điểm/hạng theo dữ liệu thực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41605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A/B test campaign marketing automation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48463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Đo CLV, RFM để phân khúc chính xác hơn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43400" y="1371600"/>
            <a:ext cx="3657600" cy="1188720"/>
          </a:xfrm>
          <a:prstGeom prst="roundRect">
            <a:avLst>
              <a:gd name="adj" fmla="val 9231"/>
            </a:avLst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4343400" y="14173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343400" y="1874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34340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500-800 store — Mở rộng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265176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0560" y="27889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Mở rộng đến 500-800 điểm bán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0560" y="34747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Tự động hoá onboarding cửa hàng mới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480560" y="41605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Mở API public cho đối tác đầu tiên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0560" y="48463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Tích hợp ví điện tử / payment gateway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1371600"/>
            <a:ext cx="3657600" cy="1188720"/>
          </a:xfrm>
          <a:prstGeom prst="roundRect">
            <a:avLst>
              <a:gd name="adj" fmla="val 9231"/>
            </a:avLst>
          </a:prstGeom>
          <a:solidFill>
            <a:srgbClr val="FF8A3C"/>
          </a:solidFill>
          <a:ln/>
        </p:spPr>
      </p:sp>
      <p:sp>
        <p:nvSpPr>
          <p:cNvPr id="29" name="Text 27"/>
          <p:cNvSpPr/>
          <p:nvPr/>
        </p:nvSpPr>
        <p:spPr>
          <a:xfrm>
            <a:off x="8138160" y="14173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38160" y="1874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13816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AF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1.000-1.500 store — Hệ sinh thái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138160" y="265176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AFCFB"/>
          </a:solidFill>
          <a:ln w="12700">
            <a:solidFill>
              <a:srgbClr val="FF8A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75320" y="27889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Đạt quy mô 1.000-1.500 điểm bán mục tiêu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275320" y="34747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Tích hợp sâu hệ sinh thái (đối tác, thương mại online)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75320" y="41605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Cross-sell qua API với các nền tảng bên ngoài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75320" y="48463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Mở rộng kênh: app, mini-app, social commerce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371600" y="5989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828800" y="5989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●————————●————————●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875520" y="5989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1.500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kết SLA — căn cứ số liệu thực tế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chỉ số dưới đây đã tính dự phòng 2-3 lần peak (300K giao dịch/ngày)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41732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99.5%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" y="20574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Uptime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42316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tính bảo trì planned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83280" y="141732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500ms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P95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83280" y="242316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bộ endpoint tra cứu + ghi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141732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200ms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17920" y="20574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điểm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42316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transaction autoEarn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52560" y="141732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FF8A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5256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500 txn/s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052560" y="20574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Tải chịu đựng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052560" y="242316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Sustained, đã test load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30632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giờ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8640" y="37033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3M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40690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migration KHTV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83280" y="30632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D69E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00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giờ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383280" y="37033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hết hạn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83280" y="40690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hằng đêm, 3M wallet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17920" y="30632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E85D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3200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5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30 phút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217920" y="37033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Sự cố P1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217920" y="40690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24/7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052560" y="30632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AFCFB"/>
          </a:solidFill>
          <a:ln w="19050">
            <a:solidFill>
              <a:srgbClr val="6B8A8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52560" y="3200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giờ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9052560" y="37033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khác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052560" y="40690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Giờ hành chính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48640" y="4663440"/>
            <a:ext cx="11091672" cy="1463040"/>
          </a:xfrm>
          <a:prstGeom prst="roundRect">
            <a:avLst>
              <a:gd name="adj" fmla="val 6250"/>
            </a:avLst>
          </a:prstGeom>
          <a:solidFill>
            <a:srgbClr val="0D3D38"/>
          </a:solidFill>
          <a:ln/>
        </p:spPr>
      </p:sp>
      <p:sp>
        <p:nvSpPr>
          <p:cNvPr id="43" name="Text 41"/>
          <p:cNvSpPr/>
          <p:nvPr/>
        </p:nvSpPr>
        <p:spPr>
          <a:xfrm>
            <a:off x="777240" y="4754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KẾT HẬU TRIỂN KHAI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22960" y="50749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6 tháng bảo hành miễn phí sau nghiệm thu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50749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Hỗ trợ kỹ thuật Zalo/Email giờ hành chính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22960" y="53949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Training 2 buổi: admin + API integration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09360" y="53949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Khách sở hữu toàn bộ data — export bất kỳ lúc nào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22960" y="5715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Tài liệu đầy đủ: SA, URD, User Guide, API, Test Cases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309360" y="5715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Đồng hành 3 năm, sẵn sàng scale 1.500 store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chọn Reborn?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371600"/>
            <a:ext cx="91440" cy="155448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54480" y="15087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chính xác bài toán của quý khách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54480" y="192024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phải platform generic — thiết kế cho chuỗi siêu thị 2 brand, 3M KH, Goldmem/Access/Excel/Supporter. Đọc kỹ Q&amp;A khảo sát để ra solution này.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137160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15" name="Shape 13"/>
          <p:cNvSpPr/>
          <p:nvPr/>
        </p:nvSpPr>
        <p:spPr>
          <a:xfrm>
            <a:off x="6172200" y="1371600"/>
            <a:ext cx="91440" cy="1554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178040" y="15087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sẵn — deploy nhanh 8 tuần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78040" y="192024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tính năng loyalty đã xây dựng, không code lại từ đầu. Pilot Brand A chạy trong 2 tháng đầu.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063240"/>
            <a:ext cx="91440" cy="1554480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554480" y="3200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hợp, không phá vỡ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54480" y="361188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hiện tại giữ nguyên — chỉ thêm 1 API call. Không gián đoạn 150K giao dịch/ngày.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2200" y="306324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25" name="Shape 23"/>
          <p:cNvSpPr/>
          <p:nvPr/>
        </p:nvSpPr>
        <p:spPr>
          <a:xfrm>
            <a:off x="6172200" y="3063240"/>
            <a:ext cx="91440" cy="15544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178040" y="3200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sàng cho kế hoạch 3 năm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78040" y="361188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+ multi-branch từ thiết kế. Scale 300 → 1.500 store không cần re-architect.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75488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754880"/>
            <a:ext cx="91440" cy="1554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1554480" y="48920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phóng khỏi agency marketing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554480" y="530352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automation nội bộ (Email/SMS/Push/Zalo OA) — khách chủ động chiến dịch, phân khúc, kịch bản.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72200" y="4754880"/>
            <a:ext cx="5486400" cy="1554480"/>
          </a:xfrm>
          <a:prstGeom prst="roundRect">
            <a:avLst>
              <a:gd name="adj" fmla="val 5882"/>
            </a:avLst>
          </a:prstGeom>
          <a:solidFill>
            <a:srgbClr val="FAFCFB"/>
          </a:solidFill>
          <a:ln/>
        </p:spPr>
      </p:sp>
      <p:sp>
        <p:nvSpPr>
          <p:cNvPr id="35" name="Shape 33"/>
          <p:cNvSpPr/>
          <p:nvPr/>
        </p:nvSpPr>
        <p:spPr>
          <a:xfrm>
            <a:off x="6172200" y="4754880"/>
            <a:ext cx="91440" cy="155448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7178040" y="48920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liệu + SLA chuyên nghiệp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178040" y="530352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SA, URD, User Guide, Test Cases 51 bộ 895+ steps. SLA rõ ràng, hậu mãi 6 tháng.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JSC  |  Đề xuất Loyalty Platform v1.1  | 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Đối chiếu 10 câu Q&amp;A khảo sát của quý khách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— chứng minh đề xuất bám sát từng nội dung khảo sát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91672" cy="320040"/>
          </a:xfrm>
          <a:prstGeom prst="rect">
            <a:avLst/>
          </a:prstGeom>
          <a:solidFill>
            <a:srgbClr val="0B2E2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37160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97280" y="13716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khảo sát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0624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lời của quý khách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95528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ứng trong đề xuất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1737360"/>
            <a:ext cx="11091672" cy="457200"/>
          </a:xfrm>
          <a:prstGeom prst="rect">
            <a:avLst/>
          </a:prstGeom>
          <a:solidFill>
            <a:srgbClr val="F5F9F8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1737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97280" y="1737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đang dùng?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Goldmem, Access, Excel, Supporter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95528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Migration 4 hệ thống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" y="21945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97280" y="2194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tập trung hay phân tán?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0624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Rời rạc, liên kết thủ công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95528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Hợp nhất 1 nguồn + Tự động hoá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2651760"/>
            <a:ext cx="11091672" cy="457200"/>
          </a:xfrm>
          <a:prstGeom prst="rect">
            <a:avLst/>
          </a:prstGeom>
          <a:solidFill>
            <a:srgbClr val="F5F9F8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26517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" y="2651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CRM/loyalty hiện tại?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20624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Có, nhưng data rải rác, CNTT chưa cao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95528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Cấu hình không code + Marketing Auto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0080" y="31089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97280" y="3108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/ real-time?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Có, tuỳ chức năng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95528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API-first + Webhook realtime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3566160"/>
            <a:ext cx="11091672" cy="457200"/>
          </a:xfrm>
          <a:prstGeom prst="rect">
            <a:avLst/>
          </a:prstGeom>
          <a:solidFill>
            <a:srgbClr val="F5F9F8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97280" y="3566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KH và giao dịch?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20624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 KH, 150K txn/ngày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95528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SLA 200ms/txn, import 3M &lt; 2h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4008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97280" y="4023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sale/lễ?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20624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Gấp đôi (300K txn/ngày)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95528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SLA 500 txn/giây sustained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4480560"/>
            <a:ext cx="11091672" cy="457200"/>
          </a:xfrm>
          <a:prstGeom prst="rect">
            <a:avLst/>
          </a:prstGeom>
          <a:solidFill>
            <a:srgbClr val="F5F9F8"/>
          </a:solidFill>
          <a:ln/>
        </p:spPr>
      </p:sp>
      <p:sp>
        <p:nvSpPr>
          <p:cNvPr id="43" name="Text 41"/>
          <p:cNvSpPr/>
          <p:nvPr/>
        </p:nvSpPr>
        <p:spPr>
          <a:xfrm>
            <a:off x="640080" y="44805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97280" y="4480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real-time / batch?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20624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Phòng CNTT&amp;CĐS nắm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95528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Hỗ trợ cả 2 mode, chờ xác nhận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40080" y="49377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097280" y="4937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automation?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20624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Thuê agency ngoài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95528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Marketing Auto nội bộ Phase 3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5394960"/>
            <a:ext cx="11091672" cy="457200"/>
          </a:xfrm>
          <a:prstGeom prst="rect">
            <a:avLst/>
          </a:prstGeom>
          <a:solidFill>
            <a:srgbClr val="F5F9F8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3949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097280" y="5394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 tầng on-prem/cloud?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20624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Phòng CNTT&amp;CĐS nắm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95528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3 phương án Cloud/On-prem/Hybrid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40080" y="58521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097280" y="5852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 hoạch 1-3 năm?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420624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1.000-1.500 điểm bán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95528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Multi-tenant + Lộ trình 3 năm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8A3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 QUÝ KHÁCH!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 Loyalty Platform — sẵn sàng demo ngay hôm nay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3566160"/>
            <a:ext cx="7589520" cy="1920240"/>
          </a:xfrm>
          <a:prstGeom prst="roundRect">
            <a:avLst>
              <a:gd name="adj" fmla="val 4762"/>
            </a:avLst>
          </a:prstGeom>
          <a:solidFill>
            <a:srgbClr val="0D3D38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365760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TIẾP THEO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0" y="402336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Demo trực tiếp trên môi trường test (sẵn sàng hôm nay)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0" y="438912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Làm việc với Phòng CNTT&amp;CĐS để xác nhận POS API + hạ tầng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475488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Export sample data từ Goldmem/Access để POC migration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512064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Ký hợp đồng — khởi động Phase 1 trong 2 tuần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B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 ceo@reborn.vn      🌐  reborn.vn      📱  Liên hệ qua Zalo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6217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Reborn JSC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Đề xuất giải pháp Loyalty — Chuỗi siêu thị bán lẻ (v1.1)</dc:title>
  <dc:subject>PptxGenJS Presentation</dc:subject>
  <dc:creator>Reborn JSC</dc:creator>
  <cp:lastModifiedBy>Reborn JSC</cp:lastModifiedBy>
  <cp:revision>1</cp:revision>
  <dcterms:created xsi:type="dcterms:W3CDTF">2026-04-22T18:59:47Z</dcterms:created>
  <dcterms:modified xsi:type="dcterms:W3CDTF">2026-04-22T18:59:47Z</dcterms:modified>
</cp:coreProperties>
</file>