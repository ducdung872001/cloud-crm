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2D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669280"/>
            <a:ext cx="12191695" cy="1188720"/>
          </a:xfrm>
          <a:prstGeom prst="rect">
            <a:avLst/>
          </a:prstGeom>
          <a:solidFill>
            <a:srgbClr val="0E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596128"/>
            <a:ext cx="12191695" cy="73152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59552"/>
            <a:ext cx="12191695" cy="36576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>
            <a:off x="0" y="0"/>
            <a:ext cx="2286000" cy="2286000"/>
          </a:xfrm>
          <a:prstGeom prst="rtTriangle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914400"/>
            <a:ext cx="2743200" cy="7557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2743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TNTech Cloud ERP cho Doanh nghiệp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1EC1F5"/>
                </a:solidFill>
                <a:latin typeface="Calibri Light"/>
              </a:rPr>
              <a:t>Giải pháp chuyển đổi số toàn diện — Đề xuất giải pháp</a:t>
            </a:r>
          </a:p>
        </p:txBody>
      </p:sp>
      <p:sp>
        <p:nvSpPr>
          <p:cNvPr id="9" name="Rectangle 8"/>
          <p:cNvSpPr/>
          <p:nvPr/>
        </p:nvSpPr>
        <p:spPr>
          <a:xfrm>
            <a:off x="5184648" y="4846320"/>
            <a:ext cx="1828800" cy="36576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i="1">
                <a:solidFill>
                  <a:srgbClr val="FFFFFF"/>
                </a:solidFill>
              </a:rPr>
              <a:t>Tháng 04/2026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NỘI DUNG TRÌNH BÀY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2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Nội dung trình bày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11277295" cy="2743200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sz="1600">
                <a:solidFill>
                  <a:srgbClr val="072D56"/>
                </a:solidFill>
                <a:latin typeface="Calibri"/>
              </a:rPr>
              <a:t>1. </a:t>
            </a:r>
            <a:r>
              <a:rPr b="1" sz="1600">
                <a:solidFill>
                  <a:srgbClr val="072D56"/>
                </a:solidFill>
                <a:latin typeface="Calibri"/>
              </a:rPr>
              <a:t>Bối cảnh &amp; Pain Points</a:t>
            </a:r>
            <a:r>
              <a:rPr sz="1600">
                <a:solidFill>
                  <a:srgbClr val="072D56"/>
                </a:solidFill>
                <a:latin typeface="Calibri"/>
              </a:rPr>
              <a:t> của doanh nghiệp Việt Nam
2. </a:t>
            </a:r>
            <a:r>
              <a:rPr b="1" sz="1600">
                <a:solidFill>
                  <a:srgbClr val="072D56"/>
                </a:solidFill>
                <a:latin typeface="Calibri"/>
              </a:rPr>
              <a:t>Giới thiệu</a:t>
            </a:r>
            <a:r>
              <a:rPr sz="1600">
                <a:solidFill>
                  <a:srgbClr val="072D56"/>
                </a:solidFill>
                <a:latin typeface="Calibri"/>
              </a:rPr>
              <a:t> TNTech Cloud ERP
3. </a:t>
            </a:r>
            <a:r>
              <a:rPr b="1" sz="1600">
                <a:solidFill>
                  <a:srgbClr val="072D56"/>
                </a:solidFill>
                <a:latin typeface="Calibri"/>
              </a:rPr>
              <a:t>Triết lý thiết kế</a:t>
            </a:r>
            <a:r>
              <a:rPr sz="1600">
                <a:solidFill>
                  <a:srgbClr val="072D56"/>
                </a:solidFill>
                <a:latin typeface="Calibri"/>
              </a:rPr>
              <a:t> — Framework BAF
4. </a:t>
            </a:r>
            <a:r>
              <a:rPr b="1" sz="1600">
                <a:solidFill>
                  <a:srgbClr val="072D56"/>
                </a:solidFill>
                <a:latin typeface="Calibri"/>
              </a:rPr>
              <a:t>BENEFITS</a:t>
            </a:r>
            <a:r>
              <a:rPr sz="1600">
                <a:solidFill>
                  <a:srgbClr val="072D56"/>
                </a:solidFill>
                <a:latin typeface="Calibri"/>
              </a:rPr>
              <a:t> — 6 lợi ích cốt lõi
5. </a:t>
            </a:r>
            <a:r>
              <a:rPr b="1" sz="1600">
                <a:solidFill>
                  <a:srgbClr val="072D56"/>
                </a:solidFill>
                <a:latin typeface="Calibri"/>
              </a:rPr>
              <a:t>ADVANTAGES</a:t>
            </a:r>
            <a:r>
              <a:rPr sz="1600">
                <a:solidFill>
                  <a:srgbClr val="072D56"/>
                </a:solidFill>
                <a:latin typeface="Calibri"/>
              </a:rPr>
              <a:t> — Khác biệt cạnh tranh
6. </a:t>
            </a:r>
            <a:r>
              <a:rPr b="1" sz="1600">
                <a:solidFill>
                  <a:srgbClr val="072D56"/>
                </a:solidFill>
                <a:latin typeface="Calibri"/>
              </a:rPr>
              <a:t>FEATURES</a:t>
            </a:r>
            <a:r>
              <a:rPr sz="1600">
                <a:solidFill>
                  <a:srgbClr val="072D56"/>
                </a:solidFill>
                <a:latin typeface="Calibri"/>
              </a:rPr>
              <a:t> — 17 phân hệ chuẩn
7. </a:t>
            </a:r>
            <a:r>
              <a:rPr b="1" sz="1600">
                <a:solidFill>
                  <a:srgbClr val="072D56"/>
                </a:solidFill>
                <a:latin typeface="Calibri"/>
              </a:rPr>
              <a:t>Công nghệ &amp; Kiến trúc</a:t>
            </a:r>
            <a:r>
              <a:rPr sz="1600">
                <a:solidFill>
                  <a:srgbClr val="072D56"/>
                </a:solidFill>
                <a:latin typeface="Calibri"/>
              </a:rPr>
              <a:t> hiện đại
8. </a:t>
            </a:r>
            <a:r>
              <a:rPr b="1" sz="1600">
                <a:solidFill>
                  <a:srgbClr val="072D56"/>
                </a:solidFill>
                <a:latin typeface="Calibri"/>
              </a:rPr>
              <a:t>Phương pháp &amp; Lộ trình</a:t>
            </a:r>
            <a:r>
              <a:rPr sz="1600">
                <a:solidFill>
                  <a:srgbClr val="072D56"/>
                </a:solidFill>
                <a:latin typeface="Calibri"/>
              </a:rPr>
              <a:t> triển khai
9. </a:t>
            </a:r>
            <a:r>
              <a:rPr b="1" sz="1600">
                <a:solidFill>
                  <a:srgbClr val="072D56"/>
                </a:solidFill>
                <a:latin typeface="Calibri"/>
              </a:rPr>
              <a:t>Ưu – Nhược</a:t>
            </a:r>
            <a:r>
              <a:rPr sz="1600">
                <a:solidFill>
                  <a:srgbClr val="072D56"/>
                </a:solidFill>
                <a:latin typeface="Calibri"/>
              </a:rPr>
              <a:t> các phương pháp
10. </a:t>
            </a:r>
            <a:r>
              <a:rPr b="1" sz="1600">
                <a:solidFill>
                  <a:srgbClr val="072D56"/>
                </a:solidFill>
                <a:latin typeface="Calibri"/>
              </a:rPr>
              <a:t>Tuân thủ pháp lý</a:t>
            </a:r>
            <a:r>
              <a:rPr sz="1600">
                <a:solidFill>
                  <a:srgbClr val="072D56"/>
                </a:solidFill>
                <a:latin typeface="Calibri"/>
              </a:rPr>
              <a:t> &amp; Bảo mật
11. </a:t>
            </a:r>
            <a:r>
              <a:rPr b="1" sz="1600">
                <a:solidFill>
                  <a:srgbClr val="072D56"/>
                </a:solidFill>
                <a:latin typeface="Calibri"/>
              </a:rPr>
              <a:t>Support &amp; SLA</a:t>
            </a:r>
            <a:r>
              <a:rPr sz="1600">
                <a:solidFill>
                  <a:srgbClr val="072D56"/>
                </a:solidFill>
                <a:latin typeface="Calibri"/>
              </a:rPr>
              <a:t>
12. </a:t>
            </a:r>
            <a:r>
              <a:rPr b="1" sz="1600">
                <a:solidFill>
                  <a:srgbClr val="072D56"/>
                </a:solidFill>
                <a:latin typeface="Calibri"/>
              </a:rPr>
              <a:t>Bước tiếp theo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BỐI CẢNH DOANH NGHIỆP VIỆT NAM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3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1. Bối cảnh doanh nghiệp Việt Nam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11277295" cy="1655064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Áp lực chuyển đổi số chưa từng có: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46704"/>
            <a:ext cx="11277295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85% doanh nghiệp VN</a:t>
            </a:r>
            <a:r>
              <a:rPr sz="1500">
                <a:solidFill>
                  <a:srgbClr val="072D56"/>
                </a:solidFill>
                <a:latin typeface="Calibri"/>
              </a:rPr>
              <a:t> đã hoặc đang có kế hoạch chuyển đổi số </a:t>
            </a:r>
            <a:r>
              <a:rPr i="1" sz="1500">
                <a:solidFill>
                  <a:srgbClr val="072D56"/>
                </a:solidFill>
                <a:latin typeface="Calibri"/>
              </a:rPr>
              <a:t>(VCCI 2025)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Hoá đơn điện tử</a:t>
            </a:r>
            <a:r>
              <a:rPr sz="1500">
                <a:solidFill>
                  <a:srgbClr val="072D56"/>
                </a:solidFill>
                <a:latin typeface="Calibri"/>
              </a:rPr>
              <a:t> bắt buộc từ 01/07/2022 — 100% doanh nghiệp phải tuân thủ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Luật Bảo vệ dữ liệu cá nhân</a:t>
            </a:r>
            <a:r>
              <a:rPr sz="1500">
                <a:solidFill>
                  <a:srgbClr val="072D56"/>
                </a:solidFill>
                <a:latin typeface="Calibri"/>
              </a:rPr>
              <a:t> có hiệu lực 01/07/2023 (NĐ 13/2023)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Cạnh tranh khốc liệt</a:t>
            </a:r>
            <a:r>
              <a:rPr sz="1500">
                <a:solidFill>
                  <a:srgbClr val="072D56"/>
                </a:solidFill>
                <a:latin typeface="Calibri"/>
              </a:rPr>
              <a:t> từ thương mại điện tử, marketplace, social commerce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Chi phí nhân công tăng 8-12%/năm</a:t>
            </a:r>
            <a:r>
              <a:rPr sz="1500">
                <a:solidFill>
                  <a:srgbClr val="072D56"/>
                </a:solidFill>
                <a:latin typeface="Calibri"/>
              </a:rPr>
              <a:t>, DN buộc phải tự động hoá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678424"/>
            <a:ext cx="11277295" cy="2286000"/>
          </a:xfrm>
          <a:prstGeom prst="roundRect">
            <a:avLst/>
          </a:prstGeom>
          <a:solidFill>
            <a:srgbClr val="E5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91440" bIns="91440"/>
          <a:lstStyle/>
          <a:p>
            <a:pPr algn="ctr"/>
            <a:r>
              <a:rPr sz="1500" i="1">
                <a:solidFill>
                  <a:srgbClr val="0E4F8C"/>
                </a:solidFill>
                <a:latin typeface="Calibri"/>
              </a:rPr>
              <a:t>Doanh nghiệp </a:t>
            </a:r>
            <a:r>
              <a:rPr b="1" sz="1500" i="1">
                <a:solidFill>
                  <a:srgbClr val="0E4F8C"/>
                </a:solidFill>
                <a:latin typeface="Calibri"/>
              </a:rPr>
              <a:t>không chuyển đổi số sẽ tụt lại phía sau</a:t>
            </a:r>
            <a:r>
              <a:rPr sz="1500" i="1">
                <a:solidFill>
                  <a:srgbClr val="0E4F8C"/>
                </a:solidFill>
                <a:latin typeface="Calibri"/>
              </a:rPr>
              <a:t> trong 3-5 năm tới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769864"/>
            <a:ext cx="91440" cy="210312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PAIN POINTS CỦA DOANH NGHIỆP VIỆT NAM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4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2. Pain Points của doanh nghiệp Việt Nam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600200"/>
          <a:ext cx="1127729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Vấn đề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Hậu quả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Dùng </a:t>
                      </a:r>
                      <a:r>
                        <a:rPr b="1" sz="1100">
                          <a:solidFill>
                            <a:srgbClr val="072D56"/>
                          </a:solidFill>
                          <a:latin typeface="Calibri"/>
                        </a:rPr>
                        <a:t>nhiều phần mềm rời rạc</a:t>
                      </a:r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 (kế toán, CRM, POS, kho riêng biệt)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Nhập liệu trùng, sai lệch dữ liệu, không có single source of truth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072D56"/>
                          </a:solidFill>
                          <a:latin typeface="Calibri"/>
                        </a:rPr>
                        <a:t>Excel hoá</a:t>
                      </a:r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 mọi thứ — báo cáo, công nợ, tồn kho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Sai sót cao, không realtime, không traceable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072D56"/>
                          </a:solidFill>
                          <a:latin typeface="Calibri"/>
                        </a:rPr>
                        <a:t>Không biết khách hàng là ai</a:t>
                      </a:r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 — thiếu CRM 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Marketing phun súng, ROI marketing thấp, khách rơi rụng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072D56"/>
                          </a:solidFill>
                          <a:latin typeface="Calibri"/>
                        </a:rPr>
                        <a:t>Quy trình thủ công</a:t>
                      </a:r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 — ký giấy, email, chat Zalo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Chậm, không audit, sếp không kiểm soát được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072D56"/>
                          </a:solidFill>
                          <a:latin typeface="Calibri"/>
                        </a:rPr>
                        <a:t>Báo cáo làm tay cuối tháng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Sếp ra quyết định muộn 30-60 ngày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072D56"/>
                          </a:solidFill>
                          <a:latin typeface="Calibri"/>
                        </a:rPr>
                        <a:t>Không tích hợp đa kênh</a:t>
                      </a:r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 — Shopee, Lazada, TikTok Shop, website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Bỏ lỡ doanh thu, bán đúp, quản trị tồn rối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072D56"/>
                          </a:solidFill>
                          <a:latin typeface="Calibri"/>
                        </a:rPr>
                        <a:t>ERP ngoại đắt đỏ</a:t>
                      </a:r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 (SAP, Oracle) — </a:t>
                      </a:r>
                      <a:r>
                        <a:rPr b="1" sz="1100">
                          <a:solidFill>
                            <a:srgbClr val="072D56"/>
                          </a:solidFill>
                          <a:latin typeface="Calibri"/>
                        </a:rPr>
                        <a:t>ERP nội yếu</a:t>
                      </a:r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 (thiếu CRM/Marketing)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Không có lựa chọn vừa sức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TẠI SAO CẦN ERP TÍCH HỢP?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5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3. Tại sao cần ERP tích hợp?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11277295" cy="1435608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ERP rời rạc vs ERP tích hợp: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27248"/>
            <a:ext cx="11277295" cy="1655064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ERP rời rạc (tình trạng phổ biến):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73752"/>
            <a:ext cx="11277295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sz="1500">
                <a:solidFill>
                  <a:srgbClr val="072D56"/>
                </a:solidFill>
                <a:latin typeface="Calibri"/>
              </a:rPr>
              <a:t>5-10 phần mềm riêng biệt + Excel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sz="1500">
                <a:solidFill>
                  <a:srgbClr val="072D56"/>
                </a:solidFill>
                <a:latin typeface="Calibri"/>
              </a:rPr>
              <a:t>Mỗi phần mềm 1 database riêng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sz="1500">
                <a:solidFill>
                  <a:srgbClr val="072D56"/>
                </a:solidFill>
                <a:latin typeface="Calibri"/>
              </a:rPr>
              <a:t>Nhân viên nhập liệu 3-5 lần cho 1 giao dịch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Chi phí ẩn: 20-30% quỹ lương nhân viên back-office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GIỚI THIỆU TNTECH CLOUD ERP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6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4. Giới thiệu TNTech Cloud ERP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11277295" cy="2606040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Nền tảng chuyển đổi số all-in-one cho doanh nghiệp Việt Nam: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4297680"/>
          <a:ext cx="1127729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20574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Chỉ số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Giá trị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</a:tr>
              <a:tr h="20574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Số module đã triển khai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072D56"/>
                          </a:solidFill>
                          <a:latin typeface="Calibri"/>
                        </a:rPr>
                        <a:t>161 modules</a:t>
                      </a:r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 (240+ services)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Phân hệ chuẩn ERP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072D56"/>
                          </a:solidFill>
                          <a:latin typeface="Calibri"/>
                        </a:rPr>
                        <a:t>17 phân hệ</a:t>
                      </a:r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 theo chuẩn SAP/Oracle/Odoo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20574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Stack công nghệ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React 18 + TypeScript + Vite + Microservices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Triển khai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SaaS Cloud / On-premise / Hybrid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20574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Ngôn ngữ giao diện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Tiếng Việt có dấu + English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Đội ngũ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100% người Việt, support tiếng Việt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20574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Đối tượng phục vụ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SMB, SME, Enterprise (&lt;1000 NV trở lên)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6080760"/>
            <a:ext cx="11277295" cy="2743200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Định vị:</a:t>
            </a:r>
            <a:r>
              <a:rPr sz="1600">
                <a:solidFill>
                  <a:srgbClr val="072D56"/>
                </a:solidFill>
                <a:latin typeface="Calibri"/>
              </a:rPr>
              <a:t> </a:t>
            </a:r>
            <a:r>
              <a:rPr i="1" sz="1600">
                <a:solidFill>
                  <a:srgbClr val="072D56"/>
                </a:solidFill>
                <a:latin typeface="Calibri"/>
              </a:rPr>
              <a:t>"ERP bán lẻ – dịch vụ tích hợp sâu CRM / Marketing / Social — thay vì cạnh tranh trực diện với SAP / Oracle"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TRIẾT LÝ THIẾT KẾ — FRAMEWORK BAF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7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5. Triết lý thiết kế — Framework BAF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11277295" cy="2093976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B – Benefit</a:t>
            </a:r>
            <a:r>
              <a:rPr sz="1600">
                <a:solidFill>
                  <a:srgbClr val="072D56"/>
                </a:solidFill>
                <a:latin typeface="Calibri"/>
              </a:rPr>
              <a:t> — </a:t>
            </a:r>
            <a:r>
              <a:rPr i="1" sz="1600">
                <a:solidFill>
                  <a:srgbClr val="072D56"/>
                </a:solidFill>
                <a:latin typeface="Calibri"/>
              </a:rPr>
              <a:t>Lợi ích kinh doanh đo lường được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85616"/>
            <a:ext cx="11277295" cy="2999232"/>
          </a:xfrm>
          <a:prstGeom prst="roundRect">
            <a:avLst/>
          </a:prstGeom>
          <a:solidFill>
            <a:srgbClr val="E5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91440" bIns="91440"/>
          <a:lstStyle/>
          <a:p>
            <a:pPr algn="ctr"/>
            <a:r>
              <a:rPr sz="1500" i="1">
                <a:solidFill>
                  <a:srgbClr val="0E4F8C"/>
                </a:solidFill>
                <a:latin typeface="Calibri"/>
              </a:rPr>
              <a:t>Không bán tính năng. Bán </a:t>
            </a:r>
            <a:r>
              <a:rPr b="1" sz="1500" i="1">
                <a:solidFill>
                  <a:srgbClr val="0E4F8C"/>
                </a:solidFill>
                <a:latin typeface="Calibri"/>
              </a:rPr>
              <a:t>kết quả kinh doanh</a:t>
            </a:r>
            <a:r>
              <a:rPr sz="1500" i="1">
                <a:solidFill>
                  <a:srgbClr val="0E4F8C"/>
                </a:solidFill>
                <a:latin typeface="Calibri"/>
              </a:rPr>
              <a:t>: doanh thu, chi phí, tốc độ, sự hài lòng khách hàng.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877056"/>
            <a:ext cx="91440" cy="2816352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BENEFITS — 6 LỢI ÍCH CỐT LÕI CHO DOANH NGHIỆP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8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6. BENEFITS — 6 lợi ích cốt lõi cho doanh nghiệp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600200"/>
          <a:ext cx="1127729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Lợi ích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Tác động định lượng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072D56"/>
                          </a:solidFill>
                          <a:latin typeface="Calibri"/>
                        </a:rPr>
                        <a:t>Giảm chi phí CNTT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Tiết kiệm </a:t>
                      </a:r>
                      <a:r>
                        <a:rPr b="1" sz="1100">
                          <a:solidFill>
                            <a:srgbClr val="072D56"/>
                          </a:solidFill>
                          <a:latin typeface="Calibri"/>
                        </a:rPr>
                        <a:t>25-40%</a:t>
                      </a:r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 so với ERP ngoại (SAP/Oracle), </a:t>
                      </a:r>
                      <a:r>
                        <a:rPr b="1" sz="1100">
                          <a:solidFill>
                            <a:srgbClr val="072D56"/>
                          </a:solidFill>
                          <a:latin typeface="Calibri"/>
                        </a:rPr>
                        <a:t>10-20%</a:t>
                      </a:r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 so với MISA/Bravo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072D56"/>
                          </a:solidFill>
                          <a:latin typeface="Calibri"/>
                        </a:rPr>
                        <a:t>Tăng tốc độ vận hành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BPM + Automation giảm </a:t>
                      </a:r>
                      <a:r>
                        <a:rPr b="1" sz="1100">
                          <a:solidFill>
                            <a:srgbClr val="072D56"/>
                          </a:solidFill>
                          <a:latin typeface="Calibri"/>
                        </a:rPr>
                        <a:t>60-80%</a:t>
                      </a:r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 thao tác thủ công; báo cáo realtime thay vì 30 ngày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072D56"/>
                          </a:solidFill>
                          <a:latin typeface="Calibri"/>
                        </a:rPr>
                        <a:t>Tăng doanh thu đa kênh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Tích hợp Shopee/Lazada/TikTok Shop + Marketing Automation tăng </a:t>
                      </a:r>
                      <a:r>
                        <a:rPr b="1" sz="1100">
                          <a:solidFill>
                            <a:srgbClr val="072D56"/>
                          </a:solidFill>
                          <a:latin typeface="Calibri"/>
                        </a:rPr>
                        <a:t>15-35%</a:t>
                      </a:r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 doanh thu trong 6 tháng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072D56"/>
                          </a:solidFill>
                          <a:latin typeface="Calibri"/>
                        </a:rPr>
                        <a:t>Giảm thất thoát kho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Quản trị lô/HSD/barcode giảm thất thoát tồn </a:t>
                      </a:r>
                      <a:r>
                        <a:rPr b="1" sz="1100">
                          <a:solidFill>
                            <a:srgbClr val="072D56"/>
                          </a:solidFill>
                          <a:latin typeface="Calibri"/>
                        </a:rPr>
                        <a:t>3-8%</a:t>
                      </a:r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 xuống </a:t>
                      </a:r>
                      <a:r>
                        <a:rPr b="1" sz="1100">
                          <a:solidFill>
                            <a:srgbClr val="072D56"/>
                          </a:solidFill>
                          <a:latin typeface="Calibri"/>
                        </a:rPr>
                        <a:t>&lt;0.5%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072D56"/>
                          </a:solidFill>
                          <a:latin typeface="Calibri"/>
                        </a:rPr>
                        <a:t>Tăng chất lượng ra quyết định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Dashboard realtime cho sếp, BI tự phục vụ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072D56"/>
                          </a:solidFill>
                          <a:latin typeface="Calibri"/>
                        </a:rPr>
                        <a:t>Tuân thủ pháp lý VN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HĐĐT TCT, BHXH điện tử, VAS TT 200, Đề án 06 VNeID — sẵn trong hệ thống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BENEFITS — ROI ƯỚC TÍNH CHO DOANH NGHIỆP SME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9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7. BENEFITS — ROI ước tính cho doanh nghiệp SME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11277295" cy="2240280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Ví dụ: Doanh nghiệp SME 100 nhân viên, 15 cửa hàng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93192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33528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Hạng mục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Trước TNTech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Sau TNTech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Tiết kiệm/năm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</a:tr>
              <a:tr h="33528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Chi phí phần mềm rời rạc (5-7 PM)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250 triệu/năm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96 triệu/năm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200">
                          <a:solidFill>
                            <a:srgbClr val="072D56"/>
                          </a:solidFill>
                          <a:latin typeface="Calibri"/>
                        </a:rPr>
                        <a:t>-154 triệu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Chi phí nhân sự back-office (nhập liệu)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2 FTE × 180tr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0.5 FTE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200">
                          <a:solidFill>
                            <a:srgbClr val="072D56"/>
                          </a:solidFill>
                          <a:latin typeface="Calibri"/>
                        </a:rPr>
                        <a:t>-270 triệu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33528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Thất thoát kho (3% tồn 5 tỷ)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150 triệu/năm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25 triệu/năm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200">
                          <a:solidFill>
                            <a:srgbClr val="072D56"/>
                          </a:solidFill>
                          <a:latin typeface="Calibri"/>
                        </a:rPr>
                        <a:t>-125 triệu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Mất doanh thu do thiếu Marketing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ước tính 500 triệu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-300 triệu (thu lại)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200">
                          <a:solidFill>
                            <a:srgbClr val="072D56"/>
                          </a:solidFill>
                          <a:latin typeface="Calibri"/>
                        </a:rPr>
                        <a:t>+300 triệu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33528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1" sz="1200">
                          <a:solidFill>
                            <a:srgbClr val="072D56"/>
                          </a:solidFill>
                          <a:latin typeface="Calibri"/>
                        </a:rPr>
                        <a:t>Tổng tác động tài chính/năm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200">
                          <a:solidFill>
                            <a:srgbClr val="072D56"/>
                          </a:solidFill>
                          <a:latin typeface="Calibri"/>
                        </a:rPr>
                        <a:t>≈ +850 triệu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457200" y="6080760"/>
            <a:ext cx="11277295" cy="2093976"/>
          </a:xfrm>
          <a:prstGeom prst="roundRect">
            <a:avLst/>
          </a:prstGeom>
          <a:solidFill>
            <a:srgbClr val="E5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91440" bIns="91440"/>
          <a:lstStyle/>
          <a:p>
            <a:pPr algn="ctr"/>
            <a:r>
              <a:rPr b="1" sz="1500" i="1">
                <a:solidFill>
                  <a:srgbClr val="0E4F8C"/>
                </a:solidFill>
                <a:latin typeface="Calibri"/>
              </a:rPr>
              <a:t>Payback period: 4-8 tháng</a:t>
            </a:r>
            <a:r>
              <a:rPr sz="1500" i="1">
                <a:solidFill>
                  <a:srgbClr val="0E4F8C"/>
                </a:solidFill>
                <a:latin typeface="Calibri"/>
              </a:rPr>
              <a:t> cho hợp đồng SME; </a:t>
            </a:r>
            <a:r>
              <a:rPr b="1" sz="1500" i="1">
                <a:solidFill>
                  <a:srgbClr val="0E4F8C"/>
                </a:solidFill>
                <a:latin typeface="Calibri"/>
              </a:rPr>
              <a:t>ROI 3 năm: 500-800%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172200"/>
            <a:ext cx="91440" cy="1911096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ADVANTAGES — ĐIỂM KHÁC BIỆT CẠNH TRANH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10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8. ADVANTAGES — Điểm khác biệt cạnh tranh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11277295" cy="1581912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So sánh nhanh với đối thủ chính: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273552"/>
          <a:ext cx="11277295" cy="267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1042"/>
                <a:gridCol w="1611042"/>
                <a:gridCol w="1611042"/>
                <a:gridCol w="1611042"/>
                <a:gridCol w="1611042"/>
                <a:gridCol w="1611042"/>
                <a:gridCol w="1611043"/>
              </a:tblGrid>
              <a:tr h="333756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Yếu tố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TNTech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MISA AMIS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Fast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Bravo 8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Odoo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SAP B1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</a:tr>
              <a:tr h="333756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CRM 360 + Loyalty + Call Center native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⭐⭐⭐⭐⭐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Marketing Automation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⭐⭐⭐⭐⭐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333756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BPM low-code (BPMN 2.0)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⭐⭐⭐⭐⭐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⭐⭐⭐⭐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Multi-channel Social (FB/Zalo/TikTok)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⭐⭐⭐⭐⭐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⭐⭐⭐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333756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Stack công nghệ hiện đại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⭐⭐⭐⭐⭐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⭐⭐⭐⭐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Triển khai nhanh (&lt;3 tháng)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⭐⭐⭐⭐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⭐⭐⭐⭐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⭐⭐⭐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333756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Kế toán VAS TT 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⭐⭐⭐⭐⭐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⭐⭐⭐⭐⭐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⭐⭐⭐⭐⭐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ADVANTAGES — 5 ĐIỀU CHỈ TNTECH CÓ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11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9. ADVANTAGES — 5 điều chỉ TNTech có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112772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CRM 360 + Loyalty + Marketing Automation native</a:t>
            </a:r>
            <a:r>
              <a:rPr sz="1500">
                <a:solidFill>
                  <a:srgbClr val="072D56"/>
                </a:solidFill>
                <a:latin typeface="Calibri"/>
              </a:rPr>
              <a:t> — thay thế 3 phần mềm riêng (thường tốn 100-250 triệu/năm)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86000"/>
            <a:ext cx="112772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Call Center tích hợp (JsSIP / WebRTC)</a:t>
            </a:r>
            <a:r>
              <a:rPr sz="1500">
                <a:solidFill>
                  <a:srgbClr val="072D56"/>
                </a:solidFill>
                <a:latin typeface="Calibri"/>
              </a:rPr>
              <a:t> — không cần mua phần mềm tổng đài riêng (tiết kiệm 50-150 triệu)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71800"/>
            <a:ext cx="112772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BPM low-code BPMN 2.0 + form-js</a:t>
            </a:r>
            <a:r>
              <a:rPr sz="1500">
                <a:solidFill>
                  <a:srgbClr val="072D56"/>
                </a:solidFill>
                <a:latin typeface="Calibri"/>
              </a:rPr>
              <a:t> — sếp/BA tự vẽ quy trình, không cần lập trình viên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57600"/>
            <a:ext cx="112772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Multi-channel Social bản địa</a:t>
            </a:r>
            <a:r>
              <a:rPr sz="1500">
                <a:solidFill>
                  <a:srgbClr val="072D56"/>
                </a:solidFill>
                <a:latin typeface="Calibri"/>
              </a:rPr>
              <a:t> — Facebook + Zalo + TikTok Shop tích hợp sẵn — điều mà MISA, Bravo không có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43400"/>
            <a:ext cx="112772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Stack công nghệ 2024+</a:t>
            </a:r>
            <a:r>
              <a:rPr sz="1500">
                <a:solidFill>
                  <a:srgbClr val="072D56"/>
                </a:solidFill>
                <a:latin typeface="Calibri"/>
              </a:rPr>
              <a:t> — React 18, TypeScript, microservices — đảm bảo mở rộng 10 năm tới (các đối thủ dùng PHP/jQuery từ 2015-2018)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FEATURES — TỔNG QUAN 17 PHÂN HỆ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12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10. FEATURES — Tổng quan 17 phân hệ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11277295" cy="1399032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Theo chuẩn SAP/Oracle/Odoo: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090672"/>
          <a:ext cx="11277295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285292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Phân hệ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Phân hệ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</a:tr>
              <a:tr h="285292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Tài chính – Kế toán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Báo cáo &amp; BI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292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Kho &amp; Logistics (WMS)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BPM / DMS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285292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Mua hàng (Procurement)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HĐĐT &amp; E-Tax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292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Bán hàng &amp; Phân phối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Tích hợp Ngân hàng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285292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Sản xuất (MRP) *(Q4/2026)*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Audit &amp; Kiểm soát nội bộ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292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000">
                          <a:solidFill>
                            <a:srgbClr val="072D56"/>
                          </a:solidFill>
                          <a:latin typeface="Calibri"/>
                        </a:rPr>
                        <a:t>CRM 360 + Loyalty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Multi-company/currency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285292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Nhân sự &amp; Lương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E-commerce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292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Quản lý dự án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POS – Bán lẻ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2853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Tài sản cố định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6080760"/>
            <a:ext cx="11277295" cy="2743200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Tổng số trang/màn hình chính: 161 modules, 240+ services backend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FEATURES — BÁN HÀNG, POS &amp; ĐA KÊNH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13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11. FEATURES — Bán hàng, POS &amp; Đa kênh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11277295" cy="1508760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Phủ toàn bộ vòng đời đơn hàng: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112772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POS offline/online</a:t>
            </a:r>
            <a:r>
              <a:rPr sz="1500">
                <a:solidFill>
                  <a:srgbClr val="072D56"/>
                </a:solidFill>
                <a:latin typeface="Calibri"/>
              </a:rPr>
              <a:t> — Sell, CounterSales, Checkout, máy in bill, cash drawer, barcode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Quản lý ca</a:t>
            </a:r>
            <a:r>
              <a:rPr sz="1500">
                <a:solidFill>
                  <a:srgbClr val="072D56"/>
                </a:solidFill>
                <a:latin typeface="Calibri"/>
              </a:rPr>
              <a:t> — ShiftManagement, ShiftConfig, báo cáo doanh thu cuối ca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Đơn hàng</a:t>
            </a:r>
            <a:r>
              <a:rPr sz="1500">
                <a:solidFill>
                  <a:srgbClr val="072D56"/>
                </a:solidFill>
                <a:latin typeface="Calibri"/>
              </a:rPr>
              <a:t> — Order, ManagerOrder, OrderTracking, OrderRequestList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Báo giá &amp; Chính sách giá</a:t>
            </a:r>
            <a:r>
              <a:rPr sz="1500">
                <a:solidFill>
                  <a:srgbClr val="072D56"/>
                </a:solidFill>
                <a:latin typeface="Calibri"/>
              </a:rPr>
              <a:t> — Offer, PromotionPage, PromoCode, SharePromoPage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Multi-channel</a:t>
            </a:r>
            <a:r>
              <a:rPr sz="1500">
                <a:solidFill>
                  <a:srgbClr val="072D56"/>
                </a:solidFill>
                <a:latin typeface="Calibri"/>
              </a:rPr>
              <a:t> — MultiChannelSales, SocialCrmFacebook, SocialCrmZalo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Trả hàng &amp; Bảo hành</a:t>
            </a:r>
            <a:r>
              <a:rPr sz="1500">
                <a:solidFill>
                  <a:srgbClr val="072D56"/>
                </a:solidFill>
                <a:latin typeface="Calibri"/>
              </a:rPr>
              <a:t> — ReturnProduct, Warranty, SettingWarranty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Shipping</a:t>
            </a:r>
            <a:r>
              <a:rPr sz="1500">
                <a:solidFill>
                  <a:srgbClr val="072D56"/>
                </a:solidFill>
                <a:latin typeface="Calibri"/>
              </a:rPr>
              <a:t> — ShippingList, AddShippingOrder, ShippingPartnerSetup (GHN, GHTK, Viettel Post, J&amp;T, Ninja Van, BEST)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FEATURES — CRM 360 + LOYALTY + MARKETING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14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12. FEATURES — CRM 360 + Loyalty + Marketing Automation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11277295" cy="2743200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Điểm mạnh nhất của TNTech — 19 modules CRM + 21 modules Marketing: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34840"/>
            <a:ext cx="11277295" cy="1252728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Quản lý khách hàng 360: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79008"/>
            <a:ext cx="112772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sz="1500">
                <a:solidFill>
                  <a:srgbClr val="072D56"/>
                </a:solidFill>
                <a:latin typeface="Calibri"/>
              </a:rPr>
              <a:t>CustomerPerson, Contact, CustomerCare, CustomerChurn, CustomerValue (RFM, LTV)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sz="1500">
                <a:solidFill>
                  <a:srgbClr val="072D56"/>
                </a:solidFill>
                <a:latin typeface="Calibri"/>
              </a:rPr>
              <a:t>CustomerSegment, LoyaltySegment, MemberCustomersPage, MembershipClass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sz="1500">
                <a:solidFill>
                  <a:srgbClr val="072D56"/>
                </a:solidFill>
                <a:latin typeface="Calibri"/>
              </a:rPr>
              <a:t>CustomerReview, CustomerSurvey, LinkSurvey, FeedbackCustomer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FEATURES — KHO &amp; LOGISTICS + TÀI CHÍNH CƠ BẢN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15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13. FEATURES — Kho &amp; Logistics + Tài chính cơ bản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11277295" cy="1179576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Kho – 16 modules WMS: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71216"/>
            <a:ext cx="11277295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Nhập/Xuất/Tồn</a:t>
            </a:r>
            <a:r>
              <a:rPr sz="1500">
                <a:solidFill>
                  <a:srgbClr val="072D56"/>
                </a:solidFill>
                <a:latin typeface="Calibri"/>
              </a:rPr>
              <a:t> — ProductImport, InventoryList, ProductInventoryList, ProductSoldList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Đa kho, đa vị trí</a:t>
            </a:r>
            <a:r>
              <a:rPr sz="1500">
                <a:solidFill>
                  <a:srgbClr val="072D56"/>
                </a:solidFill>
                <a:latin typeface="Calibri"/>
              </a:rPr>
              <a:t> — WarehouseListPage, TransferOrderForm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Điều chỉnh</a:t>
            </a:r>
            <a:r>
              <a:rPr sz="1500">
                <a:solidFill>
                  <a:srgbClr val="072D56"/>
                </a:solidFill>
                <a:latin typeface="Calibri"/>
              </a:rPr>
              <a:t> — AdjustmentSlip, DestroySlip, InventoryManagement (kiểm kê)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Báo cáo kho</a:t>
            </a:r>
            <a:r>
              <a:rPr sz="1500">
                <a:solidFill>
                  <a:srgbClr val="072D56"/>
                </a:solidFill>
                <a:latin typeface="Calibri"/>
              </a:rPr>
              <a:t> — InventoryReportModern, WarehouseReport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NVL, biên lai</a:t>
            </a:r>
            <a:r>
              <a:rPr sz="1500">
                <a:solidFill>
                  <a:srgbClr val="072D56"/>
                </a:solidFill>
                <a:latin typeface="Calibri"/>
              </a:rPr>
              <a:t> — ManagementMaterial, CreateReceipt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Shipping</a:t>
            </a:r>
            <a:r>
              <a:rPr sz="1500">
                <a:solidFill>
                  <a:srgbClr val="072D56"/>
                </a:solidFill>
                <a:latin typeface="Calibri"/>
              </a:rPr>
              <a:t> — ShipingManagement, ShippingFeeConfig, ShippingPartnerSetup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14416"/>
            <a:ext cx="11277295" cy="1252728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Tài chính – 14 modules: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FEATURES — HR, CHẤM CÔNG, QUẢN LÝ CÔNG VIỆC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16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14. FEATURES — HR, Chấm công, Quản lý công việc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11277295" cy="923544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9 modules HRM: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15184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Chấm công</a:t>
            </a:r>
            <a:r>
              <a:rPr sz="1500">
                <a:solidFill>
                  <a:srgbClr val="072D56"/>
                </a:solidFill>
                <a:latin typeface="Calibri"/>
              </a:rPr>
              <a:t> — Timekeeping, SettingTimekeeping (ca, máy chấm công, GPS)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Quản lý công việc</a:t>
            </a:r>
            <a:r>
              <a:rPr sz="1500">
                <a:solidFill>
                  <a:srgbClr val="072D56"/>
                </a:solidFill>
                <a:latin typeface="Calibri"/>
              </a:rPr>
              <a:t> — ManagerWork, MiddleWork, HandleTask, UserTaskList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Báo cáo</a:t>
            </a:r>
            <a:r>
              <a:rPr sz="1500">
                <a:solidFill>
                  <a:srgbClr val="072D56"/>
                </a:solidFill>
                <a:latin typeface="Calibri"/>
              </a:rPr>
              <a:t> — JobReport, ResourceManagement, ProjectList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Tổ chức</a:t>
            </a:r>
            <a:r>
              <a:rPr sz="1500">
                <a:solidFill>
                  <a:srgbClr val="072D56"/>
                </a:solidFill>
                <a:latin typeface="Calibri"/>
              </a:rPr>
              <a:t> — Organization, User, SettingOrg, SettingAccount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35424"/>
            <a:ext cx="11277295" cy="1325880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Sẵn sàng mở rộng Phase 1: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952744"/>
            <a:ext cx="11277295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Payroll engine</a:t>
            </a:r>
            <a:r>
              <a:rPr sz="1500">
                <a:solidFill>
                  <a:srgbClr val="072D56"/>
                </a:solidFill>
                <a:latin typeface="Calibri"/>
              </a:rPr>
              <a:t> (tính lương, TNCN, BHXH theo TT 59/2015, TT 111/2013)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BHXH điện tử</a:t>
            </a:r>
            <a:r>
              <a:rPr sz="1500">
                <a:solidFill>
                  <a:srgbClr val="072D56"/>
                </a:solidFill>
                <a:latin typeface="Calibri"/>
              </a:rPr>
              <a:t> (tích hợp iBHXH/TS24)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Recruitment ATS</a:t>
            </a:r>
            <a:r>
              <a:rPr sz="1500">
                <a:solidFill>
                  <a:srgbClr val="072D56"/>
                </a:solidFill>
                <a:latin typeface="Calibri"/>
              </a:rPr>
              <a:t> (Phase 2)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LMS đào tạo</a:t>
            </a:r>
            <a:r>
              <a:rPr sz="1500">
                <a:solidFill>
                  <a:srgbClr val="072D56"/>
                </a:solidFill>
                <a:latin typeface="Calibri"/>
              </a:rPr>
              <a:t> (Phase 2)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KPI/OKR nâng cao</a:t>
            </a:r>
            <a:r>
              <a:rPr sz="1500">
                <a:solidFill>
                  <a:srgbClr val="072D56"/>
                </a:solidFill>
                <a:latin typeface="Calibri"/>
              </a:rPr>
              <a:t> (Phase 2)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FEATURES — BPM LOW-CODE +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17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15. FEATURES — BPM Low-code + Workflow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11277295" cy="1947672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Điểm khác biệt công nghệ — 11 modules BPM: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39312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BPM engine</a:t>
            </a:r>
            <a:r>
              <a:rPr sz="1500">
                <a:solidFill>
                  <a:srgbClr val="072D56"/>
                </a:solidFill>
                <a:latin typeface="Calibri"/>
              </a:rPr>
              <a:t> dựa trên </a:t>
            </a:r>
            <a:r>
              <a:rPr b="1" sz="1500">
                <a:solidFill>
                  <a:srgbClr val="0E4F8C"/>
                </a:solidFill>
                <a:latin typeface="Calibri"/>
              </a:rPr>
              <a:t>bpmn-js 17</a:t>
            </a:r>
            <a:r>
              <a:rPr sz="1500">
                <a:solidFill>
                  <a:srgbClr val="072D56"/>
                </a:solidFill>
                <a:latin typeface="Calibri"/>
              </a:rPr>
              <a:t> (chuẩn BPMN 2.0 quốc tế)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Form builder</a:t>
            </a:r>
            <a:r>
              <a:rPr sz="1500">
                <a:solidFill>
                  <a:srgbClr val="072D56"/>
                </a:solidFill>
                <a:latin typeface="Calibri"/>
              </a:rPr>
              <a:t> với </a:t>
            </a:r>
            <a:r>
              <a:rPr b="1" sz="1500">
                <a:solidFill>
                  <a:srgbClr val="0E4F8C"/>
                </a:solidFill>
                <a:latin typeface="Calibri"/>
              </a:rPr>
              <a:t>form-js 1.17</a:t>
            </a:r>
            <a:r>
              <a:rPr sz="1500">
                <a:solidFill>
                  <a:srgbClr val="072D56"/>
                </a:solidFill>
                <a:latin typeface="Calibri"/>
              </a:rPr>
              <a:t> — kéo thả tạo biểu mẫu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Business Rule Engine</a:t>
            </a:r>
            <a:r>
              <a:rPr sz="1500">
                <a:solidFill>
                  <a:srgbClr val="072D56"/>
                </a:solidFill>
                <a:latin typeface="Calibri"/>
              </a:rPr>
              <a:t> — BusinessRule, BusinessRuleConfig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Workflow đa cấp</a:t>
            </a:r>
            <a:r>
              <a:rPr sz="1500">
                <a:solidFill>
                  <a:srgbClr val="072D56"/>
                </a:solidFill>
                <a:latin typeface="Calibri"/>
              </a:rPr>
              <a:t> — phê duyệt nhiều tầng, escalation, SLA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559552"/>
            <a:ext cx="11277295" cy="1033272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Ứng dụng thực tế: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FEATURES — BI, DASHBOARD &amp; BÁO CÁO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18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16. FEATURES — BI, Dashboard &amp; Báo cáo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11277295" cy="923544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11 modules BI: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15184"/>
            <a:ext cx="11277295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Dashboard</a:t>
            </a:r>
            <a:r>
              <a:rPr sz="1500">
                <a:solidFill>
                  <a:srgbClr val="072D56"/>
                </a:solidFill>
                <a:latin typeface="Calibri"/>
              </a:rPr>
              <a:t> — Dashboard, DashboardRetail, DashboardLoyalty, IntegratedMonitoring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Báo cáo khách hàng</a:t>
            </a:r>
            <a:r>
              <a:rPr sz="1500">
                <a:solidFill>
                  <a:srgbClr val="072D56"/>
                </a:solidFill>
                <a:latin typeface="Calibri"/>
              </a:rPr>
              <a:t> — ReportCustomer, ReportCustomerModern, CustomerAnalysisPage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Báo cáo kho</a:t>
            </a:r>
            <a:r>
              <a:rPr sz="1500">
                <a:solidFill>
                  <a:srgbClr val="072D56"/>
                </a:solidFill>
                <a:latin typeface="Calibri"/>
              </a:rPr>
              <a:t> — InventoryReportModern, WarehouseReport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Báo cáo marketing</a:t>
            </a:r>
            <a:r>
              <a:rPr sz="1500">
                <a:solidFill>
                  <a:srgbClr val="072D56"/>
                </a:solidFill>
                <a:latin typeface="Calibri"/>
              </a:rPr>
              <a:t> — MarketingReportPage, LoyaltyReportPage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Mô phỏng quy trình</a:t>
            </a:r>
            <a:r>
              <a:rPr sz="1500">
                <a:solidFill>
                  <a:srgbClr val="072D56"/>
                </a:solidFill>
                <a:latin typeface="Calibri"/>
              </a:rPr>
              <a:t> — ProcessSimulation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946904"/>
            <a:ext cx="11277295" cy="777240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Công nghệ: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15584"/>
            <a:ext cx="1127729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HighCharts 9.3</a:t>
            </a:r>
            <a:r>
              <a:rPr sz="1500">
                <a:solidFill>
                  <a:srgbClr val="072D56"/>
                </a:solidFill>
                <a:latin typeface="Calibri"/>
              </a:rPr>
              <a:t> — biểu đồ chuyên nghiệp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Ag-Grid 30.2</a:t>
            </a:r>
            <a:r>
              <a:rPr sz="1500">
                <a:solidFill>
                  <a:srgbClr val="072D56"/>
                </a:solidFill>
                <a:latin typeface="Calibri"/>
              </a:rPr>
              <a:t> — bảng dữ liệu lớn (100K+ rows)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ExcelJS + xlsx</a:t>
            </a:r>
            <a:r>
              <a:rPr sz="1500">
                <a:solidFill>
                  <a:srgbClr val="072D56"/>
                </a:solidFill>
                <a:latin typeface="Calibri"/>
              </a:rPr>
              <a:t> — xuất Excel native, không cần cài MS Office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CÔNG NGHỆ &amp; KIẾN TRÚC HIỆN ĐẠI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19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17. Công nghệ &amp; Kiến trúc hiện đại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11277295" cy="1216152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Stack công nghệ 2024+: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2907792"/>
          <a:ext cx="11277295" cy="3035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0358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Lớp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Công nghệ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Phiên bản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</a:tr>
              <a:tr h="30358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React + TypeScript + Vite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18 / 5 /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358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Microservices (11 services)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30358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PostgreSQL + Redis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15 /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358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Real-time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WebSocket + JsSIP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3.10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30358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BPM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bpmn-js + form-js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17 / 1.17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358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Auth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OAuth 2.0 + MSAL (Azure SSO)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2.0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30358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Charts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HighCharts + Ag-Grid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9 / 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358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Mobile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PWA (Progressive Web App)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303588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Docker + Kubernetes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6080760"/>
            <a:ext cx="11277295" cy="2743200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Hạ tầng:</a:t>
            </a:r>
            <a:r>
              <a:rPr sz="1600">
                <a:solidFill>
                  <a:srgbClr val="072D56"/>
                </a:solidFill>
                <a:latin typeface="Calibri"/>
              </a:rPr>
              <a:t> 2 data center VN (Hà Nội + TP.HCM) — VNG/FPT/Viettel IDC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PHƯƠNG PHÁP TRIỂN KHAI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20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18. Phương pháp triển khai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11277295" cy="2386584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TNTech Hybrid Methodology — kết hợp Agile + Waterfall: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78224"/>
            <a:ext cx="11277295" cy="886968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6 Bước chính: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56632"/>
            <a:ext cx="11277295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Discovery</a:t>
            </a:r>
            <a:r>
              <a:rPr sz="1500">
                <a:solidFill>
                  <a:srgbClr val="072D56"/>
                </a:solidFill>
                <a:latin typeface="Calibri"/>
              </a:rPr>
              <a:t> (1-2 tuần) — khảo sát nhu cầu, AS-IS vs TO-BE, ký SoW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Design</a:t>
            </a:r>
            <a:r>
              <a:rPr sz="1500">
                <a:solidFill>
                  <a:srgbClr val="072D56"/>
                </a:solidFill>
                <a:latin typeface="Calibri"/>
              </a:rPr>
              <a:t> (2-4 tuần) — thiết kế luồng, form, báo cáo, workflow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Build &amp; Configure</a:t>
            </a:r>
            <a:r>
              <a:rPr sz="1500">
                <a:solidFill>
                  <a:srgbClr val="072D56"/>
                </a:solidFill>
                <a:latin typeface="Calibri"/>
              </a:rPr>
              <a:t> (4-12 tuần) — cấu hình hệ thống, tuỳ chỉnh form/báo cáo, tích hợp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Data Migration</a:t>
            </a:r>
            <a:r>
              <a:rPr sz="1500">
                <a:solidFill>
                  <a:srgbClr val="072D56"/>
                </a:solidFill>
                <a:latin typeface="Calibri"/>
              </a:rPr>
              <a:t> (2-4 tuần) — import dữ liệu từ hệ thống cũ, cleansing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UAT + Training</a:t>
            </a:r>
            <a:r>
              <a:rPr sz="1500">
                <a:solidFill>
                  <a:srgbClr val="072D56"/>
                </a:solidFill>
                <a:latin typeface="Calibri"/>
              </a:rPr>
              <a:t> (2-4 tuần) — Train-the-Trainer + User Acceptance Test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Go-live + Hypercare</a:t>
            </a:r>
            <a:r>
              <a:rPr sz="1500">
                <a:solidFill>
                  <a:srgbClr val="072D56"/>
                </a:solidFill>
                <a:latin typeface="Calibri"/>
              </a:rPr>
              <a:t> (2-4 tuần hypercare) — on-site support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LỘ TRÌNH TRIỂN KHAI THEO QUY MÔ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21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19. Lộ trình triển khai theo quy mô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600200"/>
          <a:ext cx="112772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Quy mô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Thời gian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Phân hệ triển khai trong Phase 1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Phase 2 mở rộng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1" sz="1200">
                          <a:solidFill>
                            <a:srgbClr val="072D56"/>
                          </a:solidFill>
                          <a:latin typeface="Calibri"/>
                        </a:rPr>
                        <a:t>SMB</a:t>
                      </a:r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 &lt;20 NV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200">
                          <a:solidFill>
                            <a:srgbClr val="072D56"/>
                          </a:solidFill>
                          <a:latin typeface="Calibri"/>
                        </a:rPr>
                        <a:t>1-2 tuần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Bán hàng, POS, CRM, Kho cơ bản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Marketing, Loyalty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1" sz="1200">
                          <a:solidFill>
                            <a:srgbClr val="072D56"/>
                          </a:solidFill>
                          <a:latin typeface="Calibri"/>
                        </a:rPr>
                        <a:t>SME 50-200 NV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200">
                          <a:solidFill>
                            <a:srgbClr val="072D56"/>
                          </a:solidFill>
                          <a:latin typeface="Calibri"/>
                        </a:rPr>
                        <a:t>6-12 tuần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+ Kế toán, HR chấm công, HĐĐT, BPM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+ Payroll, BI nâng cao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1" sz="1200">
                          <a:solidFill>
                            <a:srgbClr val="072D56"/>
                          </a:solidFill>
                          <a:latin typeface="Calibri"/>
                        </a:rPr>
                        <a:t>Large 200-1000 NV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200">
                          <a:solidFill>
                            <a:srgbClr val="072D56"/>
                          </a:solidFill>
                          <a:latin typeface="Calibri"/>
                        </a:rPr>
                        <a:t>3-6 tháng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+ Multi-branch, Dự án, FA, Multi-currency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+ Manufacturing MRP *(Q4/2026)*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1" sz="1200">
                          <a:solidFill>
                            <a:srgbClr val="072D56"/>
                          </a:solidFill>
                          <a:latin typeface="Calibri"/>
                        </a:rPr>
                        <a:t>Enterprise &gt;1000 NV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200">
                          <a:solidFill>
                            <a:srgbClr val="072D56"/>
                          </a:solidFill>
                          <a:latin typeface="Calibri"/>
                        </a:rPr>
                        <a:t>6-12 tháng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Full scope tuỳ chỉnh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Consolidation, IFRS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4023360"/>
            <a:ext cx="11277295" cy="2240280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Lộ trình nâng cấp sản phẩm (Product Roadmap 2026):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ƯU – NHƯỢC ĐIỂM CÁC PHƯƠNG PHÁP TRIỂN KHAI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22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20. Ưu – Nhược điểm các phương pháp triển khai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11277295" cy="1728216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Big Bang (triển khai 1 lần toàn bộ):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19856"/>
            <a:ext cx="11277295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Ưu:</a:t>
            </a:r>
            <a:r>
              <a:rPr sz="1500">
                <a:solidFill>
                  <a:srgbClr val="072D56"/>
                </a:solidFill>
                <a:latin typeface="Calibri"/>
              </a:rPr>
              <a:t> Nhanh đạt trạng thái cuối; giảm chi phí song hành 2 hệ thống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Nhược:</a:t>
            </a:r>
            <a:r>
              <a:rPr sz="1500">
                <a:solidFill>
                  <a:srgbClr val="072D56"/>
                </a:solidFill>
                <a:latin typeface="Calibri"/>
              </a:rPr>
              <a:t> Rủi ro cao; khó rollback; user shock lớn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Phù hợp:</a:t>
            </a:r>
            <a:r>
              <a:rPr sz="1500">
                <a:solidFill>
                  <a:srgbClr val="072D56"/>
                </a:solidFill>
                <a:latin typeface="Calibri"/>
              </a:rPr>
              <a:t> SMB &lt;30 NV, SME có kế hoạch rõ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928616"/>
            <a:ext cx="11277295" cy="1911096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Phased Rollout (triển khai theo phân hệ):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TUÂN THỦ PHÁP LÝ VIỆT NAM &amp; BẢO MẬT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23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21. Tuân thủ pháp lý Việt Nam &amp; Bảo mật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11277295" cy="1143000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Tuân thủ pháp lý VN: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34640"/>
            <a:ext cx="1127729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Hoá đơn điện tử</a:t>
            </a:r>
            <a:r>
              <a:rPr sz="1500">
                <a:solidFill>
                  <a:srgbClr val="072D56"/>
                </a:solidFill>
                <a:latin typeface="Calibri"/>
              </a:rPr>
              <a:t> — TT 78/2021, NĐ 123/2020 (kết nối Viettel/VNPT/MISA meInvoice)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Thuế điện tử</a:t>
            </a:r>
            <a:r>
              <a:rPr sz="1500">
                <a:solidFill>
                  <a:srgbClr val="072D56"/>
                </a:solidFill>
                <a:latin typeface="Calibri"/>
              </a:rPr>
              <a:t> — HTKK, eTax, TT 105/2020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BHXH điện tử</a:t>
            </a:r>
            <a:r>
              <a:rPr sz="1500">
                <a:solidFill>
                  <a:srgbClr val="072D56"/>
                </a:solidFill>
                <a:latin typeface="Calibri"/>
              </a:rPr>
              <a:t> — TT 59/2015, tích hợp iBHXH/TS24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Kế toán VAS</a:t>
            </a:r>
            <a:r>
              <a:rPr sz="1500">
                <a:solidFill>
                  <a:srgbClr val="072D56"/>
                </a:solidFill>
                <a:latin typeface="Calibri"/>
              </a:rPr>
              <a:t> — TT 200/2014, TT 133/2016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Đề án 06</a:t>
            </a:r>
            <a:r>
              <a:rPr sz="1500">
                <a:solidFill>
                  <a:srgbClr val="072D56"/>
                </a:solidFill>
                <a:latin typeface="Calibri"/>
              </a:rPr>
              <a:t> — VNeID, CCCD chip, Sổ SKĐT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Luật An ninh mạng 2018</a:t>
            </a:r>
            <a:r>
              <a:rPr sz="1500">
                <a:solidFill>
                  <a:srgbClr val="072D56"/>
                </a:solidFill>
                <a:latin typeface="Calibri"/>
              </a:rPr>
              <a:t> — lưu trữ dữ liệu tại VN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Luật Bảo vệ dữ liệu cá nhân 2023</a:t>
            </a:r>
            <a:r>
              <a:rPr sz="1500">
                <a:solidFill>
                  <a:srgbClr val="072D56"/>
                </a:solidFill>
                <a:latin typeface="Calibri"/>
              </a:rPr>
              <a:t> — NĐ 13/2023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89320"/>
            <a:ext cx="11277295" cy="704088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Bảo mật: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CAM KẾT SUPPORT &amp; SLA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24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22. Cam kết Support &amp; SLA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600200"/>
          <a:ext cx="1127729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Gói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Uptime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Xử lý sự cố P1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Kênh hỗ trợ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Starter / Growth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99.5%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8 giờ LV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Chat 8x5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Pro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99.7%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4 giờ LV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Chat + Email 8x5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Pro+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99.8%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2 giờ LV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Hotline 8x5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Business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99.9%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1 giờ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24x5 + CSM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Business+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99.95%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30 phút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24x7 + CSM + KAM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Enterprise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99.99%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15 phút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24x7 + Dedicated Team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4937760"/>
            <a:ext cx="11277295" cy="1618488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Knowledge Base tiếng Việt có dấu: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TẠI SAO CHỌN TNTECH NGAY HÔM NAY?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25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23. Tại sao chọn TNTech ngay hôm nay?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11277295" cy="1069848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3 lý do then chốt: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61488"/>
            <a:ext cx="112772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Nền tảng sẵn sàng</a:t>
            </a:r>
            <a:r>
              <a:rPr sz="1500">
                <a:solidFill>
                  <a:srgbClr val="072D56"/>
                </a:solidFill>
                <a:latin typeface="Calibri"/>
              </a:rPr>
              <a:t> — 161 modules, không phải demo, đã kiểm chứng qua nhiều khách hàng thực tế.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47288"/>
            <a:ext cx="112772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Khác biệt CRM/Marketing/BPM</a:t>
            </a:r>
            <a:r>
              <a:rPr sz="1500">
                <a:solidFill>
                  <a:srgbClr val="072D56"/>
                </a:solidFill>
                <a:latin typeface="Calibri"/>
              </a:rPr>
              <a:t> — không có đối thủ nào ở VN kết hợp đủ 3 yếu tố này với giá SME.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33088"/>
            <a:ext cx="112772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Đội ngũ Việt, roadmap rõ</a:t>
            </a:r>
            <a:r>
              <a:rPr sz="1500">
                <a:solidFill>
                  <a:srgbClr val="072D56"/>
                </a:solidFill>
                <a:latin typeface="Calibri"/>
              </a:rPr>
              <a:t> — hiểu đặc thù VN, commit roadmap 2026-2027 minh bạch.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11277295" cy="2130552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Lợi ích khi là khách hàng sớm (Design Partner):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BƯỚC TIẾP THEO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26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24. Bước tiếp theo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11277295" cy="1362456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Lộ trình làm việc đề xuất: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054096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Bước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Thời gian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Nội dung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Bên thực hiện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Tuần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Demo giải pháp 60-90 phút (online/on-site)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TNTech + KH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Tuần 1-2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Khảo sát nhu cầu chi tiết (BA onsite)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TNTech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Tuần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Báo giá chi tiết + SoW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TNTech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Tuần 3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Đàm phán &amp; ký hợp đồng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Cả 2 bên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Tuần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Kickoff dự 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Cả 2 bên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5934456"/>
            <a:ext cx="11277295" cy="1508760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Để bắt đầu, Quý khách chỉ cần: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2D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548640"/>
            <a:ext cx="2743200" cy="7557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103120"/>
            <a:ext cx="1072865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Calibri"/>
              </a:rPr>
              <a:t>Cảm ơn Quý khách!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C1F5"/>
                </a:solidFill>
                <a:latin typeface="Calibri"/>
              </a:rPr>
              <a:t>TNTech Cloud ERP
Chuyển đổi số — Làm chủ tương lai</a:t>
            </a:r>
          </a:p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Liên hệ:</a:t>
            </a:r>
          </a:p>
          <a:p>
            <a:pPr algn="ctr"/>
            <a:r>
              <a:rPr sz="1800" b="1">
                <a:solidFill>
                  <a:srgbClr val="1EC1F5"/>
                </a:solidFill>
                <a:latin typeface="Calibri"/>
              </a:rPr>
              <a:t>Email: contact@tntech.vn</a:t>
            </a:r>
          </a:p>
          <a:p>
            <a:pPr algn="ctr"/>
            <a:r>
              <a:rPr sz="1800" b="1">
                <a:solidFill>
                  <a:srgbClr val="1EC1F5"/>
                </a:solidFill>
                <a:latin typeface="Calibri"/>
              </a:rPr>
              <a:t>Website: https://tntech.vn</a:t>
            </a:r>
          </a:p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Hotline: [Điền số điện thoại]</a:t>
            </a:r>
          </a:p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Tài liệu liên quan: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