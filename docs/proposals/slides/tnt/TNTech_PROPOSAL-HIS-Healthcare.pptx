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6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80560" y="109728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98448"/>
            <a:ext cx="269748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Cloud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HIS cho Bệnh viện &amp; Phòng khám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0" y="461772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giải pháp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04/2026  ·  Phiên bản 1.0  ·  Bảo mật — Chỉ dùng nội bộ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417320"/>
            <a:ext cx="1371600" cy="0"/>
          </a:xfrm>
          <a:prstGeom prst="line">
            <a:avLst/>
          </a:prstGeom>
          <a:noFill/>
          <a:ln w="381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ngành y tế Việt Nam 2026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0160" y="2359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của bệnh viện &amp; phòng khám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2889504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80160" y="2889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chuyển đổi số — EMR 7 mức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80160" y="34198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Healthcare Cloud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80160" y="3950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thiết kế — Framework BAF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8016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Lợi ích cho BV &amp; Bệnh nhân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80160" y="5010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Khác biệt cạnh tranh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25 phân hệ HIS chuẩn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09360" y="2359152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949440" y="2359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y tế VN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309360" y="2889504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949440" y="2889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&amp; Lộ trình triển khai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09360" y="3419856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2" name="Text 39"/>
          <p:cNvSpPr/>
          <p:nvPr/>
        </p:nvSpPr>
        <p:spPr>
          <a:xfrm>
            <a:off x="630936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949440" y="34198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309360" y="3950208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5" name="Text 42"/>
          <p:cNvSpPr/>
          <p:nvPr/>
        </p:nvSpPr>
        <p:spPr>
          <a:xfrm>
            <a:off x="63093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949440" y="3950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y tế &amp; Support 24×7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309360" y="4480560"/>
            <a:ext cx="457200" cy="4572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8" name="Text 45"/>
          <p:cNvSpPr/>
          <p:nvPr/>
        </p:nvSpPr>
        <p:spPr>
          <a:xfrm>
            <a:off x="63093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94944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A7BE927-CC7A-3D75-2595-A995659AA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BỐI CẢNH NGÀNH Y TẾ VN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ngành y tế Việt Nam 2026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thị trường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2697480" cy="914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1.500+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 (công + tư) toàn quốc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55848" y="21031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5848" y="210312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3355848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538728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khám tư — chỉ ~20% có HIS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54496" y="21031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2103120"/>
            <a:ext cx="2697480" cy="9144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1" name="Text 18"/>
          <p:cNvSpPr/>
          <p:nvPr/>
        </p:nvSpPr>
        <p:spPr>
          <a:xfrm>
            <a:off x="6254496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QĐ 130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6437376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mức trưởng thành EMR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53144" y="21031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53144" y="2103120"/>
            <a:ext cx="269748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9153144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9336024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y tế tăng mỗi năm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434840"/>
            <a:ext cx="11277295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QUY ĐỊNH PHÁP LÝ QUAN TRỌNG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Đề án 06 — 100% cơ sở y tế phải liên thông VNeID + Sổ SKĐT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TT 46/2018/TT-BYT — HSBA điện tử thay thế HSBA giấy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QĐ 130/QĐ-BYT — BV hạng I phải đạt EMR Mức 4+ vào 2025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6080760"/>
            <a:ext cx="11277295" cy="365760"/>
          </a:xfrm>
          <a:prstGeom prst="roundRect">
            <a:avLst>
              <a:gd name="adj" fmla="val 12500"/>
            </a:avLst>
          </a:prstGeom>
          <a:solidFill>
            <a:srgbClr val="0A1F4D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FPT/Viettel/VNPT/Medisoft chỉ phục vụ BV lớn — phòng khám tư nhân "bị bỏ rơi"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F5CBB3-354D-8F9B-59D1-0F36A038F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PAIN POINTS BV &amp; PHÒNG KHÁM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của bệnh viện &amp; phòng khám VN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7295" cy="45262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Hậu quả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Bệnh án giấy hoặc số hoá dở dang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tra cứu, mất hồ sơ, không chia sẻ được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nhận thủ công — xếp hàng 2–4h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Bệnh nhân bỏ đi, đánh giá thấp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CRM — không nhớ tái khám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Khách 1 lần không quay lại; LTV thấp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thủ công — đăng Facebook tay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kém, không đo lường được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tích hợp máy XN/CĐHA — gõ tay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sót y khoa, chậm trễ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 đơn tay — tương tác thuốc, dị ứng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 pháp lý, sai thuốc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Thanh toán BHYT thủ công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Xuất XML 4210 sai, bị từ chối giám định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trị chuỗi phòng khám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scale được khi mở thêm cơ sở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6CEBF92-893E-1EBF-6394-B80F93018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XU HƯỚNG EMR 7 MỨC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chuyển đổi số — EMR 7 mức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QĐ 130/QĐ-BYT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1560" y="2011680"/>
            <a:ext cx="6858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01168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hoá hành chính + viện phí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92440" y="201168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8092440" y="20116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BV đạt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51560" y="2514600"/>
            <a:ext cx="68580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51460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khoa CLS (LIS/RIS)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92440" y="251460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8092440" y="251460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BV đạt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51560" y="3017520"/>
            <a:ext cx="6858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301752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CPOE, y lệnh điện tử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92440" y="301752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8092440" y="301752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BV đạt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51560" y="3520440"/>
            <a:ext cx="68580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52044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PACS, kết quả CLS số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092440" y="352044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1D4EBE"/>
          </a:solidFill>
          <a:ln/>
        </p:spPr>
      </p:sp>
      <p:sp>
        <p:nvSpPr>
          <p:cNvPr id="34" name="Text 31"/>
          <p:cNvSpPr/>
          <p:nvPr/>
        </p:nvSpPr>
        <p:spPr>
          <a:xfrm>
            <a:off x="8092440" y="35204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BV đạt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51560" y="4023360"/>
            <a:ext cx="6858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88720" y="402336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CDSS — hỗ trợ quyết định lâm sàng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092440" y="402336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FF6B2B"/>
          </a:solidFill>
          <a:ln/>
        </p:spPr>
      </p:sp>
      <p:sp>
        <p:nvSpPr>
          <p:cNvPr id="40" name="Text 37"/>
          <p:cNvSpPr/>
          <p:nvPr/>
        </p:nvSpPr>
        <p:spPr>
          <a:xfrm>
            <a:off x="8092440" y="402336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BV đạt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2" name="Text 39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51560" y="4526280"/>
            <a:ext cx="68580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88720" y="452628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số bệnh án, paperless một phần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092440" y="452628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FF6B2B"/>
          </a:solidFill>
          <a:ln/>
        </p:spPr>
      </p:sp>
      <p:sp>
        <p:nvSpPr>
          <p:cNvPr id="46" name="Text 43"/>
          <p:cNvSpPr/>
          <p:nvPr/>
        </p:nvSpPr>
        <p:spPr>
          <a:xfrm>
            <a:off x="8092440" y="45262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BV đạt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51560" y="5029200"/>
            <a:ext cx="6858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88720" y="502920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hoàn toàn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8092440" y="5029200"/>
            <a:ext cx="3639312" cy="384048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8092440" y="502920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BV nào đạt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57200" y="56692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00B6F0"/>
          </a:solidFill>
          <a:ln/>
        </p:spPr>
      </p:sp>
      <p:sp>
        <p:nvSpPr>
          <p:cNvPr id="54" name="Text 5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Cơ hội lớn: 95%+ BV còn cần nâng cấp  ·  Phòng khám tư nhân là "thị trường xanh" chưa được khai phá</a:t>
            </a:r>
            <a:endParaRPr lang="en-US" sz="15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B9176C8-B762-577C-19A7-B1783F03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GIỚI THIỆU TNTECH HEALTHCARE CLOUD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Healthcare Cloud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HIS tích hợp CRM/Loyalty/Marketing đầu tiên tại VN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3070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hệ HIS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phân hệ chuẩn Bộ Y tế &amp; HL7 FHIR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khám tư nhân (đã sẵn sàng triển khai)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Phase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 hạng III (Q4/2026)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Phase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 hạng II với BHYT (2027)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SaaS  +  On-premise (hybrid)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tuân thủ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46/2018, TT 54/2017, QĐ 130, HL7 FHIR R4, DICOM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Tích hợp đặc thù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VNeID, Sổ SKĐT, Đơn thuốc QG, Mirth Connect máy y tế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93776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0A1F4D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937760"/>
            <a:ext cx="1072865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VỊ:
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"Clinic CRM-HIS tích hợp Marketing &amp; Loyalty — dành riêng cho phòng khám tư nhân hạng sang: thẩm mỹ, nha khoa, sản phụ khoa, da liễu, IVF, thể thao"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C0AA4-3E4E-F165-2CBC-4E56ED3F8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TRIẾT LÝ THIẾT KẾ — FRAMEWORK BAF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thiết kế — Framework BAF cho ngành y tế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23060" y="2377440"/>
            <a:ext cx="1371600" cy="137160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162306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457200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đo lường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số ca khám, giảm thời gian chờ, tăng CSAT bệnh nhân, giảm sai sót y khoa, tăng doanh thu.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70832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6692" y="2377440"/>
            <a:ext cx="1371600" cy="13716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553669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4370832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370832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cạnh tranh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45152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đầu tiên có CRM + Loyalty + Marketing native cho BV — điều không FPT/Viettel/Medisoft có.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84464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50324" y="2377440"/>
            <a:ext cx="1371600" cy="137160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4" name="Text 21"/>
          <p:cNvSpPr/>
          <p:nvPr/>
        </p:nvSpPr>
        <p:spPr>
          <a:xfrm>
            <a:off x="9450324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400" dirty="0"/>
          </a:p>
        </p:txBody>
      </p:sp>
      <p:sp>
        <p:nvSpPr>
          <p:cNvPr id="25" name="Text 22"/>
          <p:cNvSpPr/>
          <p:nvPr/>
        </p:nvSpPr>
        <p:spPr>
          <a:xfrm>
            <a:off x="8284464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84464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chi tiết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558784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phân hệ chuẩn BYT &amp; HL7 FHIR — EMR, CPOE, LIS/RIS/PACS, Telemedicine, Patient Portal.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99A1F0-B3A9-704E-284C-EB22CD72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BENEFITS — LỢI ÍCH CHO BV/PK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Lợi ích cho Bệnh viện / Phòng khám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965960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số ca khám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65960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đăng ký 30'→5', BS có thêm 20–30% thời gian khám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4645152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879592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sai sót y khoa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79592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 đơn điện tử + cảnh báo giảm 40–60% lỗi đơn thuốc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58784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2" name="Text 19"/>
          <p:cNvSpPr/>
          <p:nvPr/>
        </p:nvSpPr>
        <p:spPr>
          <a:xfrm>
            <a:off x="8558784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793224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doanh thu 15–30%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93224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Marketing + Loyalty cho BN — điều ít BV làm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1965960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 vận hành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965960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tiết kiệm 200–500 triệu/năm cho BV 150 giường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70832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2" name="Text 29"/>
          <p:cNvSpPr/>
          <p:nvPr/>
        </p:nvSpPr>
        <p:spPr>
          <a:xfrm>
            <a:off x="4645152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5879592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EMR 2–3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879592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QĐ 130 Mức 2–3 Phase 1; Mức 4–6 sau Phase 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284464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58784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7" name="Text 34"/>
          <p:cNvSpPr/>
          <p:nvPr/>
        </p:nvSpPr>
        <p:spPr>
          <a:xfrm>
            <a:off x="8558784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9793224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đa cơ sở dễ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793224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1 phòng khám → chuỗi 10 cơ sở không build lại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D4A320-BBEA-F9B7-0ED3-7590F0ECF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BENEFITS — LỢI ÍCH CHO BỆNH NHÂN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cho Bệnh nhân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bệnh nhân thời 4.0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31620" y="233172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15316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online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383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app/website, không còn xếp hàng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64992" y="2103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9412" y="233172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8" name="Text 15"/>
          <p:cNvSpPr/>
          <p:nvPr/>
        </p:nvSpPr>
        <p:spPr>
          <a:xfrm>
            <a:off x="443941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56432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khám tập trung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47872" y="3383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kết quả CLS, đơn thuốc ở 1 chỗ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72784" y="2103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47204" y="233172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23" name="Text 20"/>
          <p:cNvSpPr/>
          <p:nvPr/>
        </p:nvSpPr>
        <p:spPr>
          <a:xfrm>
            <a:off x="734720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364224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lịch tự động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55664" y="3383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khám + uống thuốc qua SMS/Zalo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80576" y="2103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54996" y="233172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28" name="Text 25"/>
          <p:cNvSpPr/>
          <p:nvPr/>
        </p:nvSpPr>
        <p:spPr>
          <a:xfrm>
            <a:off x="10254996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72016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online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63456" y="3383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QR, thẻ, ví, trả góp Momo/ZaloPay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20624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531620" y="443484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33" name="Text 30"/>
          <p:cNvSpPr/>
          <p:nvPr/>
        </p:nvSpPr>
        <p:spPr>
          <a:xfrm>
            <a:off x="15316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48640" y="5120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" y="5486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từ xa, không phải đến BV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364992" y="420624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39412" y="443484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38" name="Text 35"/>
          <p:cNvSpPr/>
          <p:nvPr/>
        </p:nvSpPr>
        <p:spPr>
          <a:xfrm>
            <a:off x="4439412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3456432" y="5120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CLS online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3547872" y="5486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chờ 1–3 ngày lấy kết quả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272784" y="420624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47204" y="443484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43" name="Text 40"/>
          <p:cNvSpPr/>
          <p:nvPr/>
        </p:nvSpPr>
        <p:spPr>
          <a:xfrm>
            <a:off x="7347204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6364224" y="5120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Ưu đãi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455664" y="5486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điểm, đổi quà, ưu đãi KSK gia đình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180576" y="420624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254996" y="4434840"/>
            <a:ext cx="640080" cy="64008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48" name="Text 45"/>
          <p:cNvSpPr/>
          <p:nvPr/>
        </p:nvSpPr>
        <p:spPr>
          <a:xfrm>
            <a:off x="10254996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9272016" y="5120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SKĐT liên thông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9363456" y="5486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quốc qua Đề án 06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7CB6347-43C4-F7D4-BEA5-75554A630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ADVANTAGES — SO SÁNH ĐỐI THỦ HIS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Khác biệt vs đối thủ HIS Việt Nam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62102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 năng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FPT.eHospital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Viettel 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BKAV 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khám tư hạng sang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360 + Loyalty cho 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Center tích hợp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BN đẹp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 hạng I – TW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BHYT XML 4210 (từ 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436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mức độ mạnh  ·  TNTech dẫn đầu ở CRM/Loyalty/Marketing/Call Center — điều không HIS VN nào có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B12387-2CC5-3B7D-6292-78950EA0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ADVANTAGES — 5 KHÁC BIỆT LỚN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5 khác biệt lớn nhất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554480" y="196596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0208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đầu tiên có CRM + Loyalty + Marketing Automation native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83080" y="23500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3 hệ thống (CRM 200tr + Marketing 150tr + Loyalty 100tr = 450tr/năm tiết kiệm)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554480" y="283464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2889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thật sự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783080" y="3218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3–5 ngày cho phòng khám — không phải "lift-and-shift" on-prem như FPT/Medisoft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554480" y="370332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1783080" y="37581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low-code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783080" y="4087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 tự sửa workflow khám/hội chẩn/chuyển khoa không cần gọi vendor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1554480" y="457200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8" name="Text 25"/>
          <p:cNvSpPr/>
          <p:nvPr/>
        </p:nvSpPr>
        <p:spPr>
          <a:xfrm>
            <a:off x="1783080" y="46268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native (JsSIP/WebRTC)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783080" y="49560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đài chăm sóc BN sẵn trong hệ thống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1554480" y="544068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3" name="Text 30"/>
          <p:cNvSpPr/>
          <p:nvPr/>
        </p:nvSpPr>
        <p:spPr>
          <a:xfrm>
            <a:off x="1783080" y="54955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cho phân khúc tư nhân hạng sang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783080" y="58247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đẹp, UX phòng khám thẩm mỹ/spa y khoa — không phải UX BV công "cổ điển"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CAB84A9-0A37-A8EC-B793-64DC56E79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FEATURES — 25 PHÂN HỆ HIS CHUẨN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25 phân hệ HIS chuẩn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HL7 FHIR + Bộ Y tế Việt Nam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11680"/>
            <a:ext cx="3703320" cy="41148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116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&amp; QUEUE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Đăng ký BN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Queue điện tử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Patient Portal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VNeID/CCCD chip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2011680"/>
            <a:ext cx="3703320" cy="41148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4553712" y="20116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CHỮA BỆNH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99432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OPD (ngoại trú)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IPD *Q3/2026*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EMR/HSBA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Kê đơn điện tử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CPOE y lệnh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84464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84464" y="2011680"/>
            <a:ext cx="3703320" cy="41148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1" name="Text 18"/>
          <p:cNvSpPr/>
          <p:nvPr/>
        </p:nvSpPr>
        <p:spPr>
          <a:xfrm>
            <a:off x="8467344" y="20116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&amp; DỮ LIỆU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13064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 xét nghiệm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RIS/PACS *Q4/2026*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HL7 FHIR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DICOM 3.0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1605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" y="4663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Viện phí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Dược &amp; Kho dược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BHYT *2027*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HĐĐT y tế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Telemedicine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70832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70832" y="4160520"/>
            <a:ext cx="3703320" cy="41148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29" name="Text 26"/>
          <p:cNvSpPr/>
          <p:nvPr/>
        </p:nvSpPr>
        <p:spPr>
          <a:xfrm>
            <a:off x="4553712" y="41605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99432" y="4663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Kho VTYT/TTB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CRM BN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Marketing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Loyalty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84464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84464" y="4160520"/>
            <a:ext cx="3703320" cy="41148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33" name="Text 30"/>
          <p:cNvSpPr/>
          <p:nvPr/>
        </p:nvSpPr>
        <p:spPr>
          <a:xfrm>
            <a:off x="8467344" y="41605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THÔNG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513064" y="4663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Sổ SKĐT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ICD-10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SNOMED / LOINC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Đơn thuốc QG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515994F-AC36-4903-6338-1F2BA644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TIẾP NHẬN &amp; PATIENT PORTAL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nhận, Queue  &amp;  Patient Portal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 tiếp bệnh nhân thời 4.0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 TIẾP NHẬN &amp; QUEUE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Đăng ký BN — CCCD, BHYT, dị ứng, BMI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VNeID / CCCD chip (Phase 1)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MRN duy nhất — chuẩn format BYT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Queue điện tử — kiosk, dự báo giờ khám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Hiển thị thứ tự trên màn hình TV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Merge hồ sơ trùng — MDM y khoa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Đặt lịch từ xa, nhắc trước 1h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Check-in qua QR code cá nhân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 PATIENT MOBILE APP  (React Native)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Đặt lịch khám theo BS/chuyên khoa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Thanh toán online trước khám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Xem kết quả CLS, đơn thuốc, lịch sử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Nhắc uống thuốc, nhắc tái khám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Loyalty — tích điểm, đổi quà KSK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Telemedicine — video call BS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 với CSKH 24/7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Sổ SKĐT cá nhân liên thông quốc gia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99D112-CD63-2925-B3C8-EA0F634C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EMR / HSBA ĐIỆN TỬ (CORE)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/ HSBA điện tử  (Core)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bệnh án điện tử đạt TT 46/2018/TT-BYT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HSBA theo chuyên khoa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Nội, Ngoại, Sản, Nhi, RHM, TMH, Mắt, Da liễu, IVF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9632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2512" y="219456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8" name="Text 15"/>
          <p:cNvSpPr/>
          <p:nvPr/>
        </p:nvSpPr>
        <p:spPr>
          <a:xfrm>
            <a:off x="638251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068312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y khoa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68312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lần khám/CLS/đơn thuốc trên 1 trục thời gian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2588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2588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mạch, nhiệt độ, SpO2, BMI — nhập nhanh hoặc từ monitor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99632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82512" y="324612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28" name="Text 25"/>
          <p:cNvSpPr/>
          <p:nvPr/>
        </p:nvSpPr>
        <p:spPr>
          <a:xfrm>
            <a:off x="638251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68312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ICD-10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68312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Chính, phụ, kèm theo với auto-suggest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480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258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định y lệnh (CPOE)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32588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nghiệm, thuốc, thủ thuật, chuyển khoa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99632" y="411480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82512" y="429768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38" name="Text 35"/>
          <p:cNvSpPr/>
          <p:nvPr/>
        </p:nvSpPr>
        <p:spPr>
          <a:xfrm>
            <a:off x="6382512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🖋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7068312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số bệnh án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068312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Token, HSM — BS và điều dưỡng ký số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516636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43" name="Text 40"/>
          <p:cNvSpPr/>
          <p:nvPr/>
        </p:nvSpPr>
        <p:spPr>
          <a:xfrm>
            <a:off x="64008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32588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một phần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325880" y="5577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Mức 6 — không cần in HSBA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199632" y="516636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82512" y="5349240"/>
            <a:ext cx="548640" cy="54864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48" name="Text 45"/>
          <p:cNvSpPr/>
          <p:nvPr/>
        </p:nvSpPr>
        <p:spPr>
          <a:xfrm>
            <a:off x="6382512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7068312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thông KCB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7068312" y="5577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lịch sử khám qua Sổ SKĐT</a:t>
            </a:r>
            <a:endParaRPr lang="en-US" sz="11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F8DC080-FB41-A1A0-CE65-A691318C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DƯỢC &amp; KÊ ĐƠN ĐIỆN TỬ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Dược  &amp;  Kê đơn điện tử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TT 27/2021 + Đơn thuốc Quốc gia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 KÊ ĐƠN ĐIỆN TỬ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cổng donthuocquocgia.vn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Drug Master Database — tên/hoạt chất/nhóm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Cảnh báo tương tác thuốc (DDI)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Cảnh báo dị ứng theo tiền sử BN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Kiểm tra liều — tuổi, cân nặng, gan/thận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Thuốc kiểm soát đặc biệt — TT 20/2017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Auto-suggest chẩn đoán → thuốc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Template phác đồ theo bệnh lý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 QUẢN LÝ DƯỢC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Nhập/xuất/tồn thuốc theo lô/HSD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Cảnh báo hết hạn, sắp hết, hết tồn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Quản lý thuốc gây nghiện, hướng thần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Chuyển kho — tủ thuốc khoa, xe cấp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Thống kê thuốc tiêu thụ theo BS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dược theo QĐ 3547/2018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máy đếm thuốc tự động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Bảng giá thuốc đa lớp (VC, DV, YC)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A8F03B-2233-DE05-677C-5E00D1CBC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CLS (LIS/RIS/PACS) + THIẾT BỊ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(LIS/RIS/PACS)  +  Tích hợp thiết bị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định &amp; Kết quả Cận Lâm Sàng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370332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— XÉT NGHIỆM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32918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Chỉ định XN, in phiếu + mã vạch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Tích hợp máy XN (HL7 ASTM)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Roche, Abbott, Sysmex, Beckman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Mindray — kết quả tự động → BS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Giá trị tham chiếu, cảnh báo critical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70832" y="210312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2103120"/>
            <a:ext cx="370332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4553712" y="2103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RIS/PACS — CĐHA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99432" y="2788920"/>
            <a:ext cx="32918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Chỉ định CĐHA — Siêu âm, X-quang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CT, MRI, Nội soi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PACS viewer DICOM 3.0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Tích hợp máy qua Mirth Connect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Phase 2 — Q4/2026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84464" y="210312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84464" y="2103120"/>
            <a:ext cx="3703320" cy="54864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1" name="Text 18"/>
          <p:cNvSpPr/>
          <p:nvPr/>
        </p:nvSpPr>
        <p:spPr>
          <a:xfrm>
            <a:off x="8467344" y="2103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513064" y="2788920"/>
            <a:ext cx="32918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Điện tâm đồ (ECG) — HL7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 theo dõi BN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Tích hợp bộ đo HA, SpO2, glucose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Kết quả tự động vào EMR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E85CA83-C266-FCDC-796B-6E7D6D5AE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VIỆN PHÍ &amp; THANH TOÁN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Viện phí  &amp;  Thanh toán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Billing chuẩn VN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 TÍNH VIỆN PHÍ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Bảng giá theo TT 22/2023, TT 13/2023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Giá BHYT, giá DV, giá YC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Gói khám sức khoẻ — KSK định kỳ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Combo thẩm mỹ, thai sản trọn gói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Tạm ứng viện phí — quản lý số dư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Thanh toán nội trú / ngoại trú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Miễn giảm, từ thiện — workflow BPM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HĐĐT y tế TT 78/2021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 THANH TOÁN ĐA KÊNH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QR code (VietQR, VNPay)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Thẻ ngân hàng (ATM/VISA/Master)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Chuyển khoản — tự đối soát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Ví điện tử — MoMo, ZaloPay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Trả góp qua Fundiin, Home Credit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Trả góp Kredivo (thẩm mỹ, nha khoa)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Kết nối Viettel/VNPT/MISA meInvoice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Hỗ trợ trả góp 0% lãi suất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1DDD82-2A55-4EAD-4FD3-066DC20F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TELEMEDICINE &amp; CRM Y KHOA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 &amp;  CRM y khoa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NĐ 96/2023 — Điểm khác biệt lớn nhất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 TELEMEDICINE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Video call BS ↔ BN (WebRTC)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Không cần cài app thứ 3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Kê đơn từ xa → Cổng Đơn thuốc QG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Tư vấn sức khoẻ online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Hội chẩn liên viện — nhiều BS review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Viettel Telehealth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VOV Bacsi24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Ghi hình cuộc tư vấn (tuỳ chọn)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 CRM Y KHOA  (KHÔNG HIS NÀO CÓ)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BN 360° — lịch sử khám, LTV, RFM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Phân khúc BN — VIP, tiềm năng, rời bỏ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Chăm sóc trước/sau khám tự động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Loyalty — tích điểm, đổi KSK gia đình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Marketing Automation theo chuyên khoa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Zalo OA + Facebook + Email + SMS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Referral — BN giới thiệu BN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Review management — thu thập đánh giá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9B6933-DDE5-D5A7-0F75-5DBF028DB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BÁO CÁO BYT &amp; CHẤT LƯỢNG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Bộ Y tế  &amp;  Chất lượng BV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103120"/>
            <a:ext cx="553212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10312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TỰ ĐỘNG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788920"/>
            <a:ext cx="51663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TT 20/2019, TT 37/2019 — thống kê BV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TT 54/2015, TT 17/2019 — bệnh truyền nhiễm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Báo cáo Cục QLKCB — KCB, chuyển tuyến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 biến, sự cố y khoa — QĐ 3869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Kháng kháng sinh (AMR)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Cổng DVC Bộ Y tế — kết nối tự động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9632" y="210312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9632" y="2103120"/>
            <a:ext cx="553212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6428232" y="210312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CHẤT LƯỢNG (QĐ 6858)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73952" y="2788920"/>
            <a:ext cx="51663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Bộ tiêu chí chất lượng BV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Khảo sát hài lòng BN (CSAT, NPS)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Incident Management — sự cố y khoa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Root Cause Analysis (RCA)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Phản hồi BN — tự động phân tích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Bảng điểm chất lượng theo khoa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055A19-116D-9694-8753-67FBE88A3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TUÂN THỦ PHÁP LÝ Y TẾ VN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y tế Việt Nam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422452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Văn bản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tuân thủ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46/2018/TT-BYT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 sơ bệnh án điện tử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Mức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54/2017/TT-BYT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tiêu chí CNTT y tế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 80%+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 130/QĐ-BYT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mức trưởng thành EMR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Mức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27/2021/TT-BYT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 đơn thuốc điện tử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 4210/QĐ-BYT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giám định BHYT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6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 4750/QĐ-BYT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thông KCB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22/2023, TT 13/2023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dịch vụ y tế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NĐ 96/2023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Khám bệnh từ 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 06/QĐ-TTg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VNeID, Sổ SKĐT (Đề án 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FHIR R4 / DICOM 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quốc tế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EEB484B-5D52-3352-AAA3-AEB16C45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PHƯƠNG PHÁP TRIỂN KHAI HIS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triển khai HIS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Methodology — đặc thù y tế, 7 bước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Assessment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cố vấn y tế khảo sát workflow BS/ĐD/LT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68296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68296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2093976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93976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093976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85416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form/workflow cùng BS chuyên khoa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005072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05072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730752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Customize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30752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tuần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30752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22192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HSBA chuyên khoa, tích hợp máy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41848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41848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5367528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67528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tuần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67528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58968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HSBA cũ (có OCR nếu cần)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78624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78624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7" name="Text 34"/>
          <p:cNvSpPr/>
          <p:nvPr/>
        </p:nvSpPr>
        <p:spPr>
          <a:xfrm>
            <a:off x="7004304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004304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004304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95744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song song hệ cũ + mới để đối chiếu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915400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1540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43" name="Text 40"/>
          <p:cNvSpPr/>
          <p:nvPr/>
        </p:nvSpPr>
        <p:spPr>
          <a:xfrm>
            <a:off x="8641080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+ Hypercare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64108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tuần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41080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732520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24×7 trong 4 tuần đầu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552176" y="2057400"/>
            <a:ext cx="1005840" cy="100584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52176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10277856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277856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tục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277856" y="393192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369296" y="4023360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mỗi 2 tuần theo feedback</a:t>
            </a:r>
            <a:endParaRPr lang="en-US" sz="10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74C4953-2734-8C52-981E-0190FBC1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LỘ TRÌNH TRIỂN KHAI THEO QUY MÔ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theo quy mô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mô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vi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Lite  (1–3 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ngày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OPD, EMR cơ bản, kê đơn, viện phí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Basic  (3–10 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CLS manual, Patient Portal, HĐĐT y tế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Pro  (10–20 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CRM, Loyalty, Marketing, Telemedicine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Chain  (20–50 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Multi-site, báo cáo chuỗi, chuyển viện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Tháng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Hospital  (Q4/2026)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IPD, Bed, OR, Nursing, Device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Tháng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892040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E6F7FD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PRODUCT ROADMAP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Q3/2026: Module IPD + OR + Bed Management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Q4/2026: LIS/RIS/PACS + Device integration qua Mirth Connect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Q1/2027: BHYT XML 4210 cho BV có hợp đồng BHXH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Q2/2027: CDSS (Clinical Decision Support) + AI đọc phim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B88F84-669C-F04F-65BD-3CB5F3DA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ƯU – NHƯỢC PHƯƠNG PHÁP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 triển khai HIS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FF6B2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 HIS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(ít khuyến nghị)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Đạt Mức EMR nhanh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Không chạy song song 2 hệ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Cực rủi ro — BV không downtime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BS không kịp thích nghi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phòng khám mới mở, chưa có hệ thống cũ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70832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4370832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70832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(khuyến nghị) — theo khoa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70832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53712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99432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Rủi ro thấp, học hỏi sau mỗi khoa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Đo ROI từng phase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53712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99432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Tổng thời gian dài hơn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Cần quản lý tích hợp giữa các khoa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53712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99432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khám tư, BV hạng III–IV, chuỗi clinic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84464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D4EBE"/>
          </a:solidFill>
          <a:ln/>
        </p:spPr>
      </p:sp>
      <p:sp>
        <p:nvSpPr>
          <p:cNvPr id="31" name="Text 28"/>
          <p:cNvSpPr/>
          <p:nvPr/>
        </p:nvSpPr>
        <p:spPr>
          <a:xfrm>
            <a:off x="8284464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284464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(cho BV lớn)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84464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67344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13064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 toàn tuyệt đối cho dữ liệu BN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Đối chiếu realtime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467344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513064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 phí gấp 2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BS nhập đôi áp lực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67344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513064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 lớn, có quy định nghiêm ngặt về bệnh án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6EBA0BB-AD95-EF82-8B9E-CDEB9C239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BẢO MẬT Y TẾ &amp; TUÂN THỦ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y tế  &amp;  Tuân thủ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y tế = dữ liệu nhạy cảm cấp cao nhất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TUÂN THỦ PHÁP LÝ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517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An ninh mạng 2018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lưu trữ dữ liệu tại VN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Bảo vệ DLCN 2023 (NĐ 13/2023)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DL y tế là dữ liệu nhạy cảm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HIPAA-like internal controls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(dù chưa bắt buộc tại VN)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27001 — đang triển khai 2026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15189 cho LIS — đang triển khai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HL7 FHIR R4 — chuẩn dữ liệu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DICOM 3.0 — chuẩn CĐHA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48095" y="20116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A1F4D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8095" y="2011680"/>
            <a:ext cx="5486400" cy="54864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 SLA Y TẾ 24/7/365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        Uptime         P1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Lite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77824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4984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502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Basic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78240" y="3502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49840" y="3502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92240" y="3941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Pro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778240" y="3941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149840" y="3941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92240" y="4379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Chain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78240" y="43799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149840" y="43799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92240" y="4818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Hospital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778240" y="4818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149840" y="4818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0CBB1D4-A533-F55E-B41D-AF4D5A10B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SUPPORT &amp; SLA Y TẾ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&amp;  SLA dành riêng cho y tế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tế = 24/7/365 — không có khái niệm "giờ hành chính"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772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Gói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Kênh hỗ trợ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giờ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giờ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+ Hotline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giờ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24×5 + CSM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Hospital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24×7 + Dedicated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412480" y="1920240"/>
            <a:ext cx="3322015" cy="4206240"/>
          </a:xfrm>
          <a:prstGeom prst="roundRect">
            <a:avLst>
              <a:gd name="adj" fmla="val 2202"/>
            </a:avLst>
          </a:prstGeom>
          <a:solidFill>
            <a:srgbClr val="F7F9FC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920240"/>
            <a:ext cx="3322015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4" name="Text 10"/>
          <p:cNvSpPr/>
          <p:nvPr/>
        </p:nvSpPr>
        <p:spPr>
          <a:xfrm>
            <a:off x="854964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ĐẶC BIỆT CHO Y TẾ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595360" y="251460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On-site support trong go-live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Clinical Advisor đồng hành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Training lại khi BS nghỉ việc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Backup bệnh án khẩn cấp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Hotline riêng cho BS trực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Hỗ trợ in HSBA giấy khi cần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Quy trình khôi phục nhanh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9A4918-A832-F587-4D05-E28AEF972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TẠI SAO CHỌN TNTECH HEALTHCARE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chọn TNTech Healthcare hôm nay?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51660" y="22860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8516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phòng khám tư đang trống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phòng khám tư VN chưa có HIS. TNTech là nền tảng đầu tiên thiết kế riêng phân khúc này.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5292" y="2286000"/>
            <a:ext cx="914400" cy="9144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576529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370832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Loyalty + Marketing cho BV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45152" y="38404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không HIS VN nào có. Phòng khám thẩm mỹ/nha khoa/IVF thực sự cần điều này.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F6B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78924" y="2286000"/>
            <a:ext cx="914400" cy="91440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2" name="Text 19"/>
          <p:cNvSpPr/>
          <p:nvPr/>
        </p:nvSpPr>
        <p:spPr>
          <a:xfrm>
            <a:off x="9678924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8284464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+ BPM low-code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558784" y="38404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3–5 ngày cho phòng khám thay vì 3–6 tháng on-premise.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93776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LỘ TRÌNH RÕ RÀNG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SaaS (đã sẵn sàng)     </a:t>
            </a:r>
            <a:r>
              <a:rPr lang="en-US" sz="13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2026 H2: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+ CLS + Device integration     </a:t>
            </a:r>
            <a:r>
              <a:rPr lang="en-US" sz="13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2027: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BHYT + CDSS + AI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C37C4B-BBFE-5650-12E3-31246AFF7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BƯỚC TIẾP THEO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 ·  Công nghệ y tế — Vì bệnh nhân, vì bác sĩ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làm việc đề xuất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318211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giải pháp 90 phút (online/on-site)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1–2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Assessment — khảo sát workflow lâm sàng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2–3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 chi tiết + lộ trình + SoW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3–4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Đàm phán &amp; ký hợp đồng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4+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dự án với Clinical Advisor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34924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F6B2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3492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Để bắt đầu, Quý khách chỉ cần liên hệ:  sales@tntech.vn   ·   Hotline: 098 3035 782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5B68FD-D711-D0BB-81B2-C1B96C065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8" y="116296"/>
            <a:ext cx="879093" cy="25901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78408"/>
            <a:ext cx="269748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khách!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Healthcare Cloud  ·  Công nghệ y tế — Vì bệnh nhân, vì bác sĩ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0" y="411480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LIÊN HỆ 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sales@tntech.vn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70832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70832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https://tntech.vn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84464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4464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 3035 782  |  097 168 1899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mong được đồng hành cùng Quý bệnh viện / phòng khám trong hành trình chuyển đổi số y tế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4433</Words>
  <Application>Microsoft Office PowerPoint</Application>
  <PresentationFormat>Widescreen</PresentationFormat>
  <Paragraphs>757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ceo@reborn.vn</cp:lastModifiedBy>
  <cp:revision>8</cp:revision>
  <dcterms:created xsi:type="dcterms:W3CDTF">2026-04-24T02:24:22Z</dcterms:created>
  <dcterms:modified xsi:type="dcterms:W3CDTF">2026-04-24T02:39:04Z</dcterms:modified>
</cp:coreProperties>
</file>