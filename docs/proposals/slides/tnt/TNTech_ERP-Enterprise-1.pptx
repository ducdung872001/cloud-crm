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708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374775" y="1097280"/>
            <a:ext cx="351416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719" y="1298448"/>
            <a:ext cx="2967316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175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Cloud ERP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chuyển đổi số toàn diện cho Doanh nghiệp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029200" y="4617720"/>
            <a:ext cx="2133295" cy="0"/>
          </a:xfrm>
          <a:prstGeom prst="line">
            <a:avLst/>
          </a:prstGeom>
          <a:noFill/>
          <a:ln w="25400">
            <a:solidFill>
              <a:srgbClr val="00B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754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giải pháp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04/2026  ·  Phiên bản 1.0  ·  Bảo mật — Chỉ dùng nội bộ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1417320"/>
            <a:ext cx="1371600" cy="0"/>
          </a:xfrm>
          <a:prstGeom prst="line">
            <a:avLst/>
          </a:prstGeom>
          <a:noFill/>
          <a:ln w="38100">
            <a:solidFill>
              <a:srgbClr val="00B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25880" y="1828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Pain Points doanh nghiệp VN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2588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TNTech Cloud ERP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25880" y="3017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Triết lý thiết kế — Framework BAF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2588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— 6 lợi ích cốt lõi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25880" y="4206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Khác biệt cạnh tranh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25880" y="4800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17 phân hệ chuẩn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309360" y="182880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0" name="Text 27"/>
          <p:cNvSpPr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995160" y="1828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&amp; Kiến trúc hiện đại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309360" y="242316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3" name="Text 30"/>
          <p:cNvSpPr/>
          <p:nvPr/>
        </p:nvSpPr>
        <p:spPr>
          <a:xfrm>
            <a:off x="63093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99516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&amp; Lộ trình triển khai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309360" y="301752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6" name="Text 33"/>
          <p:cNvSpPr/>
          <p:nvPr/>
        </p:nvSpPr>
        <p:spPr>
          <a:xfrm>
            <a:off x="63093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95160" y="3017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– Nhược các phương pháp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309360" y="361188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9" name="Text 36"/>
          <p:cNvSpPr/>
          <p:nvPr/>
        </p:nvSpPr>
        <p:spPr>
          <a:xfrm>
            <a:off x="63093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99516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&amp; Bảo mật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309360" y="420624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2" name="Text 39"/>
          <p:cNvSpPr/>
          <p:nvPr/>
        </p:nvSpPr>
        <p:spPr>
          <a:xfrm>
            <a:off x="63093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995160" y="4206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SLA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6309360" y="480060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5" name="Text 42"/>
          <p:cNvSpPr/>
          <p:nvPr/>
        </p:nvSpPr>
        <p:spPr>
          <a:xfrm>
            <a:off x="630936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995160" y="4800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BỐI CẢNH DOANH NGHIỆP VN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doanh nghiệp Việt Nam 2026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lực chuyển đổi số chưa từng có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94560"/>
            <a:ext cx="2697480" cy="914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4008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VN đã/đang chuyển đổi số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VCCI 2025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55848" y="2194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55848" y="2194560"/>
            <a:ext cx="2697480" cy="914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8" name="Text 15"/>
          <p:cNvSpPr/>
          <p:nvPr/>
        </p:nvSpPr>
        <p:spPr>
          <a:xfrm>
            <a:off x="3355848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3538728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phải dùng HĐĐT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38728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01/07/2022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54496" y="2194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54496" y="2194560"/>
            <a:ext cx="2697480" cy="914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3" name="Text 20"/>
          <p:cNvSpPr/>
          <p:nvPr/>
        </p:nvSpPr>
        <p:spPr>
          <a:xfrm>
            <a:off x="6254496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NĐ 13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6437376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Bảo vệ dữ liệu cá nhân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37376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lực 01/07/2023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153144" y="2194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53144" y="2194560"/>
            <a:ext cx="2697480" cy="914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8" name="Text 25"/>
          <p:cNvSpPr/>
          <p:nvPr/>
        </p:nvSpPr>
        <p:spPr>
          <a:xfrm>
            <a:off x="9153144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8-12%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9336024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chi phí nhân công/năm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336024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 tự động hoá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502920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0A1F4D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không chuyển đổi số sẽ tụt lại phía sau trong 3–5 năm tới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PAIN POINTS DOANH NGHIỆP VN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của doanh nghiệp Việt Nam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43891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 đề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Hậu quả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mềm rời rạc (KT, CRM, POS, kho riêng)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Nhập liệu trùng, sai lệch dữ liệu, thiếu single source of truth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hoá mọi thứ — báo cáo, công nợ, tồn kho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sót cao, không realtime, không traceable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biết khách hàng là ai — thiếu CRM 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phun súng, ROI thấp, khách rơi rụng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 trình thủ công — ký giấy, email, chat Zalo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Chậm, không audit, sếp không kiểm soát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làm tay cuối 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Sếp ra quyết định muộn 30–60 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tích hợp đa kênh Shopee/Lazada/TikTok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lỡ doanh thu, bán đúp, quản trị tồn rối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ngoại đắt đỏ — ERP nội yếu CRM/Marketing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lựa chọn vừa sức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TẠI SAO CẦN ERP TÍCH HỢP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ERP tích hợp?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ERP rời rạc vs ERP tích hợp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ERP RỜI RẠC  (tình trạng phổ biến)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27889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5–10 phần mềm riêng biệt + Excel
• Mỗi phần mềm 1 database riêng
• Nhân viên nhập liệu 3–5 lần cho 1 giao dịch
• Chi phí ẩn: 20–30% quỹ lương back-office
• Báo cáo cuối tháng làm tay → sếp quyết muộn
• Không có single source of truth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6248095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ERP TÍCH HỢP  (định hướng TNTech)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22415" y="27889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nền tảng — 17 phân hệ tích hợp native
• 1 database, 1 login, 1 báo cáo
• Nhập 1 lần → dữ liệu chảy khắp hệ thống
• Tiết kiệm 30–50% chi phí back-office
• Dashboard realtime cho sếp quyết định nhanh
• CRM + Marketing + BPM trong 1 hệ thống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GIỚI THIỆU TNTECH CLOUD ERP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TNTech Cloud ERP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chuyển đổi số all-in-one cho doanh nghiệp Việt Nam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33070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module đã triển khai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modules  ·  240+ services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hệ chuẩn ERP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phân hệ theo chuẩn SAP / Oracle / Odoo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công nghệ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TypeScript + Vite + Microservices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Triển khai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Cloud  /  On-premise  /  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Ngôn ngữ giao diện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 có dấu đầy đủ  +  English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Đội ngũ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người Việt, support tiếng Việt 24×7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tượng phục vụ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 ·  SME  ·  Large  ·  Enterprise (&gt;1000 NV)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937760"/>
            <a:ext cx="11277295" cy="1143000"/>
          </a:xfrm>
          <a:prstGeom prst="roundRect">
            <a:avLst>
              <a:gd name="adj" fmla="val 6400"/>
            </a:avLst>
          </a:prstGeom>
          <a:solidFill>
            <a:srgbClr val="0A1F4D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4937760"/>
            <a:ext cx="1072865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VỊ: 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"ERP bán lẻ – dịch vụ tích hợp sâu CRM / Marketing / Social — thay vì cạnh tranh trực diện với SAP / Oracle"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BENEFITS — 6 LỢI ÍCH CỐT LÕI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— 6 lợi ích cốt lõi cho doanh nghiệp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33172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1965960" y="2240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chi phí CNTT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965960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25–40% so SAP/Oracle, 10–20% so MISA/Bravo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0832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5152" y="233172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4645152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5879592" y="2240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tốc vận hành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79592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+ Automation giảm 60–80% thao tác thủ công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84464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58784" y="233172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2" name="Text 19"/>
          <p:cNvSpPr/>
          <p:nvPr/>
        </p:nvSpPr>
        <p:spPr>
          <a:xfrm>
            <a:off x="8558784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9793224" y="2240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doanh thu đa kênh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93224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Shopee/Lazada/TikTok + Marketing +15–35%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448056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1965960" y="4389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thất thoát kho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965960" y="493776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Lô/HSD/barcode giảm thất thoát từ 3–8% xuống &lt;0.5%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70832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45152" y="448056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2" name="Text 29"/>
          <p:cNvSpPr/>
          <p:nvPr/>
        </p:nvSpPr>
        <p:spPr>
          <a:xfrm>
            <a:off x="4645152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400" dirty="0"/>
          </a:p>
        </p:txBody>
      </p:sp>
      <p:sp>
        <p:nvSpPr>
          <p:cNvPr id="33" name="Text 30"/>
          <p:cNvSpPr/>
          <p:nvPr/>
        </p:nvSpPr>
        <p:spPr>
          <a:xfrm>
            <a:off x="5879592" y="4389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nhanh hơn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879592" y="493776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realtime + BI tự phục vụ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284464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58784" y="448056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7" name="Text 34"/>
          <p:cNvSpPr/>
          <p:nvPr/>
        </p:nvSpPr>
        <p:spPr>
          <a:xfrm>
            <a:off x="8558784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400" dirty="0"/>
          </a:p>
        </p:txBody>
      </p:sp>
      <p:sp>
        <p:nvSpPr>
          <p:cNvPr id="38" name="Text 35"/>
          <p:cNvSpPr/>
          <p:nvPr/>
        </p:nvSpPr>
        <p:spPr>
          <a:xfrm>
            <a:off x="9793224" y="4389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VN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9793224" y="493776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HĐĐT TCT, BHXH điện tử, VAS TT 200, VNeID sẵn sàng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ROI ƯỚC TÍNH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ước tính cho doanh nghiệp SME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SME 100 nhân viên, 15 cửa hàng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22860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4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Hạng mục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Trước TNTech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TNTech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Tiết kiệm/năm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 phần mềm rời rạc (5–7 PM)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triệu/năm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triệu/năm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−154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Nhân sự back-office (nhập liệu)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FTE × 180tr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FTE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−270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Thất thoát kho (3% tồn 5 tỷ)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triệu/năm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triệu/năm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−125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 doanh thu thiếu 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−300 triệu (thu lại)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+300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48056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48056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TỔNG TÁC ĐỘNG TÀI CHÍNH / NĂM: 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+850 triệu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7200" y="55778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tháng cho hợp đồng SME 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3 năm: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500–800%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ADVANTAGES — SO SÁNH ĐỐI THỦ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Điểm khác biệt cạnh tranh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37490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Yếu tố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MISA AMIS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Bravo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B1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360 + Loyalty + Call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 low-code (BPMN 2.0)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 Social VN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công nghệ hiện đại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Triển khai nhanh (&lt;3 tháng)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 toán VAS TT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9436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= mức độ mạnh về tính năng  ·  TNTech dẫn đầu ở 5/7 tiêu chí quan trọng cho SME Việt Nam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ADVANTAGES — 5 ĐIỀU CHỈ TNTECH CÓ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5 điều chỉ TNTech có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65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554480" y="196596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20208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360 + Loyalty + Marketing Automation native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783080" y="235000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3 phần mềm riêng (thường tốn 100–250 triệu/năm)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8346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1554480" y="283464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Text 15"/>
          <p:cNvSpPr/>
          <p:nvPr/>
        </p:nvSpPr>
        <p:spPr>
          <a:xfrm>
            <a:off x="1783080" y="28895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tích hợp (JsSIP / WebRTC)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783080" y="32186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mua phần mềm tổng đài riêng (tiết kiệm 50–150 triệu)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70332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703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1554480" y="370332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3" name="Text 20"/>
          <p:cNvSpPr/>
          <p:nvPr/>
        </p:nvSpPr>
        <p:spPr>
          <a:xfrm>
            <a:off x="1783080" y="375818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low-code BPMN 2.0 + form-js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783080" y="40873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Sếp/BA tự vẽ quy trình, không cần lập trình viên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57200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572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1554480" y="457200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8" name="Text 25"/>
          <p:cNvSpPr/>
          <p:nvPr/>
        </p:nvSpPr>
        <p:spPr>
          <a:xfrm>
            <a:off x="1783080" y="462686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Social bản địa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783080" y="49560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+ Zalo + TikTok Shop tích hợp sẵn — MISA, Bravo không có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544068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54406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Shape 29"/>
          <p:cNvSpPr/>
          <p:nvPr/>
        </p:nvSpPr>
        <p:spPr>
          <a:xfrm>
            <a:off x="1554480" y="544068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3" name="Text 30"/>
          <p:cNvSpPr/>
          <p:nvPr/>
        </p:nvSpPr>
        <p:spPr>
          <a:xfrm>
            <a:off x="1783080" y="54955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công nghệ 2024+ (React 18, TS, microservices)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783080" y="58247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mở rộng 10 năm tới (đối thủ dùng PHP/jQuery 2015–2018)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FEATURES — 17 PHÂN HỆ CHUẨN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Tổng quan 17 phân hệ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chuẩn SAP / Oracle / Odoo  ·  161 modules  ·  240+ services backend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16712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19659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Tài chính – Kế toán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97680" y="196596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216712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9659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Kho &amp; Logistics (WMS)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38160" y="196596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216712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9" name="Text 16"/>
          <p:cNvSpPr/>
          <p:nvPr/>
        </p:nvSpPr>
        <p:spPr>
          <a:xfrm>
            <a:off x="8641080" y="19659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Mua hàng (Procurement)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2724912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2926080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272491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Bán hàng &amp; Phân phối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297680" y="2724912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0560" y="2926080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272491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Sản xuất (MRP) *Q4/2026*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38160" y="2724912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2926080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8" name="Text 25"/>
          <p:cNvSpPr/>
          <p:nvPr/>
        </p:nvSpPr>
        <p:spPr>
          <a:xfrm>
            <a:off x="8641080" y="272491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CRM 360 + Loyalty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3483864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3685032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1" name="Text 28"/>
          <p:cNvSpPr/>
          <p:nvPr/>
        </p:nvSpPr>
        <p:spPr>
          <a:xfrm>
            <a:off x="960120" y="348386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Nhân sự &amp; Lương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297680" y="3483864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80560" y="3685032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4" name="Text 31"/>
          <p:cNvSpPr/>
          <p:nvPr/>
        </p:nvSpPr>
        <p:spPr>
          <a:xfrm>
            <a:off x="4800600" y="348386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Quản lý dự án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8138160" y="3483864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21040" y="3685032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7" name="Text 34"/>
          <p:cNvSpPr/>
          <p:nvPr/>
        </p:nvSpPr>
        <p:spPr>
          <a:xfrm>
            <a:off x="8641080" y="348386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Tài sản cố định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7200" y="4242816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" y="4443984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0" name="Text 37"/>
          <p:cNvSpPr/>
          <p:nvPr/>
        </p:nvSpPr>
        <p:spPr>
          <a:xfrm>
            <a:off x="960120" y="424281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Báo cáo &amp; BI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4297680" y="4242816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480560" y="4443984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3" name="Text 40"/>
          <p:cNvSpPr/>
          <p:nvPr/>
        </p:nvSpPr>
        <p:spPr>
          <a:xfrm>
            <a:off x="4800600" y="424281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BPM / DMS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8138160" y="4242816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321040" y="4443984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6" name="Text 43"/>
          <p:cNvSpPr/>
          <p:nvPr/>
        </p:nvSpPr>
        <p:spPr>
          <a:xfrm>
            <a:off x="8641080" y="424281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HĐĐT &amp; E-Tax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457200" y="5001768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0080" y="5202936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9" name="Text 46"/>
          <p:cNvSpPr/>
          <p:nvPr/>
        </p:nvSpPr>
        <p:spPr>
          <a:xfrm>
            <a:off x="960120" y="500176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Tích hợp Ngân hàng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4297680" y="5001768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480560" y="5202936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52" name="Text 49"/>
          <p:cNvSpPr/>
          <p:nvPr/>
        </p:nvSpPr>
        <p:spPr>
          <a:xfrm>
            <a:off x="4800600" y="500176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Audit &amp; Kiểm soát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8138160" y="5001768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321040" y="5202936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55" name="Text 52"/>
          <p:cNvSpPr/>
          <p:nvPr/>
        </p:nvSpPr>
        <p:spPr>
          <a:xfrm>
            <a:off x="8641080" y="500176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Multi-company / currency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457200" y="576072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40080" y="596188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58" name="Text 55"/>
          <p:cNvSpPr/>
          <p:nvPr/>
        </p:nvSpPr>
        <p:spPr>
          <a:xfrm>
            <a:off x="960120" y="57607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E-commerce integration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4297680" y="576072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480560" y="596188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61" name="Text 58"/>
          <p:cNvSpPr/>
          <p:nvPr/>
        </p:nvSpPr>
        <p:spPr>
          <a:xfrm>
            <a:off x="4800600" y="57607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POS – Bán lẻ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FEATURES — BÁN HÀNG, POS &amp; ĐA KÊNH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hàng, POS &amp; Đa kênh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Phủ toàn bộ vòng đời đơn hàng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53212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&amp; Checkout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 offline/online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Máy in bill, cash drawer, barcode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Counter Sales, Checkout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ShiftManagement — báo cáo cuối ca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99632" y="21031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103120"/>
            <a:ext cx="553212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21031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 &amp; Giá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28232" y="269748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Order, ManagerOrder, OrderTracking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Báo giá, PromotionPage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PromoCode, SharePromoPage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Chính sách giá đa lớp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25196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4251960"/>
            <a:ext cx="553212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2519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kênh &amp; Social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" y="484632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MultiChannelSales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Facebook / Zalo / TikTok Shop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Shopee / Lazada / Tiki tích hợp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Đồng bộ tồn realtime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99632" y="425196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9632" y="4251960"/>
            <a:ext cx="553212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5" name="Text 22"/>
          <p:cNvSpPr/>
          <p:nvPr/>
        </p:nvSpPr>
        <p:spPr>
          <a:xfrm>
            <a:off x="6382512" y="42519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Bảo hành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28232" y="484632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GHN / GHTK / Viettel Post / J&amp;T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Ninja Van / BEST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Trả hàng, Warranty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SettingWarranty theo SKU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FEATURES — CRM 360 + LOYALTY + MARKETING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360 + Loyalty + Marketing Automation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mạnh nhất của TNTech — 19 modules CRM + 21 modules Marketing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 QUẢN LÝ KHÁCH HÀNG 360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CustomerPerson, Contact, CustomerCare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CustomerChurn — nhận diện KH rời bỏ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CustomerValue — phân tích RFM, LTV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CustomerSegment, LoyaltySegment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MembershipClass — hạng thẻ thành viên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CustomerReview, CustomerSurvey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LinkSurvey, FeedbackCustomer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360° view — tổng hợp dữ liệu omni-channel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6430975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 MARKETING AUTOMATION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22415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Email &amp; SMS campaign automation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Zalo ZNS — tin nhắn có thương hiệu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Facebook Messenger marketing bot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 journey / funnel designer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A/B testing, dynamic segmentation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Loyalty point — tích điểm, đổi quà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Referral program — KH giới thiệu KH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MarketingReportPage — ROI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FEATURES — KHO &amp; TÀI CHÍNH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&amp; Logistics  +  Tài chính cơ bản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011680"/>
            <a:ext cx="5486400" cy="54864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011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 KHO &amp; LOGISTICS  —  16 modules WMS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6517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Nhập/Xuất/Tồn — ProductImport, InventoryList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ProductInventoryList, ProductSoldList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Đa kho, đa vị trí — WarehouseListPage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Điều chuyển — TransferOrderForm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Điều chỉnh — AdjustmentSlip, DestroySlip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Kiểm kê — InventoryManagement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Báo cáo kho — InventoryReportModern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NVL, biên lai — ManagementMaterial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Shipping — ShipingManagement, ShippingFeeConfig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48095" y="20116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8095" y="2011680"/>
            <a:ext cx="5486400" cy="5486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6" name="Text 13"/>
          <p:cNvSpPr/>
          <p:nvPr/>
        </p:nvSpPr>
        <p:spPr>
          <a:xfrm>
            <a:off x="6430975" y="2011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 TÀI CHÍNH  —  14 modules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22415" y="26517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Sổ quỹ tiền mặt, tiền gửi NH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Công nợ phải thu, phải trả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Thu chi tiền mặt, uỷ nhiệm chi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Phiếu hạch toán tự động từ bán hàng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Bảng cân đối kế toán, KQHDKD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Báo cáo thuế — GTGT, TNDN, TNCN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HĐĐT tích hợp Viettel/VNPT/MISA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Tích hợp Banking (Open Banking/SFTP)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Multi-currency, tỷ giá tự động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FEATURES — HR &amp; CÔNG VIỆC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Chấm công &amp; Quản lý công việc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modules HRM core — mở rộng Phase 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PHASE 1 — ĐÃ SẴN SÀNG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Chấm công — Timekeeping, SettingTimekeeping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 làm việc, máy chấm công, GPS check-in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Quản lý công việc — ManagerWork, MiddleWork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HandleTask, UserTaskList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Báo cáo — JobReport, ResourceManagement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Dự án — ProjectList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Tổ chức — Organization, User, SettingOrg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Phân quyền — SettingAccount chi tiết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EF3C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02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7" name="Text 14"/>
          <p:cNvSpPr/>
          <p:nvPr/>
        </p:nvSpPr>
        <p:spPr>
          <a:xfrm>
            <a:off x="6430975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 SẴN SÀNG MỞ RỘNG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22415" y="26974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Payroll engine — TT 59/2015, TT 111/2013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Tính lương, TNCN, BHXH tự động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BHXH điện tử — tích hợp iBHXH/TS24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Recruitment ATS (Phase 2)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LMS đào tạo (Phase 2)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KPI/OKR nâng cao (Phase 2)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360° review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Onboarding workflow tự động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FEATURES — BPM LOW-CODE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Low-code  +  Workflow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 công nghệ — 11 modules BPM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57400"/>
            <a:ext cx="109728" cy="658368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1305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bpmn-js 17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2404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BPMN 2.0 quốc tế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807208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807208"/>
            <a:ext cx="109728" cy="658368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form-js 1.17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 tạo biểu mẫu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557016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557016"/>
            <a:ext cx="109728" cy="658368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6301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Engine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" y="39044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BusinessRule, BusinessRuleConfig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306824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4306824"/>
            <a:ext cx="109728" cy="658368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43799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Workflow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77240" y="465429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nhiều tầng, escalation, SLA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2057400"/>
            <a:ext cx="5699455" cy="4160520"/>
          </a:xfrm>
          <a:prstGeom prst="roundRect">
            <a:avLst>
              <a:gd name="adj" fmla="val 1758"/>
            </a:avLst>
          </a:prstGeom>
          <a:solidFill>
            <a:srgbClr val="0A1F4D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2194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ỨNG DỤNG THỰC TẾ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55080" y="274320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Phê duyệt đơn hàng đa cấp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Quy trình mua sắm, đấu thầu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Chuyển tiền ngân quỹ nội bộ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Quy trình nghỉ phép, công tác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Phê duyệt miễn giảm viện phí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Workflow ký số hợp đồng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Escalation khi quá SLA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Sếp/BA tự sửa workflow không cần dev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FEATURES — BI &amp;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BI, Dashboard &amp; Báo cáo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 BI native — không cần mua Power BI/Tableau riêng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0574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23774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DashboardRetail, DashboardLoyalty, IntegratedMonitoring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9632" y="201168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8232" y="20574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28232" y="23774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ReportCustomer, ReportCustomerModern, CustomerAnalysisPage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06324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10896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342900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InventoryReportModern, WarehouseReport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99632" y="306324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310896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28232" y="342900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MarketingReportPage, LoyaltyReportPage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297680"/>
            <a:ext cx="11277295" cy="1828800"/>
          </a:xfrm>
          <a:prstGeom prst="roundRect">
            <a:avLst>
              <a:gd name="adj" fmla="val 4000"/>
            </a:avLst>
          </a:prstGeom>
          <a:solidFill>
            <a:srgbClr val="0A1F4D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CÔNG NGHỆ BACKBONE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" y="4892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HighCharts 9.3
</a:t>
            </a:r>
            <a:r>
              <a:rPr lang="en-US" sz="11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chuyên nghiệp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434840" y="4892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Ag-Grid 30.2
</a:t>
            </a:r>
            <a:r>
              <a:rPr lang="en-US" sz="11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 100K+ rows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092440" y="4892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ExcelJS + xlsx
</a:t>
            </a:r>
            <a:r>
              <a:rPr lang="en-US" sz="11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Excel native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CÔNG NGHỆ &amp; KIẾN TRÚC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&amp; Kiến trúc hiện đại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công nghệ 2024+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7772400" cy="4005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nghệ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bản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 + 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/ 5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 (11 services)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+ 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+ JsSIP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bpmn-js + form-js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1.17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2.0 + MSAL (Azure SSO)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HighCharts + Ag-Grid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 (Progressive Web App)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Kubernetes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412480" y="1874520"/>
            <a:ext cx="3322015" cy="4297680"/>
          </a:xfrm>
          <a:prstGeom prst="roundRect">
            <a:avLst>
              <a:gd name="adj" fmla="val 2202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12480" y="1874520"/>
            <a:ext cx="3322015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4" name="Text 10"/>
          <p:cNvSpPr/>
          <p:nvPr/>
        </p:nvSpPr>
        <p:spPr>
          <a:xfrm>
            <a:off x="8549640" y="1874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HẠ TẦNG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595360" y="2514600"/>
            <a:ext cx="3063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 Data Center tại VN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Hà Nội + TP.HCM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VNG / FPT / Viettel IDC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Backup hàng ngày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RTO 4h / RPO 1h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SSL, DDoS protection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Monitoring 24×7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Đang triển khai ISO 27001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PHƯƠNG PHÁP TRIỂN KHAI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triển khai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Hybrid Methodology — kết hợp Agile + Waterfall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2194560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tuần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nhu cầu, AS-IS vs TO-BE, ký SoW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24912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24912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 rot="5400000">
            <a:off x="4096512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21" name="Text 18"/>
          <p:cNvSpPr/>
          <p:nvPr/>
        </p:nvSpPr>
        <p:spPr>
          <a:xfrm>
            <a:off x="2359152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359152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359152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50592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luồng, form, báo cáo, workflow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26864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Shape 24"/>
          <p:cNvSpPr/>
          <p:nvPr/>
        </p:nvSpPr>
        <p:spPr>
          <a:xfrm rot="5400000">
            <a:off x="5998464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28" name="Text 25"/>
          <p:cNvSpPr/>
          <p:nvPr/>
        </p:nvSpPr>
        <p:spPr>
          <a:xfrm>
            <a:off x="4261104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Configure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261104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4–12 tuần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61104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52544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hình, tuỳ chỉnh form/báo cáo, tích hợp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528816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28816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34" name="Shape 31"/>
          <p:cNvSpPr/>
          <p:nvPr/>
        </p:nvSpPr>
        <p:spPr>
          <a:xfrm rot="5400000">
            <a:off x="7900416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35" name="Text 32"/>
          <p:cNvSpPr/>
          <p:nvPr/>
        </p:nvSpPr>
        <p:spPr>
          <a:xfrm>
            <a:off x="6163056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163056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63056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54496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dữ liệu từ hệ thống cũ, cleansing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430768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30768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41" name="Shape 38"/>
          <p:cNvSpPr/>
          <p:nvPr/>
        </p:nvSpPr>
        <p:spPr>
          <a:xfrm rot="5400000">
            <a:off x="9802368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42" name="Text 39"/>
          <p:cNvSpPr/>
          <p:nvPr/>
        </p:nvSpPr>
        <p:spPr>
          <a:xfrm>
            <a:off x="8065008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+ Training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065008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065008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56448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Train-the-Trainer + User Acceptance Test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332720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33272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48" name="Text 45"/>
          <p:cNvSpPr/>
          <p:nvPr/>
        </p:nvSpPr>
        <p:spPr>
          <a:xfrm>
            <a:off x="99669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+ Hypercare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99669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9966960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058400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support 24×7 trong hypercare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LỘ TRÌNH TRIỂN KHAI THEO QUY MÔ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triển khai theo quy mô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77295" cy="2743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 mô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hệ triển khai 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mở rộng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 &lt; 20 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tuần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Bán hàng, POS, CRM, Kho cơ bản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Marketing, Loyalty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  50–200 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tuần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Kế toán, HR chấm công, HĐĐT, BPM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Payroll, BI nâng cao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 200–1000 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Multi-branch, Dự án, FA, Multi-currency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Manufacturing MRP (Q4/2026)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 &gt; 1000 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scope tuỳ chỉnh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Consolidation, IFRS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5029200"/>
            <a:ext cx="11277295" cy="1188720"/>
          </a:xfrm>
          <a:prstGeom prst="roundRect">
            <a:avLst>
              <a:gd name="adj" fmla="val 6154"/>
            </a:avLst>
          </a:prstGeom>
          <a:solidFill>
            <a:srgbClr val="E6F7FD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PRODUCT ROADMAP 2026–2027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Q3/2026: Manufacturing MRP  ▸ Q4/2026: LIS/RIS/PACS + Device integration  ▸ Q1/2027: BHYT XML 4210  ▸ Q2/2027: AI Assistant + CDSS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ƯU – NHƯỢC CÁC PHƯƠNG PHÁP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– Nhược các phương pháp triển khai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3703320" cy="685800"/>
          </a:xfrm>
          <a:prstGeom prst="roundRect">
            <a:avLst>
              <a:gd name="adj" fmla="val 10667"/>
            </a:avLst>
          </a:prstGeom>
          <a:solidFill>
            <a:srgbClr val="FF6B2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(triển khai 1 lần toàn bộ)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7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Ưu điểm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063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Nhanh đạt trạng thái cuối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Giảm chi phí song hành 2 hệ thống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977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Nhược điểm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Rủi ro cao, khó rollback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User shock lớn, đào tạo gấp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Phù hợp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&lt;30 NV, SME có kế hoạch rõ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70832" y="1965960"/>
            <a:ext cx="3703320" cy="685800"/>
          </a:xfrm>
          <a:prstGeom prst="roundRect">
            <a:avLst>
              <a:gd name="adj" fmla="val 10667"/>
            </a:avLst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4370832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370832" y="2304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(triển khai theo phân hệ) — khuyến nghị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70832" y="26517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53712" y="27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Ưu điểm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99432" y="3063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Rủi ro thấp, dễ học hỏi sau mỗi phase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Đo ROI từng phase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53712" y="3977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Nhược điểm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99432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Tổng thời gian dài hơn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Chi phí hơi cao hơn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53712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Phù hợp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99432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50–500 NV, đa ngành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284464" y="1965960"/>
            <a:ext cx="3703320" cy="685800"/>
          </a:xfrm>
          <a:prstGeom prst="roundRect">
            <a:avLst>
              <a:gd name="adj" fmla="val 10667"/>
            </a:avLst>
          </a:prstGeom>
          <a:solidFill>
            <a:srgbClr val="1D4EBE"/>
          </a:solidFill>
          <a:ln/>
        </p:spPr>
      </p:sp>
      <p:sp>
        <p:nvSpPr>
          <p:cNvPr id="31" name="Text 28"/>
          <p:cNvSpPr/>
          <p:nvPr/>
        </p:nvSpPr>
        <p:spPr>
          <a:xfrm>
            <a:off x="8284464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284464" y="2304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(chạy song song hệ cũ + mới)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84464" y="26517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67344" y="27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Ưu điểm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513064" y="3063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 toàn tuyệt đối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Đối chiếu dữ liệu realtime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467344" y="3977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Nhược điểm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513064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Chi phí gấp 2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Nhân viên áp lực nhập đôi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467344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Phù hợp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513064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ngành có rủi ro pháp lý cao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TUÂN THỦ &amp; BẢO MẬT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Việt Nam  &amp;  Bảo mật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965960"/>
            <a:ext cx="5486400" cy="54864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 TUÂN THỦ PHÁP LÝ VIỆT NAM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60604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HĐĐT — TT 78/2021, NĐ 123/2020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Thuế điện tử — HTKK, eTax, TT 105/2020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BHXH điện tử — TT 59/2015 (iBHXH/TS24)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Kế toán VAS — TT 200/2014, TT 133/2016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Đề án 06 — VNeID, CCCD chip, Sổ SKĐT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Luật An ninh mạng 2018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Luật Bảo vệ DLCN 2023 (NĐ 13/2023)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HL7 FHIR R4 + DICOM 3.0 (y tế)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48095" y="196596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0A1F4D"/>
          </a:solidFill>
          <a:ln/>
        </p:spPr>
      </p:sp>
      <p:sp>
        <p:nvSpPr>
          <p:cNvPr id="15" name="Shape 12"/>
          <p:cNvSpPr/>
          <p:nvPr/>
        </p:nvSpPr>
        <p:spPr>
          <a:xfrm>
            <a:off x="6248095" y="1965960"/>
            <a:ext cx="5486400" cy="5486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6" name="Text 13"/>
          <p:cNvSpPr/>
          <p:nvPr/>
        </p:nvSpPr>
        <p:spPr>
          <a:xfrm>
            <a:off x="6430975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 BẢO MẬT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22415" y="260604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Hosting tại VN — 2 DC Hà Nội + TP.HCM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SSL/TLS 1.3, HTTPS only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OAuth 2.0 + SSO (Azure AD, Google)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RBAC phân quyền chi tiết theo role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Audit log toàn bộ thao tác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Backup hàng ngày, RTO 4h, RPO 1h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Monitoring 24×7 với alerting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Đang triển khai ISO 27001 &amp; ISO 9001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CAM KẾT SUPPORT &amp; SLA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Support  &amp;  SLA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7772400" cy="2880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Gói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 lý sự cố 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Kênh hỗ trợ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/ 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giờ LV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8×5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giờ LV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+ Email 8×5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giờ LV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Hotline 8×5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giờ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24×5 + CSM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24×7 + CSM + KAM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24×7 + Dedicated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412480" y="1920240"/>
            <a:ext cx="3322015" cy="4206240"/>
          </a:xfrm>
          <a:prstGeom prst="roundRect">
            <a:avLst>
              <a:gd name="adj" fmla="val 2202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1920240"/>
            <a:ext cx="3322015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3" name="Text 9"/>
          <p:cNvSpPr/>
          <p:nvPr/>
        </p:nvSpPr>
        <p:spPr>
          <a:xfrm>
            <a:off x="854964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KNOWLEDGE BASE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595360" y="2514600"/>
            <a:ext cx="3063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Tiếng Việt có dấu đầy đủ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14 parts HDSG chi tiết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Video hướng dẫn từng phân hệ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Chat in-app tất cả các gói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On-site training tuỳ gói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CSM từ Pro+ trở lên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KAM dedicated cho Enterprise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TẠI SAO CHỌN TNTECH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chọn TNTech ngay hôm nay?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51660" y="22860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18516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57200" y="33375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sẵn sàng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modules đã triển khai thực tế, không phải demo. Đã kiểm chứng qua nhiều khách hàng.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70832" y="201168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5292" y="2286000"/>
            <a:ext cx="914400" cy="9144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5765292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370832" y="33375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biệt CRM/Marketing/BPM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45152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đối thủ nào ở VN kết hợp đủ 3 yếu tố này với giá SME.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84464" y="201168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F6B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78924" y="2286000"/>
            <a:ext cx="914400" cy="91440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2" name="Text 19"/>
          <p:cNvSpPr/>
          <p:nvPr/>
        </p:nvSpPr>
        <p:spPr>
          <a:xfrm>
            <a:off x="9678924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8284464" y="33375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 Việt, roadmap rõ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58784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đặc thù VN, commit roadmap 2026–2027 minh bạch.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5029200"/>
            <a:ext cx="11277295" cy="1188720"/>
          </a:xfrm>
          <a:prstGeom prst="roundRect">
            <a:avLst>
              <a:gd name="adj" fmla="val 6154"/>
            </a:avLst>
          </a:prstGeom>
          <a:solidFill>
            <a:srgbClr val="0A1F4D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LỢI ÍCH KHI LÀ KHÁCH HÀNG SỚM  (DESIGN PARTNER)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50% license năm đầu  ·  Miễn phí triển khai  ·  Miễn phí customization 6 tháng  ·  Co-marketing &amp; case study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BƯỚC TIẾP THEO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làm việc đề xuất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7295" cy="30175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2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thực hiện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giải pháp 60–90 phút (online/on-site)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TNTech + 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1–2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Khảo sát nhu cầu chi tiết (BA on-site)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giá chi tiết + SoW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Đàm phán &amp; ký hợp đồng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2 bên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 dự 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2 bên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53949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FF6B2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5394960"/>
            <a:ext cx="112772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Để bắt đầu, Quý khách chỉ cần liên hệ:  sales@tntech.vn   ·   Hotline: 098 3035 782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777240"/>
            <a:ext cx="348906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78408"/>
            <a:ext cx="2972696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khách!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Cloud ERP  ·  Chuyển đổi số — Làm chủ tương lai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029200" y="4114800"/>
            <a:ext cx="2133295" cy="0"/>
          </a:xfrm>
          <a:prstGeom prst="line">
            <a:avLst/>
          </a:prstGeom>
          <a:noFill/>
          <a:ln w="25400">
            <a:solidFill>
              <a:srgbClr val="00B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348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937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2578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sales@tntech.vn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70832" y="4937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70832" y="52578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https://tntech.vn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84464" y="4937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84464" y="52578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098 3035 782  |  097 168 1899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tôi mong được đồng hành cùng Quý doanh nghiệp trong hành trình chuyển đổi số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3702</Words>
  <Application>Microsoft Office PowerPoint</Application>
  <PresentationFormat>Widescreen</PresentationFormat>
  <Paragraphs>668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ceo@reborn.vn</cp:lastModifiedBy>
  <cp:revision>36</cp:revision>
  <dcterms:created xsi:type="dcterms:W3CDTF">2026-04-24T02:01:54Z</dcterms:created>
  <dcterms:modified xsi:type="dcterms:W3CDTF">2026-04-24T02:16:01Z</dcterms:modified>
</cp:coreProperties>
</file>