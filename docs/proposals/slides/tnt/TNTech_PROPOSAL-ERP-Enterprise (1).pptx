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10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80560" y="109728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98448"/>
            <a:ext cx="269748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Cloud ERP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chuyển đổi số toàn diện cho Doanh nghiệp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0" y="4617720"/>
            <a:ext cx="2133295" cy="0"/>
          </a:xfrm>
          <a:prstGeom prst="line">
            <a:avLst/>
          </a:prstGeom>
          <a:noFill/>
          <a:ln w="25400">
            <a:solidFill>
              <a:srgbClr val="00B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giải pháp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04/2026  ·  Phiên bản 1.0  ·  Bảo mật — Chỉ dùng nội bộ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57200" y="1417320"/>
            <a:ext cx="1371600" cy="0"/>
          </a:xfrm>
          <a:prstGeom prst="line">
            <a:avLst/>
          </a:prstGeom>
          <a:noFill/>
          <a:ln w="38100">
            <a:solidFill>
              <a:srgbClr val="00B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Pain Points doanh nghiệp VN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258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TNTech Cloud ERP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2588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thiết kế — Framework BAF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2588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6 lợi ích cốt lõi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2588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Khác biệt cạnh tranh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25880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17 phân hệ chuẩn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09360" y="18288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0" name="Text 27"/>
          <p:cNvSpPr/>
          <p:nvPr/>
        </p:nvSpPr>
        <p:spPr>
          <a:xfrm>
            <a:off x="63093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995160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Kiến trúc hiện đại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309360" y="242316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99516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&amp; Lộ trình triển khai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309360" y="301752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6" name="Text 33"/>
          <p:cNvSpPr/>
          <p:nvPr/>
        </p:nvSpPr>
        <p:spPr>
          <a:xfrm>
            <a:off x="630936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9516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– Nhược các phương pháp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309360" y="361188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9" name="Text 36"/>
          <p:cNvSpPr/>
          <p:nvPr/>
        </p:nvSpPr>
        <p:spPr>
          <a:xfrm>
            <a:off x="63093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99516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&amp; Bảo mật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2" name="Text 39"/>
          <p:cNvSpPr/>
          <p:nvPr/>
        </p:nvSpPr>
        <p:spPr>
          <a:xfrm>
            <a:off x="63093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99516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SLA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309360" y="4800600"/>
            <a:ext cx="502920" cy="50292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5" name="Text 42"/>
          <p:cNvSpPr/>
          <p:nvPr/>
        </p:nvSpPr>
        <p:spPr>
          <a:xfrm>
            <a:off x="630936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995160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4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3B5CD45-E8EB-09D2-3ABF-58EF225BE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BỐI CẢNH DOANH NGHIỆP VN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doanh nghiệp Việt Nam 2026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lực chuyển đổi số chưa từng có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40080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VN đã/đang chuyển đổi số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VCCI 2025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55848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55848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8" name="Text 15"/>
          <p:cNvSpPr/>
          <p:nvPr/>
        </p:nvSpPr>
        <p:spPr>
          <a:xfrm>
            <a:off x="3355848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3538728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phải dùng HĐĐT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38728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01/07/2022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54496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54496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3" name="Text 20"/>
          <p:cNvSpPr/>
          <p:nvPr/>
        </p:nvSpPr>
        <p:spPr>
          <a:xfrm>
            <a:off x="6254496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NĐ 13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6437376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Bảo vệ dữ liệu cá nhân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37376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lực 01/07/2023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53144" y="21945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53144" y="2194560"/>
            <a:ext cx="2697480" cy="914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9153144" y="24688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9336024" y="3291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chi phí nhân công/năm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336024" y="3931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 tự động hoá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502920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0A1F4D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không chuyển đổi số sẽ tụt lại phía sau trong 3–5 năm tới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6B7F2-EB72-C0CB-D0E0-813731F63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PAIN POINTS DOANH NGHIỆP VN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của doanh nghiệp Việt Nam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43891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0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Hậu quả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mềm rời rạc (KT, CRM, POS, kho riêng)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Nhập liệu trùng, sai lệch dữ liệu, thiếu single source of truth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hoá mọi thứ — báo cáo, công nợ, tồn kho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sót cao, không realtime, không traceable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biết khách hàng là ai — thiếu CRM 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phun súng, ROI thấp, khách rơi rụng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trình thủ công — ký giấy, email, chat Zalo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Chậm, không audit, sếp không kiểm soát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làm tay cuối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Sếp ra quyết định muộn 30–60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tích hợp đa kênh Shopee/Lazada/TikTok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lỡ doanh thu, bán đúp, quản trị tồn rối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ngoại đắt đỏ — ERP nội yếu CRM/Marketing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lựa chọn vừa sức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0C806B7-1616-4485-A72A-DFAE50800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TẠI SAO CẦN ERP TÍCH HỢP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ERP tích hợp?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ERP rời rạc vs ERP tích hợp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ERP RỜI RẠC  (tình trạng phổ biến)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27889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5–10 phần mềm riêng biệt + Excel
• Mỗi phần mềm 1 database riêng
• Nhân viên nhập liệu 3–5 lần cho 1 giao dịch
• Chi phí ẩn: 20–30% quỹ lương back-office
• Báo cáo cuối tháng làm tay → sếp quyết muộn
• Không có single source of truth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248095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ERP TÍCH HỢP  (định hướng TNTech)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22415" y="27889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nền tảng — 17 phân hệ tích hợp native
• 1 database, 1 login, 1 báo cáo
• Nhập 1 lần → dữ liệu chảy khắp hệ thống
• Tiết kiệm 30–50% chi phí back-office
• Dashboard realtime cho sếp quyết định nhanh
• CRM + Marketing + BPM trong 1 hệ thống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A823B-AAFB-4415-5FA4-D79DB1670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GIỚI THIỆU TNTECH CLOUD ERP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TNTech Cloud ERP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chuyển đổi số all-in-one cho doanh nghiệp Việt Nam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33070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module đã triển khai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modules  ·  240+ services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hệ chuẩn ERP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phân hệ theo chuẩn SAP / Oracle / Odoo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công nghệ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 + Vite + Microservices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Triển khai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Cloud  /  On-premise  /  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Ngôn ngữ giao diện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 có dấu đầy đủ  +  English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Đội ngũ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người Việt, support tiếng Việt 24×7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tượng phục vụ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 ·  SME  ·  Large  ·  Enterprise (&gt;1000 NV)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137160" marB="13716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937760"/>
            <a:ext cx="11277295" cy="1143000"/>
          </a:xfrm>
          <a:prstGeom prst="roundRect">
            <a:avLst>
              <a:gd name="adj" fmla="val 6400"/>
            </a:avLst>
          </a:prstGeom>
          <a:solidFill>
            <a:srgbClr val="0A1F4D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4937760"/>
            <a:ext cx="1072865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VỊ: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"ERP bán lẻ – dịch vụ tích hợp sâu CRM / Marketing / Social — thay vì cạnh tranh trực diện với SAP / Oracle"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33113-5059-8975-E589-DEF0A9E90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TRIẾT LÝ THIẾT KẾ — FRAMEWORK BAF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Triết lý thiết kế — Framework BAF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TNTech tổ chức tư duy giải pháp cho khách hàng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23060" y="2377440"/>
            <a:ext cx="1371600" cy="1371600"/>
          </a:xfrm>
          <a:prstGeom prst="ellipse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162306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" y="4297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đo lường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4709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bán tính năng. Bán kết quả kinh doanh đo lường được: doanh thu, chi phí, tốc độ, sự hài lòng khách hàng.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70832" y="210312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6692" y="2377440"/>
            <a:ext cx="1371600" cy="13716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9" name="Text 16"/>
          <p:cNvSpPr/>
          <p:nvPr/>
        </p:nvSpPr>
        <p:spPr>
          <a:xfrm>
            <a:off x="5536692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400" dirty="0"/>
          </a:p>
        </p:txBody>
      </p:sp>
      <p:sp>
        <p:nvSpPr>
          <p:cNvPr id="20" name="Text 17"/>
          <p:cNvSpPr/>
          <p:nvPr/>
        </p:nvSpPr>
        <p:spPr>
          <a:xfrm>
            <a:off x="4370832" y="3931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370832" y="4297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cạnh tranh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645152" y="4709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câu "Vì sao chọn TNTech chứ không phải MISA/SAP/Odoo?" — 5 khác biệt lớn không ai có.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84464" y="2103120"/>
            <a:ext cx="3703320" cy="402336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50324" y="2377440"/>
            <a:ext cx="1371600" cy="137160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5" name="Text 22"/>
          <p:cNvSpPr/>
          <p:nvPr/>
        </p:nvSpPr>
        <p:spPr>
          <a:xfrm>
            <a:off x="9450324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5400" dirty="0"/>
          </a:p>
        </p:txBody>
      </p:sp>
      <p:sp>
        <p:nvSpPr>
          <p:cNvPr id="26" name="Text 23"/>
          <p:cNvSpPr/>
          <p:nvPr/>
        </p:nvSpPr>
        <p:spPr>
          <a:xfrm>
            <a:off x="8284464" y="3931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8284464" y="42976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chi tiết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558784" y="470916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phân hệ chỉ ở cuối — sau khi đã xác định được Benefit khách hàng cần và Advantage TNTech cung cấp.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4ACC0-DD38-E3C3-A02A-327645838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BENEFITS — 6 LỢI ÍCH CỐT LÕI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— 6 lợi ích cốt lõi cho doanh nghiệp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1965960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chi phí CNTT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965960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25–40% so SAP/Oracle, 10–20% so MISA/Bravo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4645152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5879592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tốc vận hành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879592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+ Automation giảm 60–80% thao tác thủ công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84464" y="201168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58784" y="233172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2" name="Text 19"/>
          <p:cNvSpPr/>
          <p:nvPr/>
        </p:nvSpPr>
        <p:spPr>
          <a:xfrm>
            <a:off x="8558784" y="2331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793224" y="2240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doanh thu đa kênh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793224" y="278892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Shopee/Lazada/TikTok + Marketing +15–35%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1965960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thất thoát kho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965960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Lô/HSD/barcode giảm thất thoát từ 3–8% xuống &lt;0.5%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70832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45152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2" name="Text 29"/>
          <p:cNvSpPr/>
          <p:nvPr/>
        </p:nvSpPr>
        <p:spPr>
          <a:xfrm>
            <a:off x="4645152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5879592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nhanh hơn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879592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realtime + BI tự phục vụ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284464" y="4160520"/>
            <a:ext cx="3703320" cy="1965960"/>
          </a:xfrm>
          <a:prstGeom prst="roundRect">
            <a:avLst>
              <a:gd name="adj" fmla="val 3721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58784" y="4480560"/>
            <a:ext cx="1097280" cy="109728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7" name="Text 34"/>
          <p:cNvSpPr/>
          <p:nvPr/>
        </p:nvSpPr>
        <p:spPr>
          <a:xfrm>
            <a:off x="8558784" y="4480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400" dirty="0"/>
          </a:p>
        </p:txBody>
      </p:sp>
      <p:sp>
        <p:nvSpPr>
          <p:cNvPr id="38" name="Text 35"/>
          <p:cNvSpPr/>
          <p:nvPr/>
        </p:nvSpPr>
        <p:spPr>
          <a:xfrm>
            <a:off x="9793224" y="4389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VN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793224" y="493776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HĐĐT TCT, BHXH điện tử, VAS TT 200, VNeID sẵn sàng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2B5E76-226E-FD2A-2421-3723C3E6E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ROI ƯỚC TÍNH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ước tính cho doanh nghiệp SME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SME 100 nhân viên, 15 cửa hàng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2286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Trước TNTech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TNTech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Tiết kiệm/năm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phần mềm rời rạc (5–7 PM)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−154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Nhân sự back-office (nhập liệu)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FTE × 180tr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FTE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−270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Thất thoát kho (3% tồn 5 tỷ)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triệu/năm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−125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doanh thu thiếu 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−300 triệu (thu lại)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+300 triệu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480560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48056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TỔNG TÁC ĐỘNG TÀI CHÍNH / NĂM: 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+850 triệu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tháng cho hợp đồng SME 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3 năm: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500–800%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3BCBC-14C5-88DC-2AC4-CEDF4AAA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ADVANTAGES — SO SÁNH ĐỐI THỦ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Điểm khác biệt cạnh tranh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37490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Yếu tố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MISA AMIS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Bravo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360 + Loyalty + Call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 low-code (BPMN 2.0)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Social VN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công nghệ hiện đại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Triển khai nhanh (&lt;3 tháng)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 toán VAS TT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94360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= mức độ mạnh về tính năng  ·  TNTech dẫn đầu ở 5/7 tiêu chí quan trọng cho SME Việt Nam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D75E7-D3BC-B67E-E15F-C44C1B1B9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ADVANTAGES — 5 ĐIỀU CHỈ TNTECH CÓ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— 5 điều chỉ TNTech có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65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554480" y="196596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20208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360 + Loyalty + Marketing Automation native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83080" y="23500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3 phần mềm riêng (thường tốn 100–250 triệu/năm)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834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1554480" y="283464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1783080" y="28895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tích hợp (JsSIP / WebRTC)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783080" y="3218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mua phần mềm tổng đài riêng (tiết kiệm 50–150 triệu)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70332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3703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9"/>
          <p:cNvSpPr/>
          <p:nvPr/>
        </p:nvSpPr>
        <p:spPr>
          <a:xfrm>
            <a:off x="1554480" y="370332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3" name="Text 20"/>
          <p:cNvSpPr/>
          <p:nvPr/>
        </p:nvSpPr>
        <p:spPr>
          <a:xfrm>
            <a:off x="1783080" y="37581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low-code BPMN 2.0 + form-js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783080" y="40873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Sếp/BA tự vẽ quy trình, không cần lập trình viên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572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1554480" y="457200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8" name="Text 25"/>
          <p:cNvSpPr/>
          <p:nvPr/>
        </p:nvSpPr>
        <p:spPr>
          <a:xfrm>
            <a:off x="1783080" y="46268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Social bản địa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783080" y="49560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+ Zalo + TikTok Shop tích hợp sẵn — MISA, Bravo không có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440680"/>
            <a:ext cx="1097280" cy="7315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54406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1554480" y="5440680"/>
            <a:ext cx="10180015" cy="7315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3" name="Text 30"/>
          <p:cNvSpPr/>
          <p:nvPr/>
        </p:nvSpPr>
        <p:spPr>
          <a:xfrm>
            <a:off x="1783080" y="54955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công nghệ 2024+ (React 18, TS, microservices)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783080" y="58247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mở rộng 10 năm tới (đối thủ dùng PHP/jQuery 2015–2018)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80D592-B962-18EE-1588-14B44BD7A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FEATURES — 17 PHÂN HỆ CHUẨN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Tổng quan 17 phân hệ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chuẩn SAP / Oracle / Odoo  ·  161 modules  ·  240+ services backend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16712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1965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Tài chính – Kế toán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7680" y="196596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16712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965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Kho &amp; Logistics (WMS)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38160" y="196596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16712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9" name="Text 16"/>
          <p:cNvSpPr/>
          <p:nvPr/>
        </p:nvSpPr>
        <p:spPr>
          <a:xfrm>
            <a:off x="8641080" y="1965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Mua hàng (Procurement)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724912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926080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27249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Bán hàng &amp; Phân phối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97680" y="2724912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0" y="2926080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27249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Sản xuất (MRP) *Q4/2026*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38160" y="2724912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2926080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8641080" y="272491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CRM 360 + Loyalty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3483864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3685032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1" name="Text 28"/>
          <p:cNvSpPr/>
          <p:nvPr/>
        </p:nvSpPr>
        <p:spPr>
          <a:xfrm>
            <a:off x="96012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Nhân sự &amp; Lương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297680" y="3483864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80560" y="3685032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Quản lý dự án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138160" y="3483864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21040" y="3685032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37" name="Text 34"/>
          <p:cNvSpPr/>
          <p:nvPr/>
        </p:nvSpPr>
        <p:spPr>
          <a:xfrm>
            <a:off x="864108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Tài sản cố định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57200" y="4242816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0080" y="4443984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0" name="Text 37"/>
          <p:cNvSpPr/>
          <p:nvPr/>
        </p:nvSpPr>
        <p:spPr>
          <a:xfrm>
            <a:off x="960120" y="424281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Báo cáo &amp; BI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297680" y="4242816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480560" y="4443984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3" name="Text 40"/>
          <p:cNvSpPr/>
          <p:nvPr/>
        </p:nvSpPr>
        <p:spPr>
          <a:xfrm>
            <a:off x="4800600" y="424281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BPM / DMS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8138160" y="4242816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21040" y="4443984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6" name="Text 43"/>
          <p:cNvSpPr/>
          <p:nvPr/>
        </p:nvSpPr>
        <p:spPr>
          <a:xfrm>
            <a:off x="8641080" y="424281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HĐĐT &amp; E-Tax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457200" y="5001768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0080" y="5202936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49" name="Text 46"/>
          <p:cNvSpPr/>
          <p:nvPr/>
        </p:nvSpPr>
        <p:spPr>
          <a:xfrm>
            <a:off x="960120" y="500176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Tích hợp Ngân hàng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4297680" y="5001768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480560" y="5202936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52" name="Text 49"/>
          <p:cNvSpPr/>
          <p:nvPr/>
        </p:nvSpPr>
        <p:spPr>
          <a:xfrm>
            <a:off x="4800600" y="500176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Audit &amp; Kiểm soát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8138160" y="5001768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321040" y="5202936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55" name="Text 52"/>
          <p:cNvSpPr/>
          <p:nvPr/>
        </p:nvSpPr>
        <p:spPr>
          <a:xfrm>
            <a:off x="8641080" y="500176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Multi-company / currency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457200" y="576072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40080" y="596188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58" name="Text 55"/>
          <p:cNvSpPr/>
          <p:nvPr/>
        </p:nvSpPr>
        <p:spPr>
          <a:xfrm>
            <a:off x="960120" y="57607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E-commerce integration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4297680" y="5760720"/>
            <a:ext cx="3703320" cy="621792"/>
          </a:xfrm>
          <a:prstGeom prst="roundRect">
            <a:avLst>
              <a:gd name="adj" fmla="val 8824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80560" y="5961888"/>
            <a:ext cx="201168" cy="201168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61" name="Text 58"/>
          <p:cNvSpPr/>
          <p:nvPr/>
        </p:nvSpPr>
        <p:spPr>
          <a:xfrm>
            <a:off x="4800600" y="576072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POS – Bán lẻ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770C3-D7B4-B1CC-0343-A59E0948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FEATURES — BÁN HÀNG, POS &amp; ĐA KÊNH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hàng, POS &amp; Đa kênh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toàn bộ vòng đời đơn hàng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&amp; Checkout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 offline/online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Máy in bill, cash drawer, barcode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Counter Sales, Checkout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ShiftManagement — báo cáo cuối ca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99632" y="21031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10312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210312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hàng &amp; Giá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28232" y="269748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Order, ManagerOrder, OrderTracking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Báo giá, PromotionPage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PromoCode, SharePromoPage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Chính sách giá đa lớp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2519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25196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2519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kênh &amp; Social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484632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MultiChannelSales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Facebook / Zalo / TikTok Shop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Shopee / Lazada / Tiki tích hợp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Đồng bộ tồn realtime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99632" y="425196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9632" y="4251960"/>
            <a:ext cx="553212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5" name="Text 22"/>
          <p:cNvSpPr/>
          <p:nvPr/>
        </p:nvSpPr>
        <p:spPr>
          <a:xfrm>
            <a:off x="6382512" y="42519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Bảo hành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28232" y="4846320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GHN / GHTK / Viettel Post / J&amp;T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Ninja Van / BEST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Trả hàng, Warranty</a:t>
            </a:r>
            <a:endParaRPr lang="en-US" sz="12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SettingWarranty theo SKU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333FB-89A8-5045-82D7-35E8D4760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FEATURES — CRM 360 + LOYALTY + MARKETING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360 + Loyalty + Marketing Automation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mạnh nhất của TNTech — 19 modules CRM + 21 modules Marketing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 QUẢN LÝ KHÁCH HÀNG 360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CustomerPerson, Contact, CustomerCare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CustomerChurn — nhận diện KH rời bỏ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CustomerValue — phân tích RFM, LTV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CustomerSegment, LoyaltySegment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MembershipClass — hạng thẻ thành viên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CustomerReview, CustomerSurvey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LinkSurvey, FeedbackCustomer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360° view — tổng hợp dữ liệu omni-channel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 MARKETING AUTOMATION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Email &amp; SMS campaign automation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Zalo ZNS — tin nhắn có thương hiệu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Facebook Messenger marketing bot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Customer journey / funnel designer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A/B testing, dynamic segmentation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Loyalty point — tích điểm, đổi quà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Referral program — KH giới thiệu KH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MarketingReportPage — ROI dashboard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E6776E-2F9F-DC24-732B-1BD8D17FE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FEATURES — KHO &amp; TÀI CHÍNH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&amp; Logistics  +  Tài chính cơ bản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 KHO &amp; LOGISTICS  —  16 modules WMS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Nhập/Xuất/Tồn — ProductImport, InventoryList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ProductInventoryList, ProductSoldList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Đa kho, đa vị trí — WarehouseListPage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Điều chuyển — TransferOrderForm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Điều chỉnh — AdjustmentSlip, DestroySlip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Kiểm kê — InventoryManagement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kho — InventoryReportModern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NVL, biên lai — ManagementMaterial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Shipping — ShipingManagement, ShippingFeeConfig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8095" y="20116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8095" y="2011680"/>
            <a:ext cx="5486400" cy="5486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6430975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 TÀI CHÍNH  —  14 modules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22415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Sổ quỹ tiền mặt, tiền gửi NH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Công nợ phải thu, phải trả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Thu chi tiền mặt, uỷ nhiệm chi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Phiếu hạch toán tự động từ bán hàng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Bảng cân đối kế toán, KQHDKD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thuế — GTGT, TNDN, TNCN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HĐĐT tích hợp Viettel/VNPT/MISA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Tích hợp Banking (Open Banking/SFTP)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Multi-currency, tỷ giá tự động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2168F-35AB-64F4-9F57-F0119C4B9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FEATURES — HR &amp; CÔNG VIỆC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Chấm công &amp; Quản lý công việc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 HRM core — mở rộng Phase 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103120"/>
            <a:ext cx="54864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PHASE 1 — ĐÃ SẴN SÀNG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6974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Chấm công — Timekeeping, SettingTimekeeping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 làm việc, máy chấm công, GPS check-in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Quản lý công việc — ManagerWork, MiddleWork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HandleTask, UserTaskList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Báo cáo — JobReport, ResourceManagement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Dự án — ProjectList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Tổ chức — Organization, User, SettingOrg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Phân quyền — SettingAccount chi tiết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48095" y="21031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EF3C7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8095" y="2103120"/>
            <a:ext cx="5486400" cy="5029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4"/>
          <p:cNvSpPr/>
          <p:nvPr/>
        </p:nvSpPr>
        <p:spPr>
          <a:xfrm>
            <a:off x="6430975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 SẴN SÀNG MỞ RỘNG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22415" y="26974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Payroll engine — TT 59/2015, TT 111/2013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Tính lương, TNCN, BHXH tự động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BHXH điện tử — tích hợp iBHXH/TS24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Recruitment ATS (Phase 2)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LMS đào tạo (Phase 2)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KPI/OKR nâng cao (Phase 2)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360° review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Onboarding workflow tự động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24DF9-B742-5CB1-E8C2-9D29C5893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FEATURES — BPM LOW-CODE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Low-code  +  Workflow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 công nghệ — 11 modules BPM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57400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130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bpmn-js 17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404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BPMN 2.0 quốc tế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807208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807208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form-js 1.17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tạo biểu mẫu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557016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557016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Engine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" y="39044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BusinessRule, BusinessRuleConfig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306824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306824"/>
            <a:ext cx="109728" cy="658368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43799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Workflow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" y="46542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nhiều tầng, escalation, SLA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2057400"/>
            <a:ext cx="5699455" cy="4160520"/>
          </a:xfrm>
          <a:prstGeom prst="roundRect">
            <a:avLst>
              <a:gd name="adj" fmla="val 1758"/>
            </a:avLst>
          </a:prstGeom>
          <a:solidFill>
            <a:srgbClr val="0A1F4D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ỨNG DỤNG THỰC TẾ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55080" y="274320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đơn hàng đa cấp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Quy trình mua sắm, đấu thầu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Chuyển tiền ngân quỹ nội bộ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Quy trình nghỉ phép, công tác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Phê duyệt miễn giảm viện phí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Workflow ký số hợp đồng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Escalation khi quá SLA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Sếp/BA tự sửa workflow không cần dev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1521C-A39A-BAEF-AF7C-3D608803B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FEATURES — BI &amp;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Dashboard &amp; Báo cáo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 BI native — không cần mua Power BI/Tableau riêng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2377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DashboardRetail, DashboardLoyalty, IntegratedMonitoring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9632" y="201168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8232" y="20574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28232" y="23774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ReportCustomer, ReportCustomerModern, CustomerAnalysisPage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1089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34290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InventoryReportModern, WarehouseReport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99632" y="3063240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E8F1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310896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28232" y="34290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MarketingReportPage, LoyaltyReportPage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11277295" cy="1828800"/>
          </a:xfrm>
          <a:prstGeom prst="roundRect">
            <a:avLst>
              <a:gd name="adj" fmla="val 4000"/>
            </a:avLst>
          </a:prstGeom>
          <a:solidFill>
            <a:srgbClr val="0A1F4D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CÔNG NGHỆ BACKBONE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724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HighCharts 9.3
</a:t>
            </a:r>
            <a:r>
              <a:rPr lang="en-US" sz="11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chuyên nghiệp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43484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Ag-Grid 30.2
</a:t>
            </a:r>
            <a:r>
              <a:rPr lang="en-US" sz="11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 100K+ rows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92440" y="48920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+ xlsx
</a:t>
            </a:r>
            <a:r>
              <a:rPr lang="en-US" sz="11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Excel native</a:t>
            </a: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7344F-1863-621A-7C33-51057CF5B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CÔNG NGHỆ &amp; KIẾN TRÚC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&amp; Kiến trúc hiện đại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công nghệ 2024+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7772400" cy="4005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nghệ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bản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 + 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5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 (11 services)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+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+ JsSIP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bpmn-js + form-js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+ MSAL (Azure SSO)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HighCharts + Ag-Grid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(Progressive Web App)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Kubernetes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412480" y="1874520"/>
            <a:ext cx="3322015" cy="4297680"/>
          </a:xfrm>
          <a:prstGeom prst="roundRect">
            <a:avLst>
              <a:gd name="adj" fmla="val 2202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0" y="1874520"/>
            <a:ext cx="3322015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4" name="Text 10"/>
          <p:cNvSpPr/>
          <p:nvPr/>
        </p:nvSpPr>
        <p:spPr>
          <a:xfrm>
            <a:off x="8549640" y="1874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HẠ TẦNG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595360" y="251460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 Data Center tại VN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Hà Nội + TP.HCM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VNG / FPT / Viettel IDC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Backup hàng ngày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RTO 4h / RPO 1h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SSL, DDoS protection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Monitoring 24×7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Đang triển khai ISO 27001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FD22E3-DB71-3F9D-9176-BAC06408D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PHƯƠNG PHÁP TRIỂN KHAI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triển khai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Hybrid Methodology — kết hợp Agile + Waterfall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2194560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tuần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nhu cầu, AS-IS vs TO-BE, ký SoW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24912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24912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 rot="5400000">
            <a:off x="4096512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21" name="Text 18"/>
          <p:cNvSpPr/>
          <p:nvPr/>
        </p:nvSpPr>
        <p:spPr>
          <a:xfrm>
            <a:off x="2359152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359152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359152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50592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luồng, form, báo cáo, workflow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26864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Shape 24"/>
          <p:cNvSpPr/>
          <p:nvPr/>
        </p:nvSpPr>
        <p:spPr>
          <a:xfrm rot="5400000">
            <a:off x="5998464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28" name="Text 25"/>
          <p:cNvSpPr/>
          <p:nvPr/>
        </p:nvSpPr>
        <p:spPr>
          <a:xfrm>
            <a:off x="4261104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Configure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261104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tuần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61104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52544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hình, tuỳ chỉnh form/báo cáo, tích hợp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528816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28816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4" name="Shape 31"/>
          <p:cNvSpPr/>
          <p:nvPr/>
        </p:nvSpPr>
        <p:spPr>
          <a:xfrm rot="5400000">
            <a:off x="7900416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35" name="Text 32"/>
          <p:cNvSpPr/>
          <p:nvPr/>
        </p:nvSpPr>
        <p:spPr>
          <a:xfrm>
            <a:off x="6163056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163056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63056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54496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dữ liệu từ hệ thống cũ, cleansing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430768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30768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41" name="Shape 38"/>
          <p:cNvSpPr/>
          <p:nvPr/>
        </p:nvSpPr>
        <p:spPr>
          <a:xfrm rot="5400000">
            <a:off x="9802368" y="2560320"/>
            <a:ext cx="228600" cy="228600"/>
          </a:xfrm>
          <a:prstGeom prst="line">
            <a:avLst/>
          </a:prstGeom>
          <a:solidFill>
            <a:srgbClr val="00B6F0"/>
          </a:solidFill>
          <a:ln/>
        </p:spPr>
      </p:sp>
      <p:sp>
        <p:nvSpPr>
          <p:cNvPr id="42" name="Text 39"/>
          <p:cNvSpPr/>
          <p:nvPr/>
        </p:nvSpPr>
        <p:spPr>
          <a:xfrm>
            <a:off x="8065008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+ Training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065008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065008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56448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 + User Acceptance Test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332720" y="2103120"/>
            <a:ext cx="1097280" cy="1097280"/>
          </a:xfrm>
          <a:prstGeom prst="ellipse">
            <a:avLst/>
          </a:prstGeom>
          <a:solidFill>
            <a:srgbClr val="0A1F4D"/>
          </a:solidFill>
          <a:ln w="38100">
            <a:solidFill>
              <a:srgbClr val="00B6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33272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48" name="Text 45"/>
          <p:cNvSpPr/>
          <p:nvPr/>
        </p:nvSpPr>
        <p:spPr>
          <a:xfrm>
            <a:off x="99669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+ Hypercare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96696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tuần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966960" y="393192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058400" y="4023360"/>
            <a:ext cx="1645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support 24×7 trong hypercare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E718CB-570F-457A-6375-BC63AC27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LỘ TRÌNH TRIỂN KHAI THEO QUY MÔ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 theo quy mô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77295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mô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hệ triển khai Phase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mở rộng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 &lt; 20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tuần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Bán hàng, POS, CRM, Kho cơ bản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Marketing, Loyalty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  50–200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tuần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Kế toán, HR chấm công, HĐĐT, BPM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Payroll, BI nâng 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 200–1000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Multi-branch, Dự án, FA, Multi-currency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Manufacturing MRP (Q4/2026)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 &gt; 1000 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tháng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scope tuỳ chỉnh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Consolidation, IFRS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029200"/>
            <a:ext cx="11277295" cy="1188720"/>
          </a:xfrm>
          <a:prstGeom prst="roundRect">
            <a:avLst>
              <a:gd name="adj" fmla="val 6154"/>
            </a:avLst>
          </a:prstGeom>
          <a:solidFill>
            <a:srgbClr val="E6F7FD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PRODUCT ROADMAP 2026–2027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Q3/2026: Manufacturing MRP  ▸ Q4/2026: LIS/RIS/PACS + Device integration  ▸ Q1/2027: BHYT XML 4210  ▸ Q2/2027: AI Assistant + CDSS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F4423-08C7-7BD2-51C2-4CA862F6A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ƯU – NHƯỢC CÁC PHƯƠNG PHÁP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– Nhược các phương pháp triển khai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FF6B2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(triển khai 1 lần toàn bộ)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Nhanh đạt trạng thái cuối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Giảm chi phí song hành 2 hệ thống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Rủi ro cao, khó rollback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 shock lớn, đào tạo gấp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&lt;30 NV, SME có kế hoạch rõ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70832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4370832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370832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(triển khai theo phân hệ) — khuyến nghị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70832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53712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99432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Rủi ro thấp, dễ học hỏi sau mỗi phase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Đo ROI từng phase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53712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99432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Tổng thời gian dài hơn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 phí hơi cao hơn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53712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99432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50–500 NV, đa ngành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84464" y="1965960"/>
            <a:ext cx="3703320" cy="685800"/>
          </a:xfrm>
          <a:prstGeom prst="roundRect">
            <a:avLst>
              <a:gd name="adj" fmla="val 10667"/>
            </a:avLst>
          </a:prstGeom>
          <a:solidFill>
            <a:srgbClr val="1D4EBE"/>
          </a:solidFill>
          <a:ln/>
        </p:spPr>
      </p:sp>
      <p:sp>
        <p:nvSpPr>
          <p:cNvPr id="31" name="Text 28"/>
          <p:cNvSpPr/>
          <p:nvPr/>
        </p:nvSpPr>
        <p:spPr>
          <a:xfrm>
            <a:off x="8284464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284464" y="230428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(chạy song song hệ cũ + mới)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84464" y="2651760"/>
            <a:ext cx="3703320" cy="3383280"/>
          </a:xfrm>
          <a:prstGeom prst="roundRect">
            <a:avLst>
              <a:gd name="adj" fmla="val 216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67344" y="2788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Ưu điểm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13064" y="30632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 toàn tuyệt đối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Đối chiếu dữ liệu realtime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467344" y="3977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Nhược điểm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513064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Chi phí gấp 2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Nhân viên áp lực nhập đôi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467344" y="5166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Phù hợp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513064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ngành có rủi ro pháp lý cao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BD005-C505-6F57-2529-81119EF04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TUÂN THỦ &amp; BẢO MẬT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Việt Nam  &amp;  Bảo mật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7F9FC"/>
          </a:solidFill>
          <a:ln w="12700">
            <a:solidFill>
              <a:srgbClr val="1D4E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965960"/>
            <a:ext cx="5486400" cy="548640"/>
          </a:xfrm>
          <a:prstGeom prst="rect">
            <a:avLst/>
          </a:prstGeom>
          <a:solidFill>
            <a:srgbClr val="1D4E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 TUÂN THỦ PHÁP LÝ VIỆT NAM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60604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HĐĐT — TT 78/2021, NĐ 123/2020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Thuế điện tử — HTKK, eTax, TT 105/2020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BHXH điện tử — TT 59/2015 (iBHXH/TS24)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Kế toán VAS — TT 200/2014, TT 133/2016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Đề án 06 — VNeID, CCCD chip, Sổ SKĐT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Luật An ninh mạng 2018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Luật Bảo vệ DLCN 2023 (NĐ 13/2023)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HL7 FHIR R4 + DICOM 3.0 (y tế)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8095" y="19659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0A1F4D"/>
          </a:solidFill>
          <a:ln/>
        </p:spPr>
      </p:sp>
      <p:sp>
        <p:nvSpPr>
          <p:cNvPr id="15" name="Shape 12"/>
          <p:cNvSpPr/>
          <p:nvPr/>
        </p:nvSpPr>
        <p:spPr>
          <a:xfrm>
            <a:off x="6248095" y="1965960"/>
            <a:ext cx="5486400" cy="54864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6" name="Text 13"/>
          <p:cNvSpPr/>
          <p:nvPr/>
        </p:nvSpPr>
        <p:spPr>
          <a:xfrm>
            <a:off x="6430975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 BẢO MẬT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22415" y="2606040"/>
            <a:ext cx="4937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Hosting tại VN — 2 DC Hà Nội + TP.HCM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SSL/TLS 1.3, HTTPS only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OAuth 2.0 + SSO (Azure AD, Google)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RBAC phân quyền chi tiết theo role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Audit log toàn bộ thao tác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Backup hàng ngày, RTO 4h, RPO 1h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Monitoring 24×7 với alerting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Đang triển khai ISO 27001 &amp; ISO 9001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1798F-533E-252C-B5FD-4D64EE4F1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CAM KẾT SUPPORT &amp; SLA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 Support  &amp;  SLA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7772400" cy="2880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Gói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sự cố P1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Kênh hỗ trợ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/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giờ 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giờ 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+ Email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giờ LV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Hotline 8×5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giờ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24×5 + CSM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24×7 + CSM + KAM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24×7 + Dedicated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412480" y="1920240"/>
            <a:ext cx="3322015" cy="4206240"/>
          </a:xfrm>
          <a:prstGeom prst="roundRect">
            <a:avLst>
              <a:gd name="adj" fmla="val 2202"/>
            </a:avLst>
          </a:prstGeom>
          <a:solidFill>
            <a:srgbClr val="F7F9FC"/>
          </a:solidFill>
          <a:ln w="12700">
            <a:solidFill>
              <a:srgbClr val="00B6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1920240"/>
            <a:ext cx="3322015" cy="5029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KNOWLEDGE BASE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595360" y="2514600"/>
            <a:ext cx="3063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Tiếng Việt có dấu đầy đủ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14 parts HDSG chi tiết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Video hướng dẫn từng phân hệ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Chat in-app tất cả các gói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On-site training tuỳ gói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CSM từ Pro+ trở lên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KAM dedicated cho Enterprise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C9AC90-9B1C-5E21-1F4C-24C20DBE8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 TẠI SAO CHỌN TNTECH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chọn TNTech ngay hôm nay?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51660" y="22860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18516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sẵn sàng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modules đã triển khai thực tế, không phải demo. Đã kiểm chứng qua nhiều khách hàng.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70832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0B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5292" y="2286000"/>
            <a:ext cx="914400" cy="914400"/>
          </a:xfrm>
          <a:prstGeom prst="ellipse">
            <a:avLst/>
          </a:prstGeom>
          <a:solidFill>
            <a:srgbClr val="00B6F0"/>
          </a:solidFill>
          <a:ln/>
        </p:spPr>
      </p:sp>
      <p:sp>
        <p:nvSpPr>
          <p:cNvPr id="17" name="Text 14"/>
          <p:cNvSpPr/>
          <p:nvPr/>
        </p:nvSpPr>
        <p:spPr>
          <a:xfrm>
            <a:off x="5765292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370832" y="3337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biệt CRM/Marketing/BPM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45152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đối thủ nào ở VN kết hợp đủ 3 yếu tố này với giá SME.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84464" y="201168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F6B2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78924" y="2286000"/>
            <a:ext cx="914400" cy="91440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2" name="Text 19"/>
          <p:cNvSpPr/>
          <p:nvPr/>
        </p:nvSpPr>
        <p:spPr>
          <a:xfrm>
            <a:off x="9678924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8284464" y="33375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Việt, roadmap rõ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58784" y="37947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đặc thù VN, commit roadmap 2026–2027 minh bạch.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5029200"/>
            <a:ext cx="11277295" cy="1188720"/>
          </a:xfrm>
          <a:prstGeom prst="roundRect">
            <a:avLst>
              <a:gd name="adj" fmla="val 6154"/>
            </a:avLst>
          </a:prstGeom>
          <a:solidFill>
            <a:srgbClr val="0A1F4D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LỢI ÍCH KHI LÀ KHÁCH HÀNG SỚM  (DESIGN PARTNER)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50% license năm đầu  ·  Miễn phí triển khai  ·  Miễn phí customization 6 tháng  ·  Co-marketing &amp; case study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48F3A-BE92-2B2E-7ADB-D68714886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1F4D"/>
          </a:solidFill>
          <a:ln/>
        </p:spPr>
      </p:sp>
      <p:sp>
        <p:nvSpPr>
          <p:cNvPr id="5" name="Text 2"/>
          <p:cNvSpPr/>
          <p:nvPr/>
        </p:nvSpPr>
        <p:spPr>
          <a:xfrm>
            <a:off x="16459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BƯỚC TIẾP THEO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0" y="731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— Chuyển đổi số, làm chủ tương lai  ·  tntech.vn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D4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làm việc đề xuất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30175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Bên thực hiện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giải pháp 60–90 phút (online/on-site)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 + KH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Khảo sát nhu cầu chi tiết (BA on-site)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giá chi tiết + SoW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TNTech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Đàm phán &amp; ký hợp đồng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2 bên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4E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 dự 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2 bên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53949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F6B2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5394960"/>
            <a:ext cx="112772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Để bắt đầu, Quý khách chỉ cần liên hệ:  sales@tntech.vn   ·   Hotline: 098 3035 782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1BD74A-802F-49C4-0C0E-BECC2D8A8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16" y="132585"/>
            <a:ext cx="791384" cy="2331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B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4" name="Shape 2"/>
          <p:cNvSpPr/>
          <p:nvPr/>
        </p:nvSpPr>
        <p:spPr>
          <a:xfrm>
            <a:off x="4480560" y="7772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78408"/>
            <a:ext cx="269748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khách!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TNTech Cloud ERP  ·  Chuyển đổi số — Làm chủ tương lai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29200" y="4114800"/>
            <a:ext cx="2133295" cy="0"/>
          </a:xfrm>
          <a:prstGeom prst="line">
            <a:avLst/>
          </a:prstGeom>
          <a:noFill/>
          <a:ln w="25400">
            <a:solidFill>
              <a:srgbClr val="00B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LIÊN HỆ 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sales@tntech.vn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70832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70832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https://tntech.vn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84464" y="49377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84464" y="52578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098 3035 782  |  097 168 1899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mong được đồng hành cùng Quý doanh nghiệp trong hành trình chuyển đổi số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3846</Words>
  <Application>Microsoft Office PowerPoint</Application>
  <PresentationFormat>Widescreen</PresentationFormat>
  <Paragraphs>686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ceo@reborn.vn</cp:lastModifiedBy>
  <cp:revision>8</cp:revision>
  <dcterms:created xsi:type="dcterms:W3CDTF">2026-04-24T02:24:59Z</dcterms:created>
  <dcterms:modified xsi:type="dcterms:W3CDTF">2026-04-24T02:41:38Z</dcterms:modified>
</cp:coreProperties>
</file>