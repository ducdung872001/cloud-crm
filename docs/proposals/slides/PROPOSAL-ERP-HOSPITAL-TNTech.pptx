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D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0E4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596128"/>
            <a:ext cx="12191695" cy="73152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559552"/>
            <a:ext cx="12191695" cy="36576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0" y="0"/>
            <a:ext cx="2286000" cy="2286000"/>
          </a:xfrm>
          <a:prstGeom prst="rtTriangle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914400"/>
            <a:ext cx="2743200" cy="7557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2743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TNTech Healthcare Cloud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1EC1F5"/>
                </a:solidFill>
                <a:latin typeface="Calibri Light"/>
              </a:rPr>
              <a:t>Giải pháp HIS cho Bệnh viện &amp; Phòng khám — Đề xuất giải pháp</a:t>
            </a:r>
          </a:p>
        </p:txBody>
      </p:sp>
      <p:sp>
        <p:nvSpPr>
          <p:cNvPr id="9" name="Rectangle 8"/>
          <p:cNvSpPr/>
          <p:nvPr/>
        </p:nvSpPr>
        <p:spPr>
          <a:xfrm>
            <a:off x="5184648" y="4846320"/>
            <a:ext cx="1828800" cy="36576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FFFFFF"/>
                </a:solidFill>
              </a:rPr>
              <a:t>Tháng 04/2026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NỘI DUNG TRÌNH BÀY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2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Nội dung trình bày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274320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sz="1600">
                <a:solidFill>
                  <a:srgbClr val="072D56"/>
                </a:solidFill>
                <a:latin typeface="Calibri"/>
              </a:rPr>
              <a:t>1. </a:t>
            </a:r>
            <a:r>
              <a:rPr b="1" sz="1600">
                <a:solidFill>
                  <a:srgbClr val="072D56"/>
                </a:solidFill>
                <a:latin typeface="Calibri"/>
              </a:rPr>
              <a:t>Bối cảnh ngành y tế</a:t>
            </a:r>
            <a:r>
              <a:rPr sz="1600">
                <a:solidFill>
                  <a:srgbClr val="072D56"/>
                </a:solidFill>
                <a:latin typeface="Calibri"/>
              </a:rPr>
              <a:t> Việt Nam 2026
2. </a:t>
            </a:r>
            <a:r>
              <a:rPr b="1" sz="1600">
                <a:solidFill>
                  <a:srgbClr val="072D56"/>
                </a:solidFill>
                <a:latin typeface="Calibri"/>
              </a:rPr>
              <a:t>Pain Points</a:t>
            </a:r>
            <a:r>
              <a:rPr sz="1600">
                <a:solidFill>
                  <a:srgbClr val="072D56"/>
                </a:solidFill>
                <a:latin typeface="Calibri"/>
              </a:rPr>
              <a:t> của bệnh viện &amp; phòng khám
3. </a:t>
            </a:r>
            <a:r>
              <a:rPr b="1" sz="1600">
                <a:solidFill>
                  <a:srgbClr val="072D56"/>
                </a:solidFill>
                <a:latin typeface="Calibri"/>
              </a:rPr>
              <a:t>Xu hướng chuyển đổi số y tế</a:t>
            </a:r>
            <a:r>
              <a:rPr sz="1600">
                <a:solidFill>
                  <a:srgbClr val="072D56"/>
                </a:solidFill>
                <a:latin typeface="Calibri"/>
              </a:rPr>
              <a:t> — EMR, TT 46, QĐ 130
4. </a:t>
            </a:r>
            <a:r>
              <a:rPr b="1" sz="1600">
                <a:solidFill>
                  <a:srgbClr val="072D56"/>
                </a:solidFill>
                <a:latin typeface="Calibri"/>
              </a:rPr>
              <a:t>Giới thiệu</a:t>
            </a:r>
            <a:r>
              <a:rPr sz="1600">
                <a:solidFill>
                  <a:srgbClr val="072D56"/>
                </a:solidFill>
                <a:latin typeface="Calibri"/>
              </a:rPr>
              <a:t> TNTech Healthcare Cloud
5. </a:t>
            </a:r>
            <a:r>
              <a:rPr b="1" sz="1600">
                <a:solidFill>
                  <a:srgbClr val="072D56"/>
                </a:solidFill>
                <a:latin typeface="Calibri"/>
              </a:rPr>
              <a:t>Triết lý thiết kế</a:t>
            </a:r>
            <a:r>
              <a:rPr sz="1600">
                <a:solidFill>
                  <a:srgbClr val="072D56"/>
                </a:solidFill>
                <a:latin typeface="Calibri"/>
              </a:rPr>
              <a:t> — Framework BAF
6. </a:t>
            </a:r>
            <a:r>
              <a:rPr b="1" sz="1600">
                <a:solidFill>
                  <a:srgbClr val="072D56"/>
                </a:solidFill>
                <a:latin typeface="Calibri"/>
              </a:rPr>
              <a:t>BENEFITS</a:t>
            </a:r>
            <a:r>
              <a:rPr sz="1600">
                <a:solidFill>
                  <a:srgbClr val="072D56"/>
                </a:solidFill>
                <a:latin typeface="Calibri"/>
              </a:rPr>
              <a:t> — Lợi ích cho BV/PK &amp; Bệnh nhân
7. </a:t>
            </a:r>
            <a:r>
              <a:rPr b="1" sz="1600">
                <a:solidFill>
                  <a:srgbClr val="072D56"/>
                </a:solidFill>
                <a:latin typeface="Calibri"/>
              </a:rPr>
              <a:t>ADVANTAGES</a:t>
            </a:r>
            <a:r>
              <a:rPr sz="1600">
                <a:solidFill>
                  <a:srgbClr val="072D56"/>
                </a:solidFill>
                <a:latin typeface="Calibri"/>
              </a:rPr>
              <a:t> — Khác biệt vs FPT/Viettel/Medisoft
8. </a:t>
            </a:r>
            <a:r>
              <a:rPr b="1" sz="1600">
                <a:solidFill>
                  <a:srgbClr val="072D56"/>
                </a:solidFill>
                <a:latin typeface="Calibri"/>
              </a:rPr>
              <a:t>FEATURES</a:t>
            </a:r>
            <a:r>
              <a:rPr sz="1600">
                <a:solidFill>
                  <a:srgbClr val="072D56"/>
                </a:solidFill>
                <a:latin typeface="Calibri"/>
              </a:rPr>
              <a:t> — 25 phân hệ HIS chuẩn
9. </a:t>
            </a:r>
            <a:r>
              <a:rPr b="1" sz="1600">
                <a:solidFill>
                  <a:srgbClr val="072D56"/>
                </a:solidFill>
                <a:latin typeface="Calibri"/>
              </a:rPr>
              <a:t>Tuân thủ pháp lý y tế VN</a:t>
            </a:r>
            <a:r>
              <a:rPr sz="1600">
                <a:solidFill>
                  <a:srgbClr val="072D56"/>
                </a:solidFill>
                <a:latin typeface="Calibri"/>
              </a:rPr>
              <a:t>
10. </a:t>
            </a:r>
            <a:r>
              <a:rPr b="1" sz="1600">
                <a:solidFill>
                  <a:srgbClr val="072D56"/>
                </a:solidFill>
                <a:latin typeface="Calibri"/>
              </a:rPr>
              <a:t>Phương pháp &amp; Lộ trình</a:t>
            </a:r>
            <a:r>
              <a:rPr sz="1600">
                <a:solidFill>
                  <a:srgbClr val="072D56"/>
                </a:solidFill>
                <a:latin typeface="Calibri"/>
              </a:rPr>
              <a:t> triển khai
11. </a:t>
            </a:r>
            <a:r>
              <a:rPr b="1" sz="1600">
                <a:solidFill>
                  <a:srgbClr val="072D56"/>
                </a:solidFill>
                <a:latin typeface="Calibri"/>
              </a:rPr>
              <a:t>Ưu – Nhược</a:t>
            </a:r>
            <a:r>
              <a:rPr sz="1600">
                <a:solidFill>
                  <a:srgbClr val="072D56"/>
                </a:solidFill>
                <a:latin typeface="Calibri"/>
              </a:rPr>
              <a:t> các phương pháp
12. </a:t>
            </a:r>
            <a:r>
              <a:rPr b="1" sz="1600">
                <a:solidFill>
                  <a:srgbClr val="072D56"/>
                </a:solidFill>
                <a:latin typeface="Calibri"/>
              </a:rPr>
              <a:t>Bảo mật y tế</a:t>
            </a:r>
            <a:r>
              <a:rPr sz="1600">
                <a:solidFill>
                  <a:srgbClr val="072D56"/>
                </a:solidFill>
                <a:latin typeface="Calibri"/>
              </a:rPr>
              <a:t> &amp; Support 24x7
13. </a:t>
            </a:r>
            <a:r>
              <a:rPr b="1" sz="1600">
                <a:solidFill>
                  <a:srgbClr val="072D56"/>
                </a:solidFill>
                <a:latin typeface="Calibri"/>
              </a:rPr>
              <a:t>Bước tiếp theo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BỐI CẢNH NGÀNH Y TẾ VIỆT NAM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3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1. Bối cảnh ngành y tế Việt Nam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179576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Bức tranh thị trường: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71216"/>
            <a:ext cx="112772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1.500+ bệnh viện</a:t>
            </a:r>
            <a:r>
              <a:rPr sz="1500">
                <a:solidFill>
                  <a:srgbClr val="072D56"/>
                </a:solidFill>
                <a:latin typeface="Calibri"/>
              </a:rPr>
              <a:t> (công + tư) trên toàn quốc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30.000+ phòng khám tư nhân</a:t>
            </a:r>
            <a:r>
              <a:rPr sz="1500">
                <a:solidFill>
                  <a:srgbClr val="072D56"/>
                </a:solidFill>
                <a:latin typeface="Calibri"/>
              </a:rPr>
              <a:t>, chỉ </a:t>
            </a:r>
            <a:r>
              <a:rPr b="1" sz="1500">
                <a:solidFill>
                  <a:srgbClr val="0E4F8C"/>
                </a:solidFill>
                <a:latin typeface="Calibri"/>
              </a:rPr>
              <a:t>~20% có HIS</a:t>
            </a:r>
            <a:r>
              <a:rPr sz="1500">
                <a:solidFill>
                  <a:srgbClr val="072D56"/>
                </a:solidFill>
                <a:latin typeface="Calibri"/>
              </a:rPr>
              <a:t> — thị trường trống lớn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Đề án 06</a:t>
            </a:r>
            <a:r>
              <a:rPr sz="1500">
                <a:solidFill>
                  <a:srgbClr val="072D56"/>
                </a:solidFill>
                <a:latin typeface="Calibri"/>
              </a:rPr>
              <a:t> — yêu cầu 100% cơ sở y tế liên thông VNeID, Sổ SKĐT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QĐ 130/QĐ-BYT</a:t>
            </a:r>
            <a:r>
              <a:rPr sz="1500">
                <a:solidFill>
                  <a:srgbClr val="072D56"/>
                </a:solidFill>
                <a:latin typeface="Calibri"/>
              </a:rPr>
              <a:t> — 7 mức trưởng thành EMR, BV hạng I phải đạt Mức 4+ vào 2025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TT 46/2018/TT-BYT</a:t>
            </a:r>
            <a:r>
              <a:rPr sz="1500">
                <a:solidFill>
                  <a:srgbClr val="072D56"/>
                </a:solidFill>
                <a:latin typeface="Calibri"/>
              </a:rPr>
              <a:t> — HSBA điện tử thay thế HSBA giấy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Chi phí y tế tăng 8-10%/năm</a:t>
            </a:r>
            <a:r>
              <a:rPr sz="1500">
                <a:solidFill>
                  <a:srgbClr val="072D56"/>
                </a:solidFill>
                <a:latin typeface="Calibri"/>
              </a:rPr>
              <a:t> — áp lực hiệu quả vận hành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14416"/>
            <a:ext cx="11277295" cy="274320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Thách thức:</a:t>
            </a:r>
            <a:r>
              <a:rPr sz="1600">
                <a:solidFill>
                  <a:srgbClr val="072D56"/>
                </a:solidFill>
                <a:latin typeface="Calibri"/>
              </a:rPr>
              <a:t> Chỉ FPT/Viettel/VNPT/Medisoft phục vụ BV lớn — phòng khám tư nhân "bị bỏ rơi"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PAIN POINTS CỦA BỆNH VIỆN &amp; PHÒNG KHÁM VN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4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2. Pain Points của bệnh viện &amp; phòng khám VN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60020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Vấn đề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Hậu quả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Bệnh án giấy hoặc số hoá dở dang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Khó tra cứu, mất hồ sơ, không chia sẻ được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Quy trình tiếp nhận thủ công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— đứng xếp hàng 2-4h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Bệnh nhân bỏ đi, đánh giá thấp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Không có CRM cho bệnh nhân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— không nhớ tái khám, không chăm sóc hậu khám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Khách 1 lần không quay lại; LTV thấp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Marketing bệnh viện thiếu chuyên nghiệp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— đăng Facebook thủ công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ROI kém, không đo lường được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Không tích hợp máy XN/CĐHA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— kỹ thuật viên gõ tay kết quả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Sai sót y khoa, chậm trễ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Kê đơn tay / nhớ bằng kinh nghiệm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— tương tác thuốc, dị ứng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Rủi ro pháp lý, sai thuốc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Thanh toán BHYT thủ công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(với BV công)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Xuất XML 4210 sai, bị từ chối giám định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Quản trị chuỗi phòng khám Excel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Không scale được khi mở thêm cơ sở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XU HƯỚNG CHUYỂN ĐỔI SỐ Y TẾ — EMR 7 MỨC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5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3. Xu hướng chuyển đổi số y tế — EMR 7 mức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837944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7 Mức trưởng thành EMR (QĐ 130/QĐ-BYT):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529584"/>
          <a:ext cx="11277295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301752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Mức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Mô tả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Hiện trạng VN 2026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</a:tr>
              <a:tr h="301752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Số hoá hành chính + viện phí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~40% BV đạt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Quản lý khoa CLS (LIS/RIS)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~25% BV đạt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301752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CPOE, y lệnh điện tử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~15% BV đạt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PACS, kết quả CLS số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~8% BV đạt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301752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CDSS — hỗ trợ quyết định lâm sàng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~3% BV đạt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Ký số bệnh án, paperless một phần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~1% BV đạt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301752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Paperless hoàn toàn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Chưa BV nào đạt chuẩn quốc tế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080760"/>
            <a:ext cx="11277295" cy="274320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=&gt; Cơ hội lớn:</a:t>
            </a:r>
            <a:r>
              <a:rPr sz="1600">
                <a:solidFill>
                  <a:srgbClr val="072D56"/>
                </a:solidFill>
                <a:latin typeface="Calibri"/>
              </a:rPr>
              <a:t> 95%+ BV còn cần nâng cấp. Phòng khám tư nhân là thị trường xanh.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GIỚI THIỆU TNTECH HEALTHCARE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6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4. Giới thiệu TNTech Healthcare Cloud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260604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Nền tảng HIS tích hợp CRM/Loyalty/Marketing đầu tiên tại VN: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297680"/>
          <a:ext cx="1127729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0574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Chỉ số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Giá trị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</a:tr>
              <a:tr h="20574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Phân hệ HIS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25 phân hệ chuẩn Bộ Y tế &amp; HL7 FHIR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Đối tượng phục vụ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Phase 1: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Phòng khám tư (đã sẵn sàng)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20574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Phase 2: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BV hạng III (Q4/2026)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Phase 3: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BV hạng II với BHYT (2027)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20574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Kiến trúc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Cloud-native SaaS + On-premise (hybrid)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Chuẩn tuân thủ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TT 46/2018, TT 54/2017, QĐ 130, HL7 FHIR R4, DICOM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20574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Tích hợp đặc thù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VNeID, Sổ SKĐT, Đơn thuốc QG, Mirth Connect cho máy y tế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080760"/>
            <a:ext cx="11277295" cy="274320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Định vị:</a:t>
            </a:r>
            <a:r>
              <a:rPr sz="1600">
                <a:solidFill>
                  <a:srgbClr val="072D56"/>
                </a:solidFill>
                <a:latin typeface="Calibri"/>
              </a:rPr>
              <a:t> </a:t>
            </a:r>
            <a:r>
              <a:rPr i="1" sz="1600">
                <a:solidFill>
                  <a:srgbClr val="072D56"/>
                </a:solidFill>
                <a:latin typeface="Calibri"/>
              </a:rPr>
              <a:t>"Clinic CRM-HIS tích hợp Marketing &amp; Loyalty — dành riêng cho phòng khám tư nhân hạng sang: thẩm mỹ, nha khoa, sản phụ khoa, da liễu, IVF, thể thao"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TRIẾT LÝ THIẾT KẾ — FRAMEWORK BAF CHO NGÀNH Y TẾ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7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5. Triết lý thiết kế — Framework BAF cho ngành y tế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2642616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B – Benefit</a:t>
            </a:r>
            <a:r>
              <a:rPr sz="1600">
                <a:solidFill>
                  <a:srgbClr val="072D56"/>
                </a:solidFill>
                <a:latin typeface="Calibri"/>
              </a:rPr>
              <a:t> — </a:t>
            </a:r>
            <a:r>
              <a:rPr i="1" sz="1600">
                <a:solidFill>
                  <a:srgbClr val="072D56"/>
                </a:solidFill>
                <a:latin typeface="Calibri"/>
              </a:rPr>
              <a:t>Lợi ích đo lường được cho BV, Bác sĩ, Bệnh nhân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34256"/>
            <a:ext cx="11277295" cy="2944368"/>
          </a:xfrm>
          <a:prstGeom prst="roundRect">
            <a:avLst/>
          </a:prstGeom>
          <a:solidFill>
            <a:srgbClr val="E5F2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 tIns="91440" bIns="91440"/>
          <a:lstStyle/>
          <a:p>
            <a:pPr algn="ctr"/>
            <a:r>
              <a:rPr sz="1500" i="1">
                <a:solidFill>
                  <a:srgbClr val="0E4F8C"/>
                </a:solidFill>
                <a:latin typeface="Calibri"/>
              </a:rPr>
              <a:t>Tăng số ca khám; giảm thời gian chờ; tăng CSAT bệnh nhân; giảm sai sót y khoa; tăng doanh thu.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425696"/>
            <a:ext cx="91440" cy="2761488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BENEFITS — LỢI ÍCH CHO BỆNH VIỆN / PHÒNG KHÁM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8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6. BENEFITS — Lợi ích cho Bệnh viện / Phòng khám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60020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Lợi ích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Tác động định lượng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Tăng số ca khám/ngày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Giảm thời gian đăng ký từ 30' → 5'; bác sĩ có thêm </a:t>
                      </a:r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20-30% thời gian khám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Giảm sai sót y khoa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Kê đơn điện tử + cảnh báo tương tác thuốc giảm </a:t>
                      </a:r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40-60%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lỗi đơn thuốc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Tăng doanh thu 15-30%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CRM + Marketing Automation + chương trình Loyalty cho BN — điều BV VN ít ai làm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Giảm chi phí vận hành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Bệnh án điện tử tiết kiệm </a:t>
                      </a:r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200-500 triệu/năm</a:t>
                      </a:r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 (giấy, in ấn, lưu trữ) cho BV 150 giường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Tuân thủ EMR 2-3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Đạt QĐ 130 mức 2-3 ngay Phase 1; mức 4-6 sau Phase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Scale đa cơ sở dễ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Từ 1 phòng khám → chuỗi 10 cơ sở không cần build lại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BENEFITS — LỢI ÍCH CHO BỆNH NHÂN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9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7. BENEFITS — Lợi ích cho Bệnh nhân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545336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Trải nghiệm bệnh nhân thời 4.0: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36976"/>
            <a:ext cx="11277295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Đặt lịch online</a:t>
            </a:r>
            <a:r>
              <a:rPr sz="1500">
                <a:solidFill>
                  <a:srgbClr val="072D56"/>
                </a:solidFill>
                <a:latin typeface="Calibri"/>
              </a:rPr>
              <a:t> qua app/website — không còn xếp hàng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Xem lịch sử khám</a:t>
            </a:r>
            <a:r>
              <a:rPr sz="1500">
                <a:solidFill>
                  <a:srgbClr val="072D56"/>
                </a:solidFill>
                <a:latin typeface="Calibri"/>
              </a:rPr>
              <a:t> — tất cả kết quả CLS, đơn thuốc ở 1 chỗ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Nhắc lịch tái khám + uống thuốc</a:t>
            </a:r>
            <a:r>
              <a:rPr sz="1500">
                <a:solidFill>
                  <a:srgbClr val="072D56"/>
                </a:solidFill>
                <a:latin typeface="Calibri"/>
              </a:rPr>
              <a:t> tự động qua SMS/Zalo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Thanh toán online</a:t>
            </a:r>
            <a:r>
              <a:rPr sz="1500">
                <a:solidFill>
                  <a:srgbClr val="072D56"/>
                </a:solidFill>
                <a:latin typeface="Calibri"/>
              </a:rPr>
              <a:t> — QR, thẻ, ví điện tử, trả góp qua ví Momo/ZaloPay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Tư vấn từ xa</a:t>
            </a:r>
            <a:r>
              <a:rPr sz="1500">
                <a:solidFill>
                  <a:srgbClr val="072D56"/>
                </a:solidFill>
                <a:latin typeface="Calibri"/>
              </a:rPr>
              <a:t> (Telemedicine) — không phải đến BV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Nhận kết quả CLS online</a:t>
            </a:r>
            <a:r>
              <a:rPr sz="1500">
                <a:solidFill>
                  <a:srgbClr val="072D56"/>
                </a:solidFill>
                <a:latin typeface="Calibri"/>
              </a:rPr>
              <a:t> — không chờ 1-3 ngày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Loyalty &amp; Ưu đãi</a:t>
            </a:r>
            <a:r>
              <a:rPr sz="1500">
                <a:solidFill>
                  <a:srgbClr val="072D56"/>
                </a:solidFill>
                <a:latin typeface="Calibri"/>
              </a:rPr>
              <a:t> — tích điểm, đổi quà, ưu đãi KSK định kỳ cho gia đình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Sổ sức khoẻ điện tử</a:t>
            </a:r>
            <a:r>
              <a:rPr sz="1500">
                <a:solidFill>
                  <a:srgbClr val="072D56"/>
                </a:solidFill>
                <a:latin typeface="Calibri"/>
              </a:rPr>
              <a:t> — liên thông toàn quốc qua Đề án 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ADVANTAGES — KHÁC BIỆT VS ĐỐI THỦ HIS VIỆT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10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8. ADVANTAGES — Khác biệt vs đối thủ HIS Việt Nam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923544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So sánh nhanh: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2615184"/>
          <a:ext cx="11277295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69824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Tính năng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TNTech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FPT.eHospital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Viettel HIS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Medisoft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BKAV HIS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</a:tr>
              <a:tr h="369824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Cloud-native SaaS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Phòng khám tư hạng sang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369824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CRM 360 + Loyalty cho 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Marketing Automation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369824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Call Center tích hợp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Mobile App BN đẹp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369824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BV hạng I-TW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9824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BHYT XML 4210 *(từ 2027)*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 (roadmap)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⭐⭐⭐⭐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ADVANTAGES — 5 KHÁC BIỆT LỚN NHẤT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11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9. ADVANTAGES — 5 khác biệt lớn nhất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HIS đầu tiên tại VN có CRM 360 + Loyalty + Marketing Automation native</a:t>
            </a:r>
            <a:r>
              <a:rPr sz="1500">
                <a:solidFill>
                  <a:srgbClr val="072D56"/>
                </a:solidFill>
                <a:latin typeface="Calibri"/>
              </a:rPr>
              <a:t> — thay thế 3 hệ thống riêng (CRM 200tr + Marketing 150tr + Loyalty 100tr = 450 triệu/năm tiết kiệm)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8600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Cloud-native thật sự</a:t>
            </a:r>
            <a:r>
              <a:rPr sz="1500">
                <a:solidFill>
                  <a:srgbClr val="072D56"/>
                </a:solidFill>
                <a:latin typeface="Calibri"/>
              </a:rPr>
              <a:t> — triển khai trong 3-5 ngày cho phòng khám, không phải "lift-and-shift" on-premise như FPT/Medisoft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7180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BPM low-code</a:t>
            </a:r>
            <a:r>
              <a:rPr sz="1500">
                <a:solidFill>
                  <a:srgbClr val="072D56"/>
                </a:solidFill>
                <a:latin typeface="Calibri"/>
              </a:rPr>
              <a:t> — BV tự sửa workflow khám/hội chẩn/chuyển khoa không cần gọi vendor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Call Center native (JsSIP/WebRTC)</a:t>
            </a:r>
            <a:r>
              <a:rPr sz="1500">
                <a:solidFill>
                  <a:srgbClr val="072D56"/>
                </a:solidFill>
                <a:latin typeface="Calibri"/>
              </a:rPr>
              <a:t> — tổng đài chăm sóc BN sẵn trong hệ thống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43400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Thiết kế cho phân khúc tư nhân hạng sang</a:t>
            </a:r>
            <a:r>
              <a:rPr sz="1500">
                <a:solidFill>
                  <a:srgbClr val="072D56"/>
                </a:solidFill>
                <a:latin typeface="Calibri"/>
              </a:rPr>
              <a:t> — UI đẹp, UX phòng khám thẩm mỹ/spa y khoa, không phải UX BV công "cổ điển"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FEATURES — 25 PHÂN HỆ HIS CHUẨN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12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10. FEATURES — 25 phân hệ HIS chuẩn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618488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Theo HL7 FHIR + Bộ Y tế Việt Nam: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310128"/>
          <a:ext cx="11277295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292608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Nhóm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Phân hệ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</a:tr>
              <a:tr h="292608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Tiếp nhận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1. Đăng ký BN, Queue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Khám chữa bệnh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2. OPD (ngoại trú)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292608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CLS &amp; Dữ liệu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5. EMR/HSBA điện tử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Nghiệp vụ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9. Viện phí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292608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Hỗ trợ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14. Kho VTYT/TTB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Liên thông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18. VNeID, Sổ SKĐT, ICD-10, SNOMED, LOINC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292608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Chất lượng &amp; Trải nghiệm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21. Quality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100">
                          <a:solidFill>
                            <a:srgbClr val="072D56"/>
                          </a:solidFill>
                          <a:latin typeface="Calibri"/>
                        </a:rPr>
                        <a:t>Khác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100">
                          <a:solidFill>
                            <a:srgbClr val="072D56"/>
                          </a:solidFill>
                          <a:latin typeface="Calibri"/>
                        </a:rPr>
                        <a:t>19. EMR Level (target)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FEATURES — TIẾP NHẬN, QUEUE &amp; PATIENT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13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11. FEATURES — Tiếp nhận, Queue &amp; Patient Portal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435608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Đón tiếp bệnh nhân thời 4.0: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127248"/>
            <a:ext cx="11277295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Đăng ký BN</a:t>
            </a:r>
            <a:r>
              <a:rPr sz="1500">
                <a:solidFill>
                  <a:srgbClr val="072D56"/>
                </a:solidFill>
                <a:latin typeface="Calibri"/>
              </a:rPr>
              <a:t> — Họ tên, CCCD, BHYT, địa chỉ, dị ứng, nhóm máu, BMI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Tích hợp VNeID / CCCD chip</a:t>
            </a:r>
            <a:r>
              <a:rPr sz="1500">
                <a:solidFill>
                  <a:srgbClr val="072D56"/>
                </a:solidFill>
                <a:latin typeface="Calibri"/>
              </a:rPr>
              <a:t> — quét 1 cái có đủ thông tin (Phase 1 add-on)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MRN (Medical Record Number)</a:t>
            </a:r>
            <a:r>
              <a:rPr sz="1500">
                <a:solidFill>
                  <a:srgbClr val="072D56"/>
                </a:solidFill>
                <a:latin typeface="Calibri"/>
              </a:rPr>
              <a:t> — mã BN duy nhất, chuẩn format BYT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Queue điện tử</a:t>
            </a:r>
            <a:r>
              <a:rPr sz="1500">
                <a:solidFill>
                  <a:srgbClr val="072D56"/>
                </a:solidFill>
                <a:latin typeface="Calibri"/>
              </a:rPr>
              <a:t> — kiosk cấp số, hiển thị thứ tự, dự báo giờ được khám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Merge hồ sơ trùng</a:t>
            </a:r>
            <a:r>
              <a:rPr sz="1500">
                <a:solidFill>
                  <a:srgbClr val="072D56"/>
                </a:solidFill>
                <a:latin typeface="Calibri"/>
              </a:rPr>
              <a:t> — MDM y khoa chống trùng lặp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Patient Mobile App</a:t>
            </a:r>
            <a:r>
              <a:rPr sz="1500">
                <a:solidFill>
                  <a:srgbClr val="072D56"/>
                </a:solidFill>
                <a:latin typeface="Calibri"/>
              </a:rPr>
              <a:t> (React Native):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- Đặt lịch khám online theo bác sĩ/chuyên khoa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- Thanh toán online trước khám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- Xem kết quả CLS, đơn thuốc, lịch sử khám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- Nhắc uống thuốc, nhắc tái khám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- Loyalty — tích điểm, đổi quà KSK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- Telemedicine — video call với BS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FEATURES — EMR / HSBA ĐIỆN TỬ (CORE)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14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12. FEATURES — EMR / HSBA điện tử (Core)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2020824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Hồ sơ bệnh án điện tử đạt TT 46/2018/TT-BYT: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12464"/>
            <a:ext cx="11277295" cy="2414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Template HSBA</a:t>
            </a:r>
            <a:r>
              <a:rPr sz="1500">
                <a:solidFill>
                  <a:srgbClr val="072D56"/>
                </a:solidFill>
                <a:latin typeface="Calibri"/>
              </a:rPr>
              <a:t> theo chuyên khoa (Nội, Ngoại, Sản, Nhi, RHM, TMH, Mắt, Da liễu, IVF…)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Timeline y khoa</a:t>
            </a:r>
            <a:r>
              <a:rPr sz="1500">
                <a:solidFill>
                  <a:srgbClr val="072D56"/>
                </a:solidFill>
                <a:latin typeface="Calibri"/>
              </a:rPr>
              <a:t> — tất cả lần khám/CLS/đơn thuốc của BN trên 1 trục thời gian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Vital Signs</a:t>
            </a:r>
            <a:r>
              <a:rPr sz="1500">
                <a:solidFill>
                  <a:srgbClr val="072D56"/>
                </a:solidFill>
                <a:latin typeface="Calibri"/>
              </a:rPr>
              <a:t> — HA, mạch, nhiệt độ, SpO2, BMI — nhập nhanh hoặc từ monitor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Chẩn đoán ICD-10</a:t>
            </a:r>
            <a:r>
              <a:rPr sz="1500">
                <a:solidFill>
                  <a:srgbClr val="072D56"/>
                </a:solidFill>
                <a:latin typeface="Calibri"/>
              </a:rPr>
              <a:t> — chính, phụ, kèm theo với auto-suggest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Chỉ định y lệnh (CPOE)</a:t>
            </a:r>
            <a:r>
              <a:rPr sz="1500">
                <a:solidFill>
                  <a:srgbClr val="072D56"/>
                </a:solidFill>
                <a:latin typeface="Calibri"/>
              </a:rPr>
              <a:t> — xét nghiệm, thuốc, thủ thuật, chuyển khoa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Ký số</a:t>
            </a:r>
            <a:r>
              <a:rPr sz="1500">
                <a:solidFill>
                  <a:srgbClr val="072D56"/>
                </a:solidFill>
                <a:latin typeface="Calibri"/>
              </a:rPr>
              <a:t> (USB Token, HSM) — bác sĩ, điều dưỡng ký số trên bệnh án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Paperless một phần</a:t>
            </a:r>
            <a:r>
              <a:rPr sz="1500">
                <a:solidFill>
                  <a:srgbClr val="072D56"/>
                </a:solidFill>
                <a:latin typeface="Calibri"/>
              </a:rPr>
              <a:t> (EMR Mức 6) — không cần in HSBA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Liên thông KCB</a:t>
            </a:r>
            <a:r>
              <a:rPr sz="1500">
                <a:solidFill>
                  <a:srgbClr val="072D56"/>
                </a:solidFill>
                <a:latin typeface="Calibri"/>
              </a:rPr>
              <a:t> — tra cứu lịch sử khám ở các cơ sở khác qua Sổ SKĐT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FEATURES — DƯỢC &amp; KÊ ĐƠN ĐIỆN TỬ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15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13. FEATURES — Dược &amp; Kê đơn điện tử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801368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Chuẩn TT 27/2021 + Đơn thuốc Quốc gia: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93008"/>
            <a:ext cx="11277295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Kê đơn điện tử (e-Prescription)</a:t>
            </a:r>
            <a:r>
              <a:rPr sz="1500">
                <a:solidFill>
                  <a:srgbClr val="072D56"/>
                </a:solidFill>
                <a:latin typeface="Calibri"/>
              </a:rPr>
              <a:t> — tích hợp cổng `donthuocquocgia.vn`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Drug Master Database</a:t>
            </a:r>
            <a:r>
              <a:rPr sz="1500">
                <a:solidFill>
                  <a:srgbClr val="072D56"/>
                </a:solidFill>
                <a:latin typeface="Calibri"/>
              </a:rPr>
              <a:t> — tra cứu thuốc theo tên/hoạt chất/nhóm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Cảnh báo tương tác thuốc</a:t>
            </a:r>
            <a:r>
              <a:rPr sz="1500">
                <a:solidFill>
                  <a:srgbClr val="072D56"/>
                </a:solidFill>
                <a:latin typeface="Calibri"/>
              </a:rPr>
              <a:t> (Drug-Drug Interaction, DDI)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Cảnh báo dị ứng</a:t>
            </a:r>
            <a:r>
              <a:rPr sz="1500">
                <a:solidFill>
                  <a:srgbClr val="072D56"/>
                </a:solidFill>
                <a:latin typeface="Calibri"/>
              </a:rPr>
              <a:t> theo tiền sử BN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Kiểm tra liều lượng</a:t>
            </a:r>
            <a:r>
              <a:rPr sz="1500">
                <a:solidFill>
                  <a:srgbClr val="072D56"/>
                </a:solidFill>
                <a:latin typeface="Calibri"/>
              </a:rPr>
              <a:t> theo tuổi, cân nặng, chức năng gan/thận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Thuốc kiểm soát đặc biệt</a:t>
            </a:r>
            <a:r>
              <a:rPr sz="1500">
                <a:solidFill>
                  <a:srgbClr val="072D56"/>
                </a:solidFill>
                <a:latin typeface="Calibri"/>
              </a:rPr>
              <a:t> — gây nghiện, hướng thần (tuân thủ TT 20/2017)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FEATURES — CLS (LIS/RIS/PACS) + TÍCH HỢP THIẾT BỊ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16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14. FEATURES — CLS (LIS/RIS/PACS) + Tích hợp thiết bị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581912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Chỉ định &amp; Kết quả Cận Lâm Sàng: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73552"/>
            <a:ext cx="11277295" cy="1033272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LIS (Xét nghiệm):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398264"/>
            <a:ext cx="11277295" cy="1728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Chỉ định XN, in phiếu + mã vạch ống mẫu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Tích hợp máy XN qua </a:t>
            </a:r>
            <a:r>
              <a:rPr b="1" sz="1500">
                <a:solidFill>
                  <a:srgbClr val="0E4F8C"/>
                </a:solidFill>
                <a:latin typeface="Calibri"/>
              </a:rPr>
              <a:t>HL7 ASTM</a:t>
            </a:r>
            <a:r>
              <a:rPr sz="1500">
                <a:solidFill>
                  <a:srgbClr val="072D56"/>
                </a:solidFill>
                <a:latin typeface="Calibri"/>
              </a:rPr>
              <a:t> (Roche, Abbott, Sysmex, Beckman, Mindray)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Kết quả tự động từ máy → BS duyệt/ký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Giá trị tham chiếu, cảnh báo critical value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FEATURES — VIỆN PHÍ &amp; THANH TOÁN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17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15. FEATURES — Viện phí &amp; Thanh toán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362456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Hospital Billing chuẩn VN: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54096"/>
            <a:ext cx="11277295" cy="3072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Bảng giá dịch vụ</a:t>
            </a:r>
            <a:r>
              <a:rPr sz="1500">
                <a:solidFill>
                  <a:srgbClr val="072D56"/>
                </a:solidFill>
                <a:latin typeface="Calibri"/>
              </a:rPr>
              <a:t> theo TT 22/2023, TT 13/2023 (giá BHYT, giá DV, giá YC)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Gói khám sức khoẻ</a:t>
            </a:r>
            <a:r>
              <a:rPr sz="1500">
                <a:solidFill>
                  <a:srgbClr val="072D56"/>
                </a:solidFill>
                <a:latin typeface="Calibri"/>
              </a:rPr>
              <a:t> (Package) — KSK định kỳ, thai sản trọn gói, combo thẩm mỹ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Tạm ứng viện phí</a:t>
            </a:r>
            <a:r>
              <a:rPr sz="1500">
                <a:solidFill>
                  <a:srgbClr val="072D56"/>
                </a:solidFill>
                <a:latin typeface="Calibri"/>
              </a:rPr>
              <a:t> — quản lý số dư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Thanh toán nội trú/ngoại trú</a:t>
            </a:r>
            <a:r>
              <a:rPr sz="1500">
                <a:solidFill>
                  <a:srgbClr val="072D56"/>
                </a:solidFill>
                <a:latin typeface="Calibri"/>
              </a:rPr>
              <a:t> — phân tách từng loại dịch vụ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Miễn giảm, từ thiện</a:t>
            </a:r>
            <a:r>
              <a:rPr sz="1500">
                <a:solidFill>
                  <a:srgbClr val="072D56"/>
                </a:solidFill>
                <a:latin typeface="Calibri"/>
              </a:rPr>
              <a:t> — workflow phê duyệt qua BPM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HĐĐT y tế</a:t>
            </a:r>
            <a:r>
              <a:rPr sz="1500">
                <a:solidFill>
                  <a:srgbClr val="072D56"/>
                </a:solidFill>
                <a:latin typeface="Calibri"/>
              </a:rPr>
              <a:t> TT 78/2021 — kết nối Viettel/VNPT/MISA meInvoice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Thanh toán đa phương tiện: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- QR code (VietQR, VNPay)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- Thẻ ngân hàng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- Chuyển khoản (tự đối soát)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- Ví điện tử (MoMo, ZaloPay)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- </a:t>
            </a:r>
            <a:r>
              <a:rPr b="1" sz="1500">
                <a:solidFill>
                  <a:srgbClr val="0E4F8C"/>
                </a:solidFill>
                <a:latin typeface="Calibri"/>
              </a:rPr>
              <a:t>Trả góp</a:t>
            </a:r>
            <a:r>
              <a:rPr sz="1500">
                <a:solidFill>
                  <a:srgbClr val="072D56"/>
                </a:solidFill>
                <a:latin typeface="Calibri"/>
              </a:rPr>
              <a:t> qua Fundiin, Home Credit, Kredivo — đặc biệt cho thẩm mỹ, nha khoa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FEATURES — TELEMEDICINE &amp; CRM Y KHOA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18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16. FEATURES — Telemedicine &amp; CRM y khoa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545336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Telemedicine (theo NĐ 96/2023):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36976"/>
            <a:ext cx="11277295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Video call bác sĩ ↔ bệnh nhân (WebRTC, không cần cài app thứ 3)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Kê đơn từ xa, đơn được gửi về Cổng Đơn thuốc QG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Tư vấn sức khoẻ online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Hội chẩn liên viện</a:t>
            </a:r>
            <a:r>
              <a:rPr sz="1500">
                <a:solidFill>
                  <a:srgbClr val="072D56"/>
                </a:solidFill>
                <a:latin typeface="Calibri"/>
              </a:rPr>
              <a:t> — nhiều BS cùng review 1 ca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sz="1500">
                <a:solidFill>
                  <a:srgbClr val="072D56"/>
                </a:solidFill>
                <a:latin typeface="Calibri"/>
              </a:rPr>
              <a:t>Tích hợp được Viettel Telehealth, VOV Bacsi24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68696"/>
            <a:ext cx="11277295" cy="1837944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CRM cho bệnh nhân (khác biệt lớn nhất):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FEATURES — BÁO CÁO BỘ Y TẾ &amp; CHẤT LƯỢNG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19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17. FEATURES — Báo cáo Bộ Y tế &amp; Chất lượng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50876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Báo cáo tự động theo quy định: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11277295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TT 20/2019, TT 37/2019</a:t>
            </a:r>
            <a:r>
              <a:rPr sz="1500">
                <a:solidFill>
                  <a:srgbClr val="072D56"/>
                </a:solidFill>
                <a:latin typeface="Calibri"/>
              </a:rPr>
              <a:t> — thống kê BV định kỳ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TT 54/2015, TT 17/2019</a:t>
            </a:r>
            <a:r>
              <a:rPr sz="1500">
                <a:solidFill>
                  <a:srgbClr val="072D56"/>
                </a:solidFill>
                <a:latin typeface="Calibri"/>
              </a:rPr>
              <a:t> — bệnh truyền nhiễm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Báo cáo Cục QLKCB</a:t>
            </a:r>
            <a:r>
              <a:rPr sz="1500">
                <a:solidFill>
                  <a:srgbClr val="072D56"/>
                </a:solidFill>
                <a:latin typeface="Calibri"/>
              </a:rPr>
              <a:t> — KCB, chuyển tuyến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Tai biến, sự cố y khoa</a:t>
            </a:r>
            <a:r>
              <a:rPr sz="1500">
                <a:solidFill>
                  <a:srgbClr val="072D56"/>
                </a:solidFill>
                <a:latin typeface="Calibri"/>
              </a:rPr>
              <a:t> — theo QĐ 3869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Kháng kháng sinh (AMR)</a:t>
            </a:r>
            <a:r>
              <a:rPr sz="1500">
                <a:solidFill>
                  <a:srgbClr val="072D56"/>
                </a:solidFill>
                <a:latin typeface="Calibri"/>
              </a:rPr>
              <a:t> — giám sát AMR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Cổng DVC Bộ Y tế</a:t>
            </a:r>
            <a:r>
              <a:rPr sz="1500">
                <a:solidFill>
                  <a:srgbClr val="072D56"/>
                </a:solidFill>
                <a:latin typeface="Calibri"/>
              </a:rPr>
              <a:t> — kết nối tự động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43600"/>
            <a:ext cx="11277295" cy="1581912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Quản lý chất lượng BV (QĐ 6858):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TUÂN THỦ PHÁP LÝ Y TẾ VIỆT NAM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20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18. Tuân thủ pháp lý y tế Việt Nam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655064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TNTech Healthcare tuân thủ đầy đủ: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346704"/>
          <a:ext cx="11277295" cy="25968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236081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Văn bản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Nội dung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000">
                          <a:solidFill>
                            <a:srgbClr val="FFFFFF"/>
                          </a:solidFill>
                          <a:latin typeface="Calibri"/>
                        </a:rPr>
                        <a:t>Mức tuân thủ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</a:tr>
              <a:tr h="236081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000">
                          <a:solidFill>
                            <a:srgbClr val="072D56"/>
                          </a:solidFill>
                          <a:latin typeface="Calibri"/>
                        </a:rPr>
                        <a:t>TT 46/2018/TT-BYT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Hồ sơ bệnh án điện tử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Phase 1: Mức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6081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000">
                          <a:solidFill>
                            <a:srgbClr val="072D56"/>
                          </a:solidFill>
                          <a:latin typeface="Calibri"/>
                        </a:rPr>
                        <a:t>TT 54/2017/TT-BYT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Bộ tiêu chí CNTT y tế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Đạt 80%+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236081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000">
                          <a:solidFill>
                            <a:srgbClr val="072D56"/>
                          </a:solidFill>
                          <a:latin typeface="Calibri"/>
                        </a:rPr>
                        <a:t>QĐ 130/QĐ-BYT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7 mức trưởng thành EMR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Phase 1: Mức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6081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000">
                          <a:solidFill>
                            <a:srgbClr val="072D56"/>
                          </a:solidFill>
                          <a:latin typeface="Calibri"/>
                        </a:rPr>
                        <a:t>TT 27/2021/TT-BYT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Kê đơn thuốc điện tử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Đầy đủ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236081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000">
                          <a:solidFill>
                            <a:srgbClr val="072D56"/>
                          </a:solidFill>
                          <a:latin typeface="Calibri"/>
                        </a:rPr>
                        <a:t>QĐ 4210/QĐ-BYT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XML giám định BHYT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Phase 3 *(2027)*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6081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000">
                          <a:solidFill>
                            <a:srgbClr val="072D56"/>
                          </a:solidFill>
                          <a:latin typeface="Calibri"/>
                        </a:rPr>
                        <a:t>QĐ 4750/QĐ-BYT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Liên thông KCB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236081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000">
                          <a:solidFill>
                            <a:srgbClr val="072D56"/>
                          </a:solidFill>
                          <a:latin typeface="Calibri"/>
                        </a:rPr>
                        <a:t>TT 22/2023, TT 13/2023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Giá dịch vụ y tế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Đầy đủ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6081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000">
                          <a:solidFill>
                            <a:srgbClr val="072D56"/>
                          </a:solidFill>
                          <a:latin typeface="Calibri"/>
                        </a:rPr>
                        <a:t>NĐ 96/2023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Khám bệnh từ xa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Đầy đủ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236081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000">
                          <a:solidFill>
                            <a:srgbClr val="072D56"/>
                          </a:solidFill>
                          <a:latin typeface="Calibri"/>
                        </a:rPr>
                        <a:t>QĐ 06/QĐ-TTg (Đề án 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VNeID, Sổ SKĐT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Phase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6086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000">
                          <a:solidFill>
                            <a:srgbClr val="072D56"/>
                          </a:solidFill>
                          <a:latin typeface="Calibri"/>
                        </a:rPr>
                        <a:t>HL7 FHIR R4 / DICOM 3.0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Chuẩn quốc tế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000">
                          <a:solidFill>
                            <a:srgbClr val="072D56"/>
                          </a:solidFill>
                          <a:latin typeface="Calibri"/>
                        </a:rPr>
                        <a:t>Đầy đủ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PHƯƠNG PHÁP TRIỂN KHAI 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21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19. Phương pháp triển khai HIS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205740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Phương pháp TNTech Healthcare — đặc thù y tế: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40"/>
            <a:ext cx="11277295" cy="667512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7 Bước: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07992"/>
            <a:ext cx="11277295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Clinical Assessment</a:t>
            </a:r>
            <a:r>
              <a:rPr sz="1500">
                <a:solidFill>
                  <a:srgbClr val="072D56"/>
                </a:solidFill>
                <a:latin typeface="Calibri"/>
              </a:rPr>
              <a:t> (2-4 tuần) — BA + cố vấn y tế khảo sát workflow bác sĩ/điều dưỡng/lễ tân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Co-Design with Clinicians</a:t>
            </a:r>
            <a:r>
              <a:rPr sz="1500">
                <a:solidFill>
                  <a:srgbClr val="072D56"/>
                </a:solidFill>
                <a:latin typeface="Calibri"/>
              </a:rPr>
              <a:t> (2-4 tuần) — thiết kế form/workflow </a:t>
            </a:r>
            <a:r>
              <a:rPr b="1" sz="1500">
                <a:solidFill>
                  <a:srgbClr val="0E4F8C"/>
                </a:solidFill>
                <a:latin typeface="Calibri"/>
              </a:rPr>
              <a:t>cùng</a:t>
            </a:r>
            <a:r>
              <a:rPr sz="1500">
                <a:solidFill>
                  <a:srgbClr val="072D56"/>
                </a:solidFill>
                <a:latin typeface="Calibri"/>
              </a:rPr>
              <a:t> bác sĩ chuyên khoa (tránh lỗi "engineer-only HIS")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Configuration &amp; Customization</a:t>
            </a:r>
            <a:r>
              <a:rPr sz="1500">
                <a:solidFill>
                  <a:srgbClr val="072D56"/>
                </a:solidFill>
                <a:latin typeface="Calibri"/>
              </a:rPr>
              <a:t> (6-12 tuần) — template HSBA theo chuyên khoa, tích hợp máy XN/CĐHA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Data Migration</a:t>
            </a:r>
            <a:r>
              <a:rPr sz="1500">
                <a:solidFill>
                  <a:srgbClr val="072D56"/>
                </a:solidFill>
                <a:latin typeface="Calibri"/>
              </a:rPr>
              <a:t> (2-6 tuần) — import HSBA cũ (có số hoá OCR nếu cần)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Parallel Run</a:t>
            </a:r>
            <a:r>
              <a:rPr sz="1500">
                <a:solidFill>
                  <a:srgbClr val="072D56"/>
                </a:solidFill>
                <a:latin typeface="Calibri"/>
              </a:rPr>
              <a:t> (2-4 tuần) — chạy song song hệ thống cũ + mới để đối chiếu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Go-live + Hypercare</a:t>
            </a:r>
            <a:r>
              <a:rPr sz="1500">
                <a:solidFill>
                  <a:srgbClr val="072D56"/>
                </a:solidFill>
                <a:latin typeface="Calibri"/>
              </a:rPr>
              <a:t> (4-8 tuần) — on-site 24x7 trong 4 tuần đầu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Continuous Improvement</a:t>
            </a:r>
            <a:r>
              <a:rPr sz="1500">
                <a:solidFill>
                  <a:srgbClr val="072D56"/>
                </a:solidFill>
                <a:latin typeface="Calibri"/>
              </a:rPr>
              <a:t> — cập nhật mỗi 2 tuần theo feedback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LỘ TRÌNH TRIỂN KHAI THEO QUY MÔ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22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20. Lộ trình triển khai theo quy mô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60020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Quy mô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Thời gian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Phạm vi Phase 1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Go-live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Clinic Lite</a:t>
                      </a:r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 (1-3 BS)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3-5 ngày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OPD, EMR cơ bản, kê đơn, viện phí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Tuần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Clinic Basic</a:t>
                      </a:r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 (3-10 BS)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2-3 tuần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+ CLS manual, Patient Portal, HĐĐT y tế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Tuần 3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Clinic Pro</a:t>
                      </a:r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 (10-20 BS)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4-6 tuần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+ CRM, Loyalty, Marketing, Telemedicine, Call Center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Tuần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Clinic Chain</a:t>
                      </a:r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 (20-50 BS)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2-3 tháng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Multi-site, báo cáo chuỗi, chuyển viện nội bộ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Tháng 3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Small Hospital</a:t>
                      </a:r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 *(Q4/2026)*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4-6 tháng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IPD, Bed, OR, Nursing, Device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Tháng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4480560"/>
            <a:ext cx="11277295" cy="996696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Product Roadmap: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568696"/>
            <a:ext cx="11277295" cy="557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Q3/2026</a:t>
            </a:r>
            <a:r>
              <a:rPr sz="1500">
                <a:solidFill>
                  <a:srgbClr val="072D56"/>
                </a:solidFill>
                <a:latin typeface="Calibri"/>
              </a:rPr>
              <a:t> — Module IPD + OR + Bed Management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Q4/2026</a:t>
            </a:r>
            <a:r>
              <a:rPr sz="1500">
                <a:solidFill>
                  <a:srgbClr val="072D56"/>
                </a:solidFill>
                <a:latin typeface="Calibri"/>
              </a:rPr>
              <a:t> — LIS/RIS/PACS + Device integration qua Mirth Connect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Q1/2027</a:t>
            </a:r>
            <a:r>
              <a:rPr sz="1500">
                <a:solidFill>
                  <a:srgbClr val="072D56"/>
                </a:solidFill>
                <a:latin typeface="Calibri"/>
              </a:rPr>
              <a:t> — BHYT XML 4210 cho BV có hợp đồng BHXH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Q2/2027</a:t>
            </a:r>
            <a:r>
              <a:rPr sz="1500">
                <a:solidFill>
                  <a:srgbClr val="072D56"/>
                </a:solidFill>
                <a:latin typeface="Calibri"/>
              </a:rPr>
              <a:t> — CDSS (Clinical Decision Support), AI đọc phim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ƯU – NHƯỢC ĐIỂM CÁC PHƯƠNG PHÁP TRIỂN KHAI HIS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23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21. Ưu – Nhược điểm các phương pháp triển khai HIS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50876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Big Bang HIS (ít khuyến nghị):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11277295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Ưu:</a:t>
            </a:r>
            <a:r>
              <a:rPr sz="1500">
                <a:solidFill>
                  <a:srgbClr val="072D56"/>
                </a:solidFill>
                <a:latin typeface="Calibri"/>
              </a:rPr>
              <a:t> Đạt Mức EMR nhanh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Nhược:</a:t>
            </a:r>
            <a:r>
              <a:rPr sz="1500">
                <a:solidFill>
                  <a:srgbClr val="072D56"/>
                </a:solidFill>
                <a:latin typeface="Calibri"/>
              </a:rPr>
              <a:t> Cực kỳ rủi ro — BV không thể "downtime"; BS không kịp thích nghi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Phù hợp:</a:t>
            </a:r>
            <a:r>
              <a:rPr sz="1500">
                <a:solidFill>
                  <a:srgbClr val="072D56"/>
                </a:solidFill>
                <a:latin typeface="Calibri"/>
              </a:rPr>
              <a:t> Chỉ phòng khám mới mở, chưa có hệ thống cũ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09160"/>
            <a:ext cx="11277295" cy="2203704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Phased Rollout — Phân hệ theo khoa (khuyến nghị):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BẢO MẬT Y TẾ &amp; TUÂN THỦ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24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22. Bảo mật y tế &amp; Tuân thủ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205740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Dữ liệu y tế = dữ liệu nhạy cảm cấp cao nhất: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40"/>
            <a:ext cx="11277295" cy="1033272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Tuân thủ pháp lý: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73752"/>
            <a:ext cx="11277295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Luật An ninh mạng 2018</a:t>
            </a:r>
            <a:r>
              <a:rPr sz="1500">
                <a:solidFill>
                  <a:srgbClr val="072D56"/>
                </a:solidFill>
                <a:latin typeface="Calibri"/>
              </a:rPr>
              <a:t> — lưu trữ dữ liệu tại VN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Luật Bảo vệ dữ liệu cá nhân 2023 (NĐ 13/2023)</a:t>
            </a:r>
            <a:r>
              <a:rPr sz="1500">
                <a:solidFill>
                  <a:srgbClr val="072D56"/>
                </a:solidFill>
                <a:latin typeface="Calibri"/>
              </a:rPr>
              <a:t> — dữ liệu y tế là dữ liệu nhạy cảm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HIPAA-like internal controls</a:t>
            </a:r>
            <a:r>
              <a:rPr sz="1500">
                <a:solidFill>
                  <a:srgbClr val="072D56"/>
                </a:solidFill>
                <a:latin typeface="Calibri"/>
              </a:rPr>
              <a:t> — dù chưa bắt buộc tại VN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ISO 27001</a:t>
            </a:r>
            <a:r>
              <a:rPr sz="1500">
                <a:solidFill>
                  <a:srgbClr val="072D56"/>
                </a:solidFill>
                <a:latin typeface="Calibri"/>
              </a:rPr>
              <a:t> (đang triển khai 2026)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ISO 15189</a:t>
            </a:r>
            <a:r>
              <a:rPr sz="1500">
                <a:solidFill>
                  <a:srgbClr val="072D56"/>
                </a:solidFill>
                <a:latin typeface="Calibri"/>
              </a:rPr>
              <a:t> cho LIS (đang triển khai)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SUPPORT &amp; SLA DÀNH RIÊNG CHO Y TẾ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25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23. Support &amp; SLA dành riêng cho y tế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2386584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Y tế = 24/7/365 — không có khái niệm "giờ hành chính":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4078224"/>
          <a:ext cx="1127729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310896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Gói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Uptime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Xử lý sự cố P1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Kênh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</a:tr>
              <a:tr h="310896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Clinic 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99.7%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4 giờ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Chat 8x5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Clinic Basic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99.8%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2 giờ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Chat + Hotline 8x5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310896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Clinic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99.9%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1 giờ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24x5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Clinic Chain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99.9%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30 phút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24x5 + CSM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310896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Small Hospital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99.95%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15 phút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24x7 + Dedicated team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6080760"/>
            <a:ext cx="11277295" cy="1069848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Đặc biệt cho y tế: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TẠI SAO CHỌN TNTECH HEALTHCARE HÔM NAY?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26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24. Tại sao chọn TNTech Healthcare hôm nay?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069848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3 lý do then chốt: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61488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Thị trường phòng khám tư đang trống</a:t>
            </a:r>
            <a:r>
              <a:rPr sz="1500">
                <a:solidFill>
                  <a:srgbClr val="072D56"/>
                </a:solidFill>
                <a:latin typeface="Calibri"/>
              </a:rPr>
              <a:t> — 80% phòng khám tư VN chưa có HIS. TNTech là nền tảng đầu tiên thiết kế riêng cho phân khúc này.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47288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CRM + Loyalty + Marketing cho bệnh viện</a:t>
            </a:r>
            <a:r>
              <a:rPr sz="1500">
                <a:solidFill>
                  <a:srgbClr val="072D56"/>
                </a:solidFill>
                <a:latin typeface="Calibri"/>
              </a:rPr>
              <a:t> — điều </a:t>
            </a:r>
            <a:r>
              <a:rPr b="1" sz="1500">
                <a:solidFill>
                  <a:srgbClr val="0E4F8C"/>
                </a:solidFill>
                <a:latin typeface="Calibri"/>
              </a:rPr>
              <a:t>không HIS VN nào có</a:t>
            </a:r>
            <a:r>
              <a:rPr sz="1500">
                <a:solidFill>
                  <a:srgbClr val="072D56"/>
                </a:solidFill>
                <a:latin typeface="Calibri"/>
              </a:rPr>
              <a:t>. Phòng khám thẩm mỹ/nha khoa/IVF thực sự cần điều này.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33088"/>
            <a:ext cx="1127729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Cloud-native + BPM low-code</a:t>
            </a:r>
            <a:r>
              <a:rPr sz="1500">
                <a:solidFill>
                  <a:srgbClr val="072D56"/>
                </a:solidFill>
                <a:latin typeface="Calibri"/>
              </a:rPr>
              <a:t> — triển khai 3-5 ngày cho phòng khám thay vì 3-6 tháng on-premise.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18888"/>
            <a:ext cx="11277295" cy="1033272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Lộ trình rõ ràng: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12772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2026 H1:</a:t>
            </a:r>
            <a:r>
              <a:rPr sz="1500">
                <a:solidFill>
                  <a:srgbClr val="072D56"/>
                </a:solidFill>
                <a:latin typeface="Calibri"/>
              </a:rPr>
              <a:t> Clinic SaaS (đã sẵn sàng)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2026 H2:</a:t>
            </a:r>
            <a:r>
              <a:rPr sz="1500">
                <a:solidFill>
                  <a:srgbClr val="072D56"/>
                </a:solidFill>
                <a:latin typeface="Calibri"/>
              </a:rPr>
              <a:t> IPD + CLS + Device integration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E9FE5"/>
                </a:solidFill>
                <a:latin typeface="Calibri"/>
              </a:rPr>
              <a:t>▸ </a:t>
            </a:r>
            <a:r>
              <a:rPr b="1" sz="1500">
                <a:solidFill>
                  <a:srgbClr val="0E4F8C"/>
                </a:solidFill>
                <a:latin typeface="Calibri"/>
              </a:rPr>
              <a:t>2027:</a:t>
            </a:r>
            <a:r>
              <a:rPr sz="1500">
                <a:solidFill>
                  <a:srgbClr val="072D56"/>
                </a:solidFill>
                <a:latin typeface="Calibri"/>
              </a:rPr>
              <a:t> BHYT + CDSS + AI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72D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393952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11680" y="73152"/>
            <a:ext cx="8991295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BƯỚC TIẾP THEO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1535" y="644652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4A5A6A"/>
                </a:solidFill>
              </a:rPr>
              <a:t>27 /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4A5A6A"/>
                </a:solidFill>
              </a:rPr>
              <a:t>TNTech — Chuyển đổi số, làm chủ tương lai  |  tntech.vn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868680"/>
            <a:ext cx="112772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E4F8C"/>
                </a:solidFill>
                <a:latin typeface="Calibri"/>
              </a:rPr>
              <a:t>25. Bước tiếp theo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17320"/>
            <a:ext cx="1097280" cy="45720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11277295" cy="1362456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Lộ trình làm việc đề xuất: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3054096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Bước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Thời gian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Nội dung</a:t>
                      </a:r>
                    </a:p>
                  </a:txBody>
                  <a:tcPr>
                    <a:solidFill>
                      <a:srgbClr val="1E9FE5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Tuần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Demo giải pháp</a:t>
                      </a:r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 90 phút (online/on-site)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Tuần 1-2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Clinical Assessment</a:t>
                      </a:r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 — khảo sát workflow lâm sàng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Tuần 2-3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Đề xuất chi tiết</a:t>
                      </a:r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 + lộ trình + SoW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Tuần 3-4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Đàm phán &amp; ký hợp đồng</a:t>
                      </a:r>
                    </a:p>
                  </a:txBody>
                  <a:tcPr>
                    <a:solidFill>
                      <a:srgbClr val="E5F2FB"/>
                    </a:solidFill>
                  </a:tcPr>
                </a:tc>
              </a:tr>
              <a:tr h="457200">
                <a:tc>
                  <a:txBody>
                    <a:bodyPr lIns="73152" rIns="73152" tIns="18288" bIns="18288" anchor="ctr" wrap="square"/>
                    <a:lstStyle/>
                    <a:p>
                      <a:pPr algn="ctr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Tuần 4+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73152" tIns="18288" bIns="18288" anchor="ctr" wrap="square"/>
                    <a:lstStyle/>
                    <a:p>
                      <a:pPr algn="l"/>
                      <a:r>
                        <a:rPr b="1" sz="1200">
                          <a:solidFill>
                            <a:srgbClr val="072D56"/>
                          </a:solidFill>
                          <a:latin typeface="Calibri"/>
                        </a:rPr>
                        <a:t>Kickoff dự án</a:t>
                      </a:r>
                      <a:r>
                        <a:rPr b="0" sz="1200">
                          <a:solidFill>
                            <a:srgbClr val="072D56"/>
                          </a:solidFill>
                          <a:latin typeface="Calibri"/>
                        </a:rPr>
                        <a:t> với Clinical Advisor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5934456"/>
            <a:ext cx="11277295" cy="1508760"/>
          </a:xfrm>
          <a:prstGeom prst="rect">
            <a:avLst/>
          </a:prstGeom>
          <a:noFill/>
        </p:spPr>
        <p:txBody>
          <a:bodyPr wrap="square" tIns="18288" bIns="18288">
            <a:spAutoFit/>
          </a:bodyPr>
          <a:lstStyle/>
          <a:p>
            <a:r>
              <a:rPr b="1" sz="1600">
                <a:solidFill>
                  <a:srgbClr val="072D56"/>
                </a:solidFill>
                <a:latin typeface="Calibri"/>
              </a:rPr>
              <a:t>Để bắt đầu, Quý khách chỉ cần: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2D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C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36576"/>
          </a:xfrm>
          <a:prstGeom prst="rect">
            <a:avLst/>
          </a:prstGeom>
          <a:solidFill>
            <a:srgbClr val="1E9F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ntech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548640"/>
            <a:ext cx="2743200" cy="7557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03120"/>
            <a:ext cx="1072865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Cảm ơn Quý khách!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EC1F5"/>
                </a:solidFill>
                <a:latin typeface="Calibri"/>
              </a:rPr>
              <a:t>TNTech Healthcare Cloud
Công nghệ y tế — Vì bệnh nhân, vì bác sĩ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Liên hệ:</a:t>
            </a:r>
          </a:p>
          <a:p>
            <a:pPr algn="ctr"/>
            <a:r>
              <a:rPr sz="1800" b="1">
                <a:solidFill>
                  <a:srgbClr val="1EC1F5"/>
                </a:solidFill>
                <a:latin typeface="Calibri"/>
              </a:rPr>
              <a:t>Email: contact@tntech.vn</a:t>
            </a:r>
          </a:p>
          <a:p>
            <a:pPr algn="ctr"/>
            <a:r>
              <a:rPr sz="1800" b="1">
                <a:solidFill>
                  <a:srgbClr val="1EC1F5"/>
                </a:solidFill>
                <a:latin typeface="Calibri"/>
              </a:rPr>
              <a:t>Website: https://tntech.vn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Hotline: [Điền số điện thoại]</a:t>
            </a:r>
          </a:p>
          <a:p>
            <a:pPr algn="ctr"/>
            <a:r>
              <a:rPr sz="1800" b="0">
                <a:solidFill>
                  <a:srgbClr val="FFFFFF"/>
                </a:solidFill>
                <a:latin typeface="Calibri"/>
              </a:rPr>
              <a:t>Chúng tôi mong được đồng hành cùng Quý bệnh viện / phòng khám trong hành trình chuyển đổi số y tế!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