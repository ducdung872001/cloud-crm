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370" y="-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1668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5486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>
                    <a:alpha val="82000"/>
                  </a:srgbClr>
                </a:solidFill>
              </a:rPr>
              <a:t>ROX</a:t>
            </a:r>
            <a:endParaRPr lang="en-US" sz="6400" dirty="0"/>
          </a:p>
          <a:p>
            <a:pPr marL="0" indent="0" algn="ctr">
              <a:buNone/>
            </a:pPr>
            <a:r>
              <a:rPr lang="en-US" sz="6400" b="1" dirty="0">
                <a:solidFill>
                  <a:srgbClr val="FFFFFF">
                    <a:alpha val="82000"/>
                  </a:srgbClr>
                </a:solidFill>
              </a:rPr>
              <a:t>KEY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37160" y="28346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TNPM </a:t>
            </a:r>
            <a:r>
              <a:rPr lang="en-US" sz="1200" b="1">
                <a:solidFill>
                  <a:srgbClr val="FFFFFF"/>
                </a:solidFill>
              </a:rPr>
              <a:t>– TN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Property Management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</a:rPr>
              <a:t>Chung cư  •  Văn phòng  •  KCN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</a:rPr>
              <a:t>TTTM  •  Nhà thấp tầng  •  Hành chính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49040" y="640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</a:rPr>
              <a:t>HIGH LEVEL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49040" y="109728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Nền tảng Quản lý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Vận hành Bất động sản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Đa loại hình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749040" y="28803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</a:rPr>
              <a:t>Property Management Platform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3291840"/>
            <a:ext cx="12801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340156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Kiến trúc TOGAF • Multi-tenant • API-first
</a:t>
            </a:r>
            <a:r>
              <a:rPr lang="en-US" sz="900" dirty="0">
                <a:solidFill>
                  <a:srgbClr val="64748B"/>
                </a:solidFill>
              </a:rPr>
              <a:t>Phiên bản: 2.0  </a:t>
            </a:r>
            <a:r>
              <a:rPr lang="en-US" sz="900">
                <a:solidFill>
                  <a:srgbClr val="64748B"/>
                </a:solidFill>
              </a:rPr>
              <a:t>|  04/2026  </a:t>
            </a:r>
            <a:r>
              <a:rPr lang="en-US" sz="900" dirty="0">
                <a:solidFill>
                  <a:srgbClr val="64748B"/>
                </a:solidFill>
              </a:rPr>
              <a:t>|  Dành cho TNPM – ROX Key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TNPM – ROX Key: Chân dung đơn vị vận hành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C"/>
                </a:solidFill>
              </a:rPr>
              <a:t>Company Overview &amp; Business Scope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</a:rPr>
              <a:t>© 2026 </a:t>
            </a:r>
            <a:r>
              <a:rPr lang="en-US" sz="750" dirty="0">
                <a:solidFill>
                  <a:srgbClr val="E2E8F0"/>
                </a:solidFill>
              </a:rPr>
              <a:t>TNPM – ROX Key | Property Management Platform HLD v2.0 | TOGAF-aligned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965960" cy="1005840"/>
          </a:xfrm>
          <a:prstGeom prst="rect">
            <a:avLst/>
          </a:prstGeom>
          <a:solidFill>
            <a:srgbClr val="0D7F8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05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7+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15361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CD34D"/>
                </a:solidFill>
              </a:rPr>
              <a:t>Loại hình BĐS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960120"/>
            <a:ext cx="1965960" cy="1005840"/>
          </a:xfrm>
          <a:prstGeom prst="rect">
            <a:avLst/>
          </a:prstGeom>
          <a:solidFill>
            <a:srgbClr val="1A2B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005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B2B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50592" y="15361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CD34D"/>
                </a:solidFill>
              </a:rPr>
              <a:t>Mô hình: Chủ đầu tư thuê TNPM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960120"/>
            <a:ext cx="1965960" cy="1005840"/>
          </a:xfrm>
          <a:prstGeom prst="rect">
            <a:avLst/>
          </a:prstGeom>
          <a:solidFill>
            <a:srgbClr val="EA580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005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Multi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26864" y="15361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CD34D"/>
                </a:solidFill>
              </a:rPr>
              <a:t>Site: Nhiều dự án song song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960120"/>
            <a:ext cx="1965960" cy="10058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005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End-to-End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03136" y="15361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CD34D"/>
                </a:solidFill>
              </a:rPr>
              <a:t>Vận hành + Kỹ thuật + An ninh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103120"/>
            <a:ext cx="859536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103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 loại hình bất động sản TNPM – ROX Key đang vận hành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487168"/>
            <a:ext cx="1152144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487168"/>
            <a:ext cx="1152144" cy="384048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48716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74320" y="2907792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</a:rPr>
              <a:t>Chung cư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</a:rPr>
              <a:t>Khu dân cư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374904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7F8C"/>
                </a:solidFill>
              </a:rPr>
              <a:t>Loại 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499616" y="2487168"/>
            <a:ext cx="1152144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499616" y="2487168"/>
            <a:ext cx="1152144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8" name="Text 26"/>
          <p:cNvSpPr/>
          <p:nvPr/>
        </p:nvSpPr>
        <p:spPr>
          <a:xfrm>
            <a:off x="1499616" y="248716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99616" y="2907792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</a:rPr>
              <a:t>Văn phòng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</a:rPr>
              <a:t>cho thuê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99616" y="374904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A"/>
                </a:solidFill>
              </a:rPr>
              <a:t>Loại 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24912" y="2487168"/>
            <a:ext cx="1152144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24912" y="2487168"/>
            <a:ext cx="1152144" cy="38404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3" name="Text 31"/>
          <p:cNvSpPr/>
          <p:nvPr/>
        </p:nvSpPr>
        <p:spPr>
          <a:xfrm>
            <a:off x="2724912" y="248716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🏭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724912" y="2907792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</a:rPr>
              <a:t>Khu công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</a:rPr>
              <a:t>nghiệp (IPC)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24912" y="374904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A580C"/>
                </a:solidFill>
              </a:rPr>
              <a:t>Loại 3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950208" y="2487168"/>
            <a:ext cx="1152144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950208" y="2487168"/>
            <a:ext cx="1152144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3950208" y="248716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🛍️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950208" y="2907792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</a:rPr>
              <a:t>Trung tâm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</a:rPr>
              <a:t>thương mại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950208" y="374904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</a:rPr>
              <a:t>Loại 4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175504" y="2487168"/>
            <a:ext cx="1152144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175504" y="2487168"/>
            <a:ext cx="1152144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3" name="Text 41"/>
          <p:cNvSpPr/>
          <p:nvPr/>
        </p:nvSpPr>
        <p:spPr>
          <a:xfrm>
            <a:off x="5175504" y="248716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🏡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175504" y="2907792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</a:rPr>
              <a:t>Nhà ở thấp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</a:rPr>
              <a:t>tầng (Villa)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75504" y="374904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</a:rPr>
              <a:t>Loại 5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400800" y="2487168"/>
            <a:ext cx="1152144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00800" y="2487168"/>
            <a:ext cx="1152144" cy="384048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0" y="248716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400800" y="2907792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</a:rPr>
              <a:t>Khu liên cơ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</a:rPr>
              <a:t>quan HC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00800" y="374904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338CA"/>
                </a:solidFill>
              </a:rPr>
              <a:t>Loại 6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626096" y="2487168"/>
            <a:ext cx="1152144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626096" y="2487168"/>
            <a:ext cx="1152144" cy="3840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3" name="Text 51"/>
          <p:cNvSpPr/>
          <p:nvPr/>
        </p:nvSpPr>
        <p:spPr>
          <a:xfrm>
            <a:off x="7626096" y="248716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626096" y="2907792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</a:rPr>
              <a:t>Dịch vụ tiện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</a:rPr>
              <a:t>ích đơn lẻ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626096" y="374904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</a:rPr>
              <a:t>Loại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Phân tích Fit / Gap – Mô hình PMS vs Yêu cầu TNPM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C"/>
                </a:solidFill>
              </a:rPr>
              <a:t>Architecture Fit/Gap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</a:rPr>
              <a:t>© 2026 </a:t>
            </a:r>
            <a:r>
              <a:rPr lang="en-US" sz="750" dirty="0">
                <a:solidFill>
                  <a:srgbClr val="E2E8F0"/>
                </a:solidFill>
              </a:rPr>
              <a:t>TNPM – ROX Key | Property Management Platform HLD v2.0 | TOGAF-aligned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260604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987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✅ Full Fit – Dùng ngay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0604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987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⚠️ Partial – Cần mở rộng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987552"/>
            <a:ext cx="260604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987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❌ Gap – Phải phát triển thêm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325880"/>
            <a:ext cx="242316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" y="13258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Phân hệ / Tính năng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79192" y="1325880"/>
            <a:ext cx="850392" cy="38404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2679192" y="132588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Chung cư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29584" y="1325880"/>
            <a:ext cx="850392" cy="38404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8" name="Text 16"/>
          <p:cNvSpPr/>
          <p:nvPr/>
        </p:nvSpPr>
        <p:spPr>
          <a:xfrm>
            <a:off x="3529584" y="132588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Văn phòng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79976" y="1325880"/>
            <a:ext cx="850392" cy="38404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4379976" y="132588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KCN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230368" y="1325880"/>
            <a:ext cx="850392" cy="38404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2" name="Text 20"/>
          <p:cNvSpPr/>
          <p:nvPr/>
        </p:nvSpPr>
        <p:spPr>
          <a:xfrm>
            <a:off x="5230368" y="132588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TTTM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80760" y="1325880"/>
            <a:ext cx="850392" cy="38404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132588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Nhà TT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31152" y="1325880"/>
            <a:ext cx="850392" cy="38404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6" name="Text 24"/>
          <p:cNvSpPr/>
          <p:nvPr/>
        </p:nvSpPr>
        <p:spPr>
          <a:xfrm>
            <a:off x="6931152" y="132588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HC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781544" y="1325880"/>
            <a:ext cx="850392" cy="38404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8" name="Text 26"/>
          <p:cNvSpPr/>
          <p:nvPr/>
        </p:nvSpPr>
        <p:spPr>
          <a:xfrm>
            <a:off x="7781544" y="132588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Dịch vụ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đơn lẻ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1764792"/>
            <a:ext cx="8631936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17647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CRM &amp; Quản lý Khách hàng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52344" y="1801368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2679192" y="176479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02736" y="1801368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3529584" y="176479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53128" y="1801368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4379976" y="176479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03520" y="1801368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5230368" y="176479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53912" y="1801368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6080760" y="176479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04304" y="1801368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6931152" y="176479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854696" y="1801368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7781544" y="176479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56032" y="2075688"/>
            <a:ext cx="86319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20756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Hợp đồng dịch vụ (1 KH nhiều HĐ)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52344" y="2112264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8" name="Text 46"/>
          <p:cNvSpPr/>
          <p:nvPr/>
        </p:nvSpPr>
        <p:spPr>
          <a:xfrm>
            <a:off x="2679192" y="207568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02736" y="2112264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0" name="Text 48"/>
          <p:cNvSpPr/>
          <p:nvPr/>
        </p:nvSpPr>
        <p:spPr>
          <a:xfrm>
            <a:off x="3529584" y="207568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453128" y="2112264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2" name="Text 50"/>
          <p:cNvSpPr/>
          <p:nvPr/>
        </p:nvSpPr>
        <p:spPr>
          <a:xfrm>
            <a:off x="4379976" y="207568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303520" y="2112264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4" name="Text 52"/>
          <p:cNvSpPr/>
          <p:nvPr/>
        </p:nvSpPr>
        <p:spPr>
          <a:xfrm>
            <a:off x="5230368" y="207568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53912" y="2112264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6" name="Text 54"/>
          <p:cNvSpPr/>
          <p:nvPr/>
        </p:nvSpPr>
        <p:spPr>
          <a:xfrm>
            <a:off x="6080760" y="207568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004304" y="2112264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8" name="Text 56"/>
          <p:cNvSpPr/>
          <p:nvPr/>
        </p:nvSpPr>
        <p:spPr>
          <a:xfrm>
            <a:off x="6931152" y="207568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854696" y="2112264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0" name="Text 58"/>
          <p:cNvSpPr/>
          <p:nvPr/>
        </p:nvSpPr>
        <p:spPr>
          <a:xfrm>
            <a:off x="7781544" y="207568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56032" y="2386584"/>
            <a:ext cx="8631936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9184" y="23865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Billing: Điện, nước, phí QL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52344" y="2423160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4" name="Text 62"/>
          <p:cNvSpPr/>
          <p:nvPr/>
        </p:nvSpPr>
        <p:spPr>
          <a:xfrm>
            <a:off x="2679192" y="2386584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602736" y="2423160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6" name="Text 64"/>
          <p:cNvSpPr/>
          <p:nvPr/>
        </p:nvSpPr>
        <p:spPr>
          <a:xfrm>
            <a:off x="3529584" y="2386584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453128" y="2423160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8" name="Text 66"/>
          <p:cNvSpPr/>
          <p:nvPr/>
        </p:nvSpPr>
        <p:spPr>
          <a:xfrm>
            <a:off x="4379976" y="2386584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303520" y="2423160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0" name="Text 68"/>
          <p:cNvSpPr/>
          <p:nvPr/>
        </p:nvSpPr>
        <p:spPr>
          <a:xfrm>
            <a:off x="5230368" y="2386584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153912" y="2423160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2" name="Text 70"/>
          <p:cNvSpPr/>
          <p:nvPr/>
        </p:nvSpPr>
        <p:spPr>
          <a:xfrm>
            <a:off x="6080760" y="2386584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004304" y="2423160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4" name="Text 72"/>
          <p:cNvSpPr/>
          <p:nvPr/>
        </p:nvSpPr>
        <p:spPr>
          <a:xfrm>
            <a:off x="6931152" y="2386584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854696" y="2423160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6" name="Text 74"/>
          <p:cNvSpPr/>
          <p:nvPr/>
        </p:nvSpPr>
        <p:spPr>
          <a:xfrm>
            <a:off x="7781544" y="2386584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56032" y="2697480"/>
            <a:ext cx="86319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9184" y="2697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Billing: Phí thuê mặt bằng (Rent)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752344" y="2734056"/>
            <a:ext cx="704088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0" name="Text 78"/>
          <p:cNvSpPr/>
          <p:nvPr/>
        </p:nvSpPr>
        <p:spPr>
          <a:xfrm>
            <a:off x="2679192" y="269748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❌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602736" y="2734056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2" name="Text 80"/>
          <p:cNvSpPr/>
          <p:nvPr/>
        </p:nvSpPr>
        <p:spPr>
          <a:xfrm>
            <a:off x="3529584" y="269748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453128" y="2734056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4" name="Text 82"/>
          <p:cNvSpPr/>
          <p:nvPr/>
        </p:nvSpPr>
        <p:spPr>
          <a:xfrm>
            <a:off x="4379976" y="269748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5303520" y="2734056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6" name="Text 84"/>
          <p:cNvSpPr/>
          <p:nvPr/>
        </p:nvSpPr>
        <p:spPr>
          <a:xfrm>
            <a:off x="5230368" y="269748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153912" y="2734056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8" name="Text 86"/>
          <p:cNvSpPr/>
          <p:nvPr/>
        </p:nvSpPr>
        <p:spPr>
          <a:xfrm>
            <a:off x="6080760" y="269748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7004304" y="2734056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0" name="Text 88"/>
          <p:cNvSpPr/>
          <p:nvPr/>
        </p:nvSpPr>
        <p:spPr>
          <a:xfrm>
            <a:off x="6931152" y="269748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7854696" y="2734056"/>
            <a:ext cx="704088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2" name="Text 90"/>
          <p:cNvSpPr/>
          <p:nvPr/>
        </p:nvSpPr>
        <p:spPr>
          <a:xfrm>
            <a:off x="7781544" y="269748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❌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56032" y="3008376"/>
            <a:ext cx="8631936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9184" y="30083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Billing: Phí % doanh thu (Turnover)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2752344" y="3044952"/>
            <a:ext cx="704088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6" name="Text 94"/>
          <p:cNvSpPr/>
          <p:nvPr/>
        </p:nvSpPr>
        <p:spPr>
          <a:xfrm>
            <a:off x="2679192" y="3008376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❌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3602736" y="3044952"/>
            <a:ext cx="704088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8" name="Text 96"/>
          <p:cNvSpPr/>
          <p:nvPr/>
        </p:nvSpPr>
        <p:spPr>
          <a:xfrm>
            <a:off x="3529584" y="3008376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❌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4453128" y="3044952"/>
            <a:ext cx="704088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0" name="Text 98"/>
          <p:cNvSpPr/>
          <p:nvPr/>
        </p:nvSpPr>
        <p:spPr>
          <a:xfrm>
            <a:off x="4379976" y="3008376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❌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5303520" y="3044952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2" name="Text 100"/>
          <p:cNvSpPr/>
          <p:nvPr/>
        </p:nvSpPr>
        <p:spPr>
          <a:xfrm>
            <a:off x="5230368" y="3008376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6153912" y="3044952"/>
            <a:ext cx="704088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4" name="Text 102"/>
          <p:cNvSpPr/>
          <p:nvPr/>
        </p:nvSpPr>
        <p:spPr>
          <a:xfrm>
            <a:off x="6080760" y="3008376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❌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7004304" y="3044952"/>
            <a:ext cx="704088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6" name="Text 104"/>
          <p:cNvSpPr/>
          <p:nvPr/>
        </p:nvSpPr>
        <p:spPr>
          <a:xfrm>
            <a:off x="6931152" y="3008376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❌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7854696" y="3044952"/>
            <a:ext cx="704088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8" name="Text 106"/>
          <p:cNvSpPr/>
          <p:nvPr/>
        </p:nvSpPr>
        <p:spPr>
          <a:xfrm>
            <a:off x="7781544" y="3008376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❌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256032" y="3319272"/>
            <a:ext cx="86319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29184" y="33192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Quản lý Nhà cung cấp (NCC)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2752344" y="3355848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2" name="Text 110"/>
          <p:cNvSpPr/>
          <p:nvPr/>
        </p:nvSpPr>
        <p:spPr>
          <a:xfrm>
            <a:off x="2679192" y="331927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3602736" y="3355848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4" name="Text 112"/>
          <p:cNvSpPr/>
          <p:nvPr/>
        </p:nvSpPr>
        <p:spPr>
          <a:xfrm>
            <a:off x="3529584" y="331927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4453128" y="3355848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6" name="Text 114"/>
          <p:cNvSpPr/>
          <p:nvPr/>
        </p:nvSpPr>
        <p:spPr>
          <a:xfrm>
            <a:off x="4379976" y="331927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5303520" y="3355848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8" name="Text 116"/>
          <p:cNvSpPr/>
          <p:nvPr/>
        </p:nvSpPr>
        <p:spPr>
          <a:xfrm>
            <a:off x="5230368" y="331927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6153912" y="3355848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0" name="Text 118"/>
          <p:cNvSpPr/>
          <p:nvPr/>
        </p:nvSpPr>
        <p:spPr>
          <a:xfrm>
            <a:off x="6080760" y="331927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7004304" y="3355848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2" name="Text 120"/>
          <p:cNvSpPr/>
          <p:nvPr/>
        </p:nvSpPr>
        <p:spPr>
          <a:xfrm>
            <a:off x="6931152" y="331927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7854696" y="3355848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4" name="Text 122"/>
          <p:cNvSpPr/>
          <p:nvPr/>
        </p:nvSpPr>
        <p:spPr>
          <a:xfrm>
            <a:off x="7781544" y="331927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256032" y="3630168"/>
            <a:ext cx="8631936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29184" y="3630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Thanh toán: App Timi / MSB Pay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2752344" y="3666744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8" name="Text 126"/>
          <p:cNvSpPr/>
          <p:nvPr/>
        </p:nvSpPr>
        <p:spPr>
          <a:xfrm>
            <a:off x="2679192" y="363016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3602736" y="3666744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0" name="Text 128"/>
          <p:cNvSpPr/>
          <p:nvPr/>
        </p:nvSpPr>
        <p:spPr>
          <a:xfrm>
            <a:off x="3529584" y="363016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131" name="Shape 129"/>
          <p:cNvSpPr/>
          <p:nvPr/>
        </p:nvSpPr>
        <p:spPr>
          <a:xfrm>
            <a:off x="4453128" y="3666744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2" name="Text 130"/>
          <p:cNvSpPr/>
          <p:nvPr/>
        </p:nvSpPr>
        <p:spPr>
          <a:xfrm>
            <a:off x="4379976" y="363016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5303520" y="3666744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4" name="Text 132"/>
          <p:cNvSpPr/>
          <p:nvPr/>
        </p:nvSpPr>
        <p:spPr>
          <a:xfrm>
            <a:off x="5230368" y="363016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6153912" y="3666744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6" name="Text 134"/>
          <p:cNvSpPr/>
          <p:nvPr/>
        </p:nvSpPr>
        <p:spPr>
          <a:xfrm>
            <a:off x="6080760" y="363016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7004304" y="3666744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8" name="Text 136"/>
          <p:cNvSpPr/>
          <p:nvPr/>
        </p:nvSpPr>
        <p:spPr>
          <a:xfrm>
            <a:off x="6931152" y="363016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7854696" y="3666744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0" name="Text 138"/>
          <p:cNvSpPr/>
          <p:nvPr/>
        </p:nvSpPr>
        <p:spPr>
          <a:xfrm>
            <a:off x="7781544" y="363016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256032" y="3941064"/>
            <a:ext cx="86319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29184" y="394106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Multi-tenant (nhiều dự án)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2752344" y="3977640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4" name="Text 142"/>
          <p:cNvSpPr/>
          <p:nvPr/>
        </p:nvSpPr>
        <p:spPr>
          <a:xfrm>
            <a:off x="2679192" y="3941064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>
            <a:off x="3602736" y="3977640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6" name="Text 144"/>
          <p:cNvSpPr/>
          <p:nvPr/>
        </p:nvSpPr>
        <p:spPr>
          <a:xfrm>
            <a:off x="3529584" y="3941064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4453128" y="3977640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8" name="Text 146"/>
          <p:cNvSpPr/>
          <p:nvPr/>
        </p:nvSpPr>
        <p:spPr>
          <a:xfrm>
            <a:off x="4379976" y="3941064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49" name="Shape 147"/>
          <p:cNvSpPr/>
          <p:nvPr/>
        </p:nvSpPr>
        <p:spPr>
          <a:xfrm>
            <a:off x="5303520" y="3977640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0" name="Text 148"/>
          <p:cNvSpPr/>
          <p:nvPr/>
        </p:nvSpPr>
        <p:spPr>
          <a:xfrm>
            <a:off x="5230368" y="3941064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51" name="Shape 149"/>
          <p:cNvSpPr/>
          <p:nvPr/>
        </p:nvSpPr>
        <p:spPr>
          <a:xfrm>
            <a:off x="6153912" y="3977640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2" name="Text 150"/>
          <p:cNvSpPr/>
          <p:nvPr/>
        </p:nvSpPr>
        <p:spPr>
          <a:xfrm>
            <a:off x="6080760" y="3941064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53" name="Shape 151"/>
          <p:cNvSpPr/>
          <p:nvPr/>
        </p:nvSpPr>
        <p:spPr>
          <a:xfrm>
            <a:off x="7004304" y="3977640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4" name="Text 152"/>
          <p:cNvSpPr/>
          <p:nvPr/>
        </p:nvSpPr>
        <p:spPr>
          <a:xfrm>
            <a:off x="6931152" y="3941064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55" name="Shape 153"/>
          <p:cNvSpPr/>
          <p:nvPr/>
        </p:nvSpPr>
        <p:spPr>
          <a:xfrm>
            <a:off x="7854696" y="3977640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6" name="Text 154"/>
          <p:cNvSpPr/>
          <p:nvPr/>
        </p:nvSpPr>
        <p:spPr>
          <a:xfrm>
            <a:off x="7781544" y="3941064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256032" y="4251960"/>
            <a:ext cx="8631936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29184" y="4251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Báo cáo tách biệt theo dự án</a:t>
            </a:r>
            <a:endParaRPr lang="en-US" sz="850" dirty="0"/>
          </a:p>
        </p:txBody>
      </p:sp>
      <p:sp>
        <p:nvSpPr>
          <p:cNvPr id="159" name="Shape 157"/>
          <p:cNvSpPr/>
          <p:nvPr/>
        </p:nvSpPr>
        <p:spPr>
          <a:xfrm>
            <a:off x="2752344" y="4288536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0" name="Text 158"/>
          <p:cNvSpPr/>
          <p:nvPr/>
        </p:nvSpPr>
        <p:spPr>
          <a:xfrm>
            <a:off x="2679192" y="425196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3602736" y="4288536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2" name="Text 160"/>
          <p:cNvSpPr/>
          <p:nvPr/>
        </p:nvSpPr>
        <p:spPr>
          <a:xfrm>
            <a:off x="3529584" y="425196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4453128" y="4288536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4" name="Text 162"/>
          <p:cNvSpPr/>
          <p:nvPr/>
        </p:nvSpPr>
        <p:spPr>
          <a:xfrm>
            <a:off x="4379976" y="425196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65" name="Shape 163"/>
          <p:cNvSpPr/>
          <p:nvPr/>
        </p:nvSpPr>
        <p:spPr>
          <a:xfrm>
            <a:off x="5303520" y="4288536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6" name="Text 164"/>
          <p:cNvSpPr/>
          <p:nvPr/>
        </p:nvSpPr>
        <p:spPr>
          <a:xfrm>
            <a:off x="5230368" y="425196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67" name="Shape 165"/>
          <p:cNvSpPr/>
          <p:nvPr/>
        </p:nvSpPr>
        <p:spPr>
          <a:xfrm>
            <a:off x="6153912" y="4288536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8" name="Text 166"/>
          <p:cNvSpPr/>
          <p:nvPr/>
        </p:nvSpPr>
        <p:spPr>
          <a:xfrm>
            <a:off x="6080760" y="425196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69" name="Shape 167"/>
          <p:cNvSpPr/>
          <p:nvPr/>
        </p:nvSpPr>
        <p:spPr>
          <a:xfrm>
            <a:off x="7004304" y="4288536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0" name="Text 168"/>
          <p:cNvSpPr/>
          <p:nvPr/>
        </p:nvSpPr>
        <p:spPr>
          <a:xfrm>
            <a:off x="6931152" y="425196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71" name="Shape 169"/>
          <p:cNvSpPr/>
          <p:nvPr/>
        </p:nvSpPr>
        <p:spPr>
          <a:xfrm>
            <a:off x="7854696" y="4288536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2" name="Text 170"/>
          <p:cNvSpPr/>
          <p:nvPr/>
        </p:nvSpPr>
        <p:spPr>
          <a:xfrm>
            <a:off x="7781544" y="425196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73" name="Shape 171"/>
          <p:cNvSpPr/>
          <p:nvPr/>
        </p:nvSpPr>
        <p:spPr>
          <a:xfrm>
            <a:off x="256032" y="4562856"/>
            <a:ext cx="86319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329184" y="45628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Mô hình B2B (Chủ ĐT thuê TNPM)</a:t>
            </a:r>
            <a:endParaRPr lang="en-US" sz="850" dirty="0"/>
          </a:p>
        </p:txBody>
      </p:sp>
      <p:sp>
        <p:nvSpPr>
          <p:cNvPr id="175" name="Shape 173"/>
          <p:cNvSpPr/>
          <p:nvPr/>
        </p:nvSpPr>
        <p:spPr>
          <a:xfrm>
            <a:off x="2752344" y="4599432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6" name="Text 174"/>
          <p:cNvSpPr/>
          <p:nvPr/>
        </p:nvSpPr>
        <p:spPr>
          <a:xfrm>
            <a:off x="2679192" y="4562856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77" name="Shape 175"/>
          <p:cNvSpPr/>
          <p:nvPr/>
        </p:nvSpPr>
        <p:spPr>
          <a:xfrm>
            <a:off x="3602736" y="4599432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8" name="Text 176"/>
          <p:cNvSpPr/>
          <p:nvPr/>
        </p:nvSpPr>
        <p:spPr>
          <a:xfrm>
            <a:off x="3529584" y="4562856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179" name="Shape 177"/>
          <p:cNvSpPr/>
          <p:nvPr/>
        </p:nvSpPr>
        <p:spPr>
          <a:xfrm>
            <a:off x="4453128" y="4599432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0" name="Text 178"/>
          <p:cNvSpPr/>
          <p:nvPr/>
        </p:nvSpPr>
        <p:spPr>
          <a:xfrm>
            <a:off x="4379976" y="4562856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181" name="Shape 179"/>
          <p:cNvSpPr/>
          <p:nvPr/>
        </p:nvSpPr>
        <p:spPr>
          <a:xfrm>
            <a:off x="5303520" y="4599432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2" name="Text 180"/>
          <p:cNvSpPr/>
          <p:nvPr/>
        </p:nvSpPr>
        <p:spPr>
          <a:xfrm>
            <a:off x="5230368" y="4562856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183" name="Shape 181"/>
          <p:cNvSpPr/>
          <p:nvPr/>
        </p:nvSpPr>
        <p:spPr>
          <a:xfrm>
            <a:off x="6153912" y="4599432"/>
            <a:ext cx="70408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4" name="Text 182"/>
          <p:cNvSpPr/>
          <p:nvPr/>
        </p:nvSpPr>
        <p:spPr>
          <a:xfrm>
            <a:off x="6080760" y="4562856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⚠️</a:t>
            </a:r>
            <a:endParaRPr lang="en-US" sz="1100" dirty="0"/>
          </a:p>
        </p:txBody>
      </p:sp>
      <p:sp>
        <p:nvSpPr>
          <p:cNvPr id="185" name="Shape 183"/>
          <p:cNvSpPr/>
          <p:nvPr/>
        </p:nvSpPr>
        <p:spPr>
          <a:xfrm>
            <a:off x="7004304" y="4599432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6" name="Text 184"/>
          <p:cNvSpPr/>
          <p:nvPr/>
        </p:nvSpPr>
        <p:spPr>
          <a:xfrm>
            <a:off x="6931152" y="4562856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187" name="Shape 185"/>
          <p:cNvSpPr/>
          <p:nvPr/>
        </p:nvSpPr>
        <p:spPr>
          <a:xfrm>
            <a:off x="7854696" y="4599432"/>
            <a:ext cx="70408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8" name="Text 186"/>
          <p:cNvSpPr/>
          <p:nvPr/>
        </p:nvSpPr>
        <p:spPr>
          <a:xfrm>
            <a:off x="7781544" y="4562856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Phân tích Gap Chi tiết &amp; Khuyến nghị Mở rộng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C"/>
                </a:solidFill>
              </a:rPr>
              <a:t>Gap Details &amp; Extension Recommendations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</a:rPr>
              <a:t>© 2026 </a:t>
            </a:r>
            <a:r>
              <a:rPr lang="en-US" sz="750" dirty="0">
                <a:solidFill>
                  <a:srgbClr val="E2E8F0"/>
                </a:solidFill>
              </a:rPr>
              <a:t>TNPM – ROX Key | Property Management Platform HLD v2.0 | TOGAF-aligned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978408"/>
            <a:ext cx="863193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978408"/>
            <a:ext cx="54864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0" y="1051560"/>
            <a:ext cx="594360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10515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CAO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4048" y="10149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</a:rPr>
              <a:t>Billing: Phí thuê mặt bằng (Rent)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1225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C2626"/>
                </a:solidFill>
              </a:rPr>
              <a:t>Ảnh hưởng: Văn phòng, KCN, TTTM, Khu HC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11880" y="101498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</a:rPr>
              <a:t>❗ Hiện Billing Engine chỉ hỗ trợ phí dịch vụ định kỳ. Chưa có module quản lý hợp đồng thuê với điều khoản rent review, escalation clause, deposit.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6053328" y="1014984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47857"/>
                </a:solidFill>
              </a:rPr>
              <a:t>💡 Thêm sub-module Lease Management: hợp đồng thuê, lịch tăng giá, tiền cọc, gia hạn tự động.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256032" y="1773936"/>
            <a:ext cx="863193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1773936"/>
            <a:ext cx="54864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1847088"/>
            <a:ext cx="594360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18470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CAO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4048" y="1810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</a:rPr>
              <a:t>Billing: Phí % Doanh thu (Turnover Rent)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" y="20208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C2626"/>
                </a:solidFill>
              </a:rPr>
              <a:t>Ảnh hưởng: TTTM (Trung tâm thương mại)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11880" y="18105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</a:rPr>
              <a:t>❗ TTTM tính phí theo % doanh thu của tenant. Cần POS integration hoặc nhập báo cáo doanh thu từ tenant để tính phí.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6053328" y="1810512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47857"/>
                </a:solidFill>
              </a:rPr>
              <a:t>💡 Phát triển Turnover Rent module: tenant tự submit doanh thu → hệ thống tính phí → bill; hoặc tích hợp POS.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256032" y="2569464"/>
            <a:ext cx="863193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569464"/>
            <a:ext cx="54864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0" y="2642616"/>
            <a:ext cx="594360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264261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CAO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84048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</a:rPr>
              <a:t>Quản lý Nhà cung cấp (Vendor Mgmt)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4048" y="2816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C2626"/>
                </a:solidFill>
              </a:rPr>
              <a:t>Ảnh hưởng: Tất cả 7 loại hình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11880" y="26060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</a:rPr>
              <a:t>❗ Chưa có module: danh mục NCC, hợp đồng NCC, đánh giá KPI, luồng phê duyệt thanh toán NCC.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6053328" y="260604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47857"/>
                </a:solidFill>
              </a:rPr>
              <a:t>💡 Thêm phân hệ Vendor Management đầy đủ (chi tiết slide tiếp theo).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56032" y="3364992"/>
            <a:ext cx="863193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364992"/>
            <a:ext cx="54864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0" y="3438144"/>
            <a:ext cx="594360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0" y="343814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CAO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84048" y="34015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</a:rPr>
              <a:t>Multi-tenant Architecture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4048" y="3611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C2626"/>
                </a:solidFill>
              </a:rPr>
              <a:t>Ảnh hưởng: Toàn bộ – TNPM quản lý nhiều dự án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11880" y="340156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</a:rPr>
              <a:t>❗ Hiện thiết kế đơn tenant (1 tòa nhà). TNPM cần 1 platform quản lý nhiều project với data isolation, phân quyền theo project, báo cáo tổng hợp.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6053328" y="340156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47857"/>
                </a:solidFill>
              </a:rPr>
              <a:t>💡 Redesign core với Project/Portfolio layer: mỗi project là 1 tenant, shared master data, consolidated reporting.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256032" y="4160520"/>
            <a:ext cx="863193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6032" y="4160520"/>
            <a:ext cx="54864" cy="7315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1" name="Shape 39"/>
          <p:cNvSpPr/>
          <p:nvPr/>
        </p:nvSpPr>
        <p:spPr>
          <a:xfrm>
            <a:off x="8229600" y="4233672"/>
            <a:ext cx="594360" cy="21945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0" y="42336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TRUNG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84048" y="41970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</a:rPr>
              <a:t>Báo cáo tài chính tách biệt theo dự án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84048" y="44074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A580C"/>
                </a:solidFill>
              </a:rPr>
              <a:t>Ảnh hưởng: Mô hình B2B – Chủ ĐT cần P&amp;L riêng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611880" y="419709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</a:rPr>
              <a:t>❗ Báo cáo hiện tại là tổng hợp. Chủ đầu tư mỗi dự án cần P&amp;L, công nợ, lịch sử thanh toán riêng.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6053328" y="419709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47857"/>
                </a:solidFill>
              </a:rPr>
              <a:t>💡 Multi-dimension reporting: theo project, theo loại phí, theo giai đoạn; export cho từng chủ đầu tư.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Phân hệ Quản lý Nhà cung cấp (Vendor Management)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C"/>
                </a:solidFill>
              </a:rPr>
              <a:t>NEW Module – Core cho mô hình TNPM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</a:rPr>
              <a:t>© 2026 </a:t>
            </a:r>
            <a:r>
              <a:rPr lang="en-US" sz="750" dirty="0">
                <a:solidFill>
                  <a:srgbClr val="E2E8F0"/>
                </a:solidFill>
              </a:rPr>
              <a:t>TNPM – ROX Key | Property Management Platform HLD v2.0 | TOGAF-aligned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969264"/>
            <a:ext cx="8631936" cy="34747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969264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🏭  VENDOR MANAGEMENT MODULE – Quản lý toàn chu kỳ Nhà cung cấp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20574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389888"/>
            <a:ext cx="2057400" cy="4114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" y="13898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1. Danh mục &amp; Hồ sơ NCC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865376"/>
            <a:ext cx="182880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Thông tin NCC: tên, MST, địa chỉ, liên hệ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Loại dịch vụ: bảo trì, vệ sinh, bảo vệ, thang máy, PCCC...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Chứng chỉ / giấy phép hành nghề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Trạng thái: Đang hoạt động / Tạm dừng / Blacklist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Lịch sử hợp tác &amp; điểm đánh giá tổng hợp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32304" y="1389888"/>
            <a:ext cx="20574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32304" y="1389888"/>
            <a:ext cx="205740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2432304" y="13898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2. Hợp đồng NCC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42032" y="1865376"/>
            <a:ext cx="182880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Hợp đồng theo dự án / loại dịch vụ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Giá trị HĐ, điều khoản thanh toán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SLA cam kết: thời gian xử lý, tỷ lệ hoàn thành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Đính kèm file HĐ, phụ lục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Cảnh báo hết hạn &amp; gia hạn tự động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08576" y="1389888"/>
            <a:ext cx="20574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1389888"/>
            <a:ext cx="20574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608576" y="13898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3. Đánh giá &amp; KPI NCC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18304" y="1865376"/>
            <a:ext cx="182880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Đánh giá sau mỗi công việc: chất lượng, tiến độ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KPI tổng hợp: điểm trung bình, tỷ lệ SLA met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So sánh NCC cùng loại dịch vụ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Dashboard hiệu suất NCC theo kỳ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Cơ chế cảnh báo NCC dưới ngưỡng KPI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84848" y="1389888"/>
            <a:ext cx="20574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84848" y="1389888"/>
            <a:ext cx="2057400" cy="4114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3" name="Text 21"/>
          <p:cNvSpPr/>
          <p:nvPr/>
        </p:nvSpPr>
        <p:spPr>
          <a:xfrm>
            <a:off x="6784848" y="13898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4. Luồng Thanh toán NCC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94576" y="1865376"/>
            <a:ext cx="182880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Yêu cầu thanh toán từ NCC (invoice)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3-way match: PO → Biên bản nghiệm thu → Invoice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Phê duyệt đa cấp (KST → QLDA → Kế toán)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Thanh toán qua ngân hàng / chuyển khoản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Ghi nhận chi phí vào báo cáo từng dự án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313432" y="288036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89704" y="288036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65976" y="288036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Luồng nghiệp vụ Quản lý Nhà cung cấp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C"/>
                </a:solidFill>
              </a:rPr>
              <a:t>Vendor Management – End-to-End Process 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</a:rPr>
              <a:t>© 2026 </a:t>
            </a:r>
            <a:r>
              <a:rPr lang="en-US" sz="750" dirty="0">
                <a:solidFill>
                  <a:srgbClr val="E2E8F0"/>
                </a:solidFill>
              </a:rPr>
              <a:t>TNPM – ROX Key | Property Management Platform HLD v2.0 | TOGAF-aligned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1005840"/>
            <a:ext cx="1389888" cy="1005840"/>
          </a:xfrm>
          <a:prstGeom prst="rect">
            <a:avLst/>
          </a:prstGeom>
          <a:solidFill>
            <a:srgbClr val="4338C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7629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" y="1005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Lựa chọn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NCC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" y="167335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0E0E6"/>
                </a:solidFill>
              </a:rPr>
              <a:t>Đấu thầu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B0E0E6"/>
                </a:solidFill>
              </a:rPr>
              <a:t>Chỉ định thầu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45920" y="141732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19072" y="1005840"/>
            <a:ext cx="1389888" cy="10058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0669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19072" y="1005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Ký Hợp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đồng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19072" y="167335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0E0E6"/>
                </a:solidFill>
              </a:rPr>
              <a:t>Đàm phán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B0E0E6"/>
                </a:solidFill>
              </a:rPr>
              <a:t>SLA, giá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141732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182112" y="1005840"/>
            <a:ext cx="1389888" cy="1005840"/>
          </a:xfrm>
          <a:prstGeom prst="rect">
            <a:avLst/>
          </a:prstGeom>
          <a:solidFill>
            <a:srgbClr val="0D7F8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83709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82112" y="1005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Phân công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Công việc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82112" y="167335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0E0E6"/>
                </a:solidFill>
              </a:rPr>
              <a:t>Gắn task từ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B0E0E6"/>
                </a:solidFill>
              </a:rPr>
              <a:t>Service Request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141732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45152" y="1005840"/>
            <a:ext cx="1389888" cy="1005840"/>
          </a:xfrm>
          <a:prstGeom prst="rect">
            <a:avLst/>
          </a:prstGeom>
          <a:solidFill>
            <a:srgbClr val="EA580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46749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45152" y="1005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Theo dõi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Thực hiện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45152" y="167335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0E0E6"/>
                </a:solidFill>
              </a:rPr>
              <a:t>Status, ảnh,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B0E0E6"/>
                </a:solidFill>
              </a:rPr>
              <a:t>check-in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35040" y="141732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08192" y="1005840"/>
            <a:ext cx="1389888" cy="1005840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09789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08192" y="1005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Nghiệm thu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&amp; Đánh giá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08192" y="167335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0E0E6"/>
                </a:solidFill>
              </a:rPr>
              <a:t>KPI, biên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B0E0E6"/>
                </a:solidFill>
              </a:rPr>
              <a:t>bản xác nhận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498080" y="141732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571232" y="1005840"/>
            <a:ext cx="1389888" cy="1005840"/>
          </a:xfrm>
          <a:prstGeom prst="rect">
            <a:avLst/>
          </a:prstGeom>
          <a:solidFill>
            <a:srgbClr val="04785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672829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571232" y="1005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Thanh toán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NCC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571232" y="167335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0E0E6"/>
                </a:solidFill>
              </a:rPr>
              <a:t>Invoice →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B0E0E6"/>
                </a:solidFill>
              </a:rPr>
              <a:t>Approve → Pay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2148840"/>
            <a:ext cx="8631936" cy="29260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7" name="Text 35"/>
          <p:cNvSpPr/>
          <p:nvPr/>
        </p:nvSpPr>
        <p:spPr>
          <a:xfrm>
            <a:off x="256032" y="2148840"/>
            <a:ext cx="8631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Phân quyền trong luồng Vendor Management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" y="2496312"/>
            <a:ext cx="205740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56032" y="2496312"/>
            <a:ext cx="2057400" cy="3657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0" name="Text 38"/>
          <p:cNvSpPr/>
          <p:nvPr/>
        </p:nvSpPr>
        <p:spPr>
          <a:xfrm>
            <a:off x="256032" y="24963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BQL / QLDA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2907792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Phê duyệt lựa chọn NCC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Ký hợp đồng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Nghiệm thu cuối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432304" y="2496312"/>
            <a:ext cx="205740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432304" y="2496312"/>
            <a:ext cx="2057400" cy="36576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44" name="Text 42"/>
          <p:cNvSpPr/>
          <p:nvPr/>
        </p:nvSpPr>
        <p:spPr>
          <a:xfrm>
            <a:off x="2432304" y="24963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KST / Kỹ thuật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542032" y="2907792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Phân công task cho NCC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Theo dõi tiến độ thực tế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Nghiệm thu hiện trường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08576" y="2496312"/>
            <a:ext cx="205740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08576" y="2496312"/>
            <a:ext cx="205740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4608576" y="24963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Kế toán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18304" y="2907792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Nhận invoice từ NCC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Xác nhận 3-way match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Thực hiện thanh toán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84848" y="2496312"/>
            <a:ext cx="205740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784848" y="2496312"/>
            <a:ext cx="205740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2" name="Text 50"/>
          <p:cNvSpPr/>
          <p:nvPr/>
        </p:nvSpPr>
        <p:spPr>
          <a:xfrm>
            <a:off x="6784848" y="24963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NCC (Portal)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94576" y="2907792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Nhận thông báo công việc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Cập nhật trạng thái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Gửi invoice qua app/portal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Đặc điểm nghiệp vụ theo từng loại hình bất động sản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C"/>
                </a:solidFill>
              </a:rPr>
              <a:t>Property Type Business Characteristics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</a:rPr>
              <a:t>© 2026 </a:t>
            </a:r>
            <a:r>
              <a:rPr lang="en-US" sz="750" dirty="0">
                <a:solidFill>
                  <a:srgbClr val="E2E8F0"/>
                </a:solidFill>
              </a:rPr>
              <a:t>TNPM – ROX Key | Property Management Platform HLD v2.0 | TOGAF-aligned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969264"/>
            <a:ext cx="141732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969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Loại hình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73352" y="969264"/>
            <a:ext cx="91440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0" name="Text 8"/>
          <p:cNvSpPr/>
          <p:nvPr/>
        </p:nvSpPr>
        <p:spPr>
          <a:xfrm>
            <a:off x="1673352" y="96926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Khách hàng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87752" y="969264"/>
            <a:ext cx="150876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2587752" y="96926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Cơ cấu phí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096512" y="969264"/>
            <a:ext cx="100584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4" name="Text 12"/>
          <p:cNvSpPr/>
          <p:nvPr/>
        </p:nvSpPr>
        <p:spPr>
          <a:xfrm>
            <a:off x="4096512" y="96926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Thanh toán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102352" y="969264"/>
            <a:ext cx="155448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6" name="Text 14"/>
          <p:cNvSpPr/>
          <p:nvPr/>
        </p:nvSpPr>
        <p:spPr>
          <a:xfrm>
            <a:off x="5102352" y="9692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Điểm đặc thù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56832" y="969264"/>
            <a:ext cx="118872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8" name="Text 16"/>
          <p:cNvSpPr/>
          <p:nvPr/>
        </p:nvSpPr>
        <p:spPr>
          <a:xfrm>
            <a:off x="6656832" y="9692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Nhà cung cấp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845552" y="969264"/>
            <a:ext cx="82296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0" name="Text 18"/>
          <p:cNvSpPr/>
          <p:nvPr/>
        </p:nvSpPr>
        <p:spPr>
          <a:xfrm>
            <a:off x="7845552" y="96926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Độ phù hợp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6032" y="1344168"/>
            <a:ext cx="8631936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1399032"/>
            <a:ext cx="45720" cy="347472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134416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F8C"/>
                </a:solidFill>
              </a:rPr>
              <a:t>🏢 Chung cư /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D7F8C"/>
                </a:solidFill>
              </a:rPr>
              <a:t>Khu dân cư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673352" y="1344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</a:rPr>
              <a:t>Cư dân (B2C)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2633472" y="1344168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Điện, nước, phí QL, phí xe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133088" y="1344168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App Timi, MSB, tiền mặt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148072" y="134416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Nhiều hộ/tầng, tính phí hàng loạt, gạch nợ auto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693408" y="1344168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Vệ sinh, bảo vệ, bảo trì thang máy, PCCC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900416" y="1435608"/>
            <a:ext cx="713232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7900416" y="143560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✅ HIGH FIT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56032" y="1847088"/>
            <a:ext cx="863193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1901952"/>
            <a:ext cx="45720" cy="34747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" y="184708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B4A"/>
                </a:solidFill>
              </a:rPr>
              <a:t>🏬 Văn phòng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1A2B4A"/>
                </a:solidFill>
              </a:rPr>
              <a:t>cho thuê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673352" y="18470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</a:rPr>
              <a:t>Doanh nghiệp (B2B)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633472" y="1847088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Phí thuê + dịch vụ (điện, nước, AC ngoài giờ)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133088" y="1847088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Chuyển khoản, invoice NET30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148072" y="18470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Lease management, deposit, rent escalation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693408" y="1847088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Vệ sinh, bảo vệ, M&amp;E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900416" y="1938528"/>
            <a:ext cx="71323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7900416" y="193852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⚠️ MED FIT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56032" y="2350008"/>
            <a:ext cx="8631936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" y="2404872"/>
            <a:ext cx="45720" cy="3474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3" name="Text 41"/>
          <p:cNvSpPr/>
          <p:nvPr/>
        </p:nvSpPr>
        <p:spPr>
          <a:xfrm>
            <a:off x="347472" y="235000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A580C"/>
                </a:solidFill>
              </a:rPr>
              <a:t>🏭 Khu công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EA580C"/>
                </a:solidFill>
              </a:rPr>
              <a:t>nghiệp (IPC)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673352" y="23500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</a:rPr>
              <a:t>Doanh nghiệp SX (B2B)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2633472" y="2350008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Phí thuê nhà xưởng, hạ tầng, điện 3 pha, nước công nghiệp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133088" y="2350008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Chuyển khoản, định kỳ theo HĐ dài hạn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148072" y="235000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Công tơ riêng theo lô, kiểm soát xe tải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693408" y="2350008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Xử lý nước thải, M&amp;E công nghiệp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900416" y="2441448"/>
            <a:ext cx="71323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7900416" y="244144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⚠️ MED FIT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56032" y="2852928"/>
            <a:ext cx="863193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6032" y="2907792"/>
            <a:ext cx="4572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3" name="Text 51"/>
          <p:cNvSpPr/>
          <p:nvPr/>
        </p:nvSpPr>
        <p:spPr>
          <a:xfrm>
            <a:off x="347472" y="285292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</a:rPr>
              <a:t>🛍️ Trung tâm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</a:rPr>
              <a:t>thương mại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673352" y="28529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</a:rPr>
              <a:t>Tenant bán lẻ (B2B)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2633472" y="2852928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Phí thuê + % doanh thu (Turnover Rent) + CAM charges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133088" y="2852928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Chuyển khoản, báo cáo doanh thu hàng tháng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148072" y="285292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Turnover rent cần POS data, quản lý common area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693408" y="2852928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Vệ sinh CAM, bảo vệ, marketing sự kiện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900416" y="2944368"/>
            <a:ext cx="713232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0" name="Text 58"/>
          <p:cNvSpPr/>
          <p:nvPr/>
        </p:nvSpPr>
        <p:spPr>
          <a:xfrm>
            <a:off x="7900416" y="29443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❌ LOW FIT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56032" y="3355848"/>
            <a:ext cx="8631936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56032" y="3410712"/>
            <a:ext cx="4572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3" name="Text 61"/>
          <p:cNvSpPr/>
          <p:nvPr/>
        </p:nvSpPr>
        <p:spPr>
          <a:xfrm>
            <a:off x="347472" y="335584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🏡 Nhà ở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thấp tầng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673352" y="3355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</a:rPr>
              <a:t>Cư dân (B2C)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2633472" y="3355848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Phí QL khu vực, điện nước riêng, phí amenity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133088" y="3355848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App, chuyển khoản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148072" y="335584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Diện tích phân tán, bảo trì theo lô riêng lẻ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693408" y="3355848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Cảnh quan, vệ sinh đường nội khu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7900416" y="3447288"/>
            <a:ext cx="713232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0" name="Text 68"/>
          <p:cNvSpPr/>
          <p:nvPr/>
        </p:nvSpPr>
        <p:spPr>
          <a:xfrm>
            <a:off x="7900416" y="34472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✅ HIGH FIT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256032" y="3858768"/>
            <a:ext cx="863193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56032" y="3913632"/>
            <a:ext cx="45720" cy="34747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73" name="Text 71"/>
          <p:cNvSpPr/>
          <p:nvPr/>
        </p:nvSpPr>
        <p:spPr>
          <a:xfrm>
            <a:off x="347472" y="385876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338CA"/>
                </a:solidFill>
              </a:rPr>
              <a:t>🏛️ Khu liên cơ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4338CA"/>
                </a:solidFill>
              </a:rPr>
              <a:t>quan HC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673352" y="38587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</a:rPr>
              <a:t>Cơ quan nhà nước (B2G)</a:t>
            </a:r>
            <a:endParaRPr lang="en-US" sz="780" dirty="0"/>
          </a:p>
        </p:txBody>
      </p:sp>
      <p:sp>
        <p:nvSpPr>
          <p:cNvPr id="75" name="Text 73"/>
          <p:cNvSpPr/>
          <p:nvPr/>
        </p:nvSpPr>
        <p:spPr>
          <a:xfrm>
            <a:off x="2633472" y="3858768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Phí vận hành theo ngân sách duyệt, không có doanh thu thuê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4133088" y="3858768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Thanh toán kho bạc / ngân sách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5148072" y="385876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Tuân thủ quy định nhà nước, thủ tục phê duyệt phức tạp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693408" y="3858768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Vệ sinh, bảo vệ, kỹ thuật theo đấu thầu công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7900416" y="3950208"/>
            <a:ext cx="713232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0" name="Text 78"/>
          <p:cNvSpPr/>
          <p:nvPr/>
        </p:nvSpPr>
        <p:spPr>
          <a:xfrm>
            <a:off x="7900416" y="395020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❌ LOW FIT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256032" y="4361688"/>
            <a:ext cx="8631936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56032" y="4416552"/>
            <a:ext cx="45720" cy="3474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3" name="Text 81"/>
          <p:cNvSpPr/>
          <p:nvPr/>
        </p:nvSpPr>
        <p:spPr>
          <a:xfrm>
            <a:off x="347472" y="436168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45309"/>
                </a:solidFill>
              </a:rPr>
              <a:t>🔧 Dịch vụ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B45309"/>
                </a:solidFill>
              </a:rPr>
              <a:t>tiện ích đơn lẻ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1673352" y="4361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</a:rPr>
              <a:t>Khách hàng vãng lai / HĐ ngắn hạn</a:t>
            </a:r>
            <a:endParaRPr lang="en-US" sz="780" dirty="0"/>
          </a:p>
        </p:txBody>
      </p:sp>
      <p:sp>
        <p:nvSpPr>
          <p:cNvPr id="85" name="Text 83"/>
          <p:cNvSpPr/>
          <p:nvPr/>
        </p:nvSpPr>
        <p:spPr>
          <a:xfrm>
            <a:off x="2633472" y="4361688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Tính phí theo lần hoặc gói dịch vụ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4133088" y="4361688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Tiền mặt, chuyển khoản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5148072" y="43616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Không có hợp đồng dài hạn, dispatch nhanh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693408" y="4361688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Chính TNPM là nhà cung cấp dịch vụ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7900416" y="4453128"/>
            <a:ext cx="71323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0" name="Text 88"/>
          <p:cNvSpPr/>
          <p:nvPr/>
        </p:nvSpPr>
        <p:spPr>
          <a:xfrm>
            <a:off x="7900416" y="445312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⚠️ MED FIT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Mapping Module: Dùng chung vs Mở rộng theo loại hình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C"/>
                </a:solidFill>
              </a:rPr>
              <a:t>Module Reuse &amp; Extension Strategy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</a:rPr>
              <a:t>© 2026 </a:t>
            </a:r>
            <a:r>
              <a:rPr lang="en-US" sz="750" dirty="0">
                <a:solidFill>
                  <a:srgbClr val="E2E8F0"/>
                </a:solidFill>
              </a:rPr>
              <a:t>TNPM – ROX Key | Property Management Platform HLD v2.0 | TOGAF-aligned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2011680" cy="256032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987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🟦 Core – Dùng chung 100%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987552"/>
            <a:ext cx="20116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450592" y="987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🟨 Extended – Cấu hình thêm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45152" y="987552"/>
            <a:ext cx="201168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987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🟥 New – Phát triển mới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39712" y="987552"/>
            <a:ext cx="2011680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6839712" y="987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⬜ N/A – Không áp dụng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1307592"/>
            <a:ext cx="2560320" cy="329184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" y="13075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/ Phân hệ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71216" y="1307592"/>
            <a:ext cx="822960" cy="32918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8" name="Text 16"/>
          <p:cNvSpPr/>
          <p:nvPr/>
        </p:nvSpPr>
        <p:spPr>
          <a:xfrm>
            <a:off x="2871216" y="13075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49040" y="1307592"/>
            <a:ext cx="822960" cy="32918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13075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26864" y="1307592"/>
            <a:ext cx="822960" cy="32918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2" name="Text 20"/>
          <p:cNvSpPr/>
          <p:nvPr/>
        </p:nvSpPr>
        <p:spPr>
          <a:xfrm>
            <a:off x="4626864" y="13075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KCN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04688" y="1307592"/>
            <a:ext cx="822960" cy="32918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5504688" y="13075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TTTM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82512" y="1307592"/>
            <a:ext cx="822960" cy="32918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13075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NTT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60336" y="1307592"/>
            <a:ext cx="822960" cy="32918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8" name="Text 26"/>
          <p:cNvSpPr/>
          <p:nvPr/>
        </p:nvSpPr>
        <p:spPr>
          <a:xfrm>
            <a:off x="7260336" y="13075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38160" y="1307592"/>
            <a:ext cx="822960" cy="32918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0" name="Text 28"/>
          <p:cNvSpPr/>
          <p:nvPr/>
        </p:nvSpPr>
        <p:spPr>
          <a:xfrm>
            <a:off x="8138160" y="13075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DV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1691640"/>
            <a:ext cx="8631936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16916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CRM &amp; Hồ sơ KH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2907792" y="172821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34" name="Text 32"/>
          <p:cNvSpPr/>
          <p:nvPr/>
        </p:nvSpPr>
        <p:spPr>
          <a:xfrm>
            <a:off x="2907792" y="172821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785616" y="172821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36" name="Text 34"/>
          <p:cNvSpPr/>
          <p:nvPr/>
        </p:nvSpPr>
        <p:spPr>
          <a:xfrm>
            <a:off x="3785616" y="172821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63440" y="172821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172821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541264" y="172821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40" name="Text 38"/>
          <p:cNvSpPr/>
          <p:nvPr/>
        </p:nvSpPr>
        <p:spPr>
          <a:xfrm>
            <a:off x="5541264" y="172821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419088" y="172821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42" name="Text 40"/>
          <p:cNvSpPr/>
          <p:nvPr/>
        </p:nvSpPr>
        <p:spPr>
          <a:xfrm>
            <a:off x="6419088" y="172821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296912" y="172821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44" name="Text 42"/>
          <p:cNvSpPr/>
          <p:nvPr/>
        </p:nvSpPr>
        <p:spPr>
          <a:xfrm>
            <a:off x="7296912" y="172821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8174736" y="1728216"/>
            <a:ext cx="74980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8174736" y="172821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4155"/>
                </a:solidFill>
              </a:rPr>
              <a:t>EXT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56032" y="2011680"/>
            <a:ext cx="86319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" y="201168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Hợp đồng dịch vụ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2907792" y="204825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50" name="Text 48"/>
          <p:cNvSpPr/>
          <p:nvPr/>
        </p:nvSpPr>
        <p:spPr>
          <a:xfrm>
            <a:off x="2907792" y="204825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785616" y="204825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52" name="Text 50"/>
          <p:cNvSpPr/>
          <p:nvPr/>
        </p:nvSpPr>
        <p:spPr>
          <a:xfrm>
            <a:off x="3785616" y="204825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663440" y="204825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54" name="Text 52"/>
          <p:cNvSpPr/>
          <p:nvPr/>
        </p:nvSpPr>
        <p:spPr>
          <a:xfrm>
            <a:off x="4663440" y="204825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541264" y="204825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56" name="Text 54"/>
          <p:cNvSpPr/>
          <p:nvPr/>
        </p:nvSpPr>
        <p:spPr>
          <a:xfrm>
            <a:off x="5541264" y="204825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419088" y="204825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58" name="Text 56"/>
          <p:cNvSpPr/>
          <p:nvPr/>
        </p:nvSpPr>
        <p:spPr>
          <a:xfrm>
            <a:off x="6419088" y="204825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296912" y="204825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60" name="Text 58"/>
          <p:cNvSpPr/>
          <p:nvPr/>
        </p:nvSpPr>
        <p:spPr>
          <a:xfrm>
            <a:off x="7296912" y="204825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174736" y="204825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62" name="Text 60"/>
          <p:cNvSpPr/>
          <p:nvPr/>
        </p:nvSpPr>
        <p:spPr>
          <a:xfrm>
            <a:off x="8174736" y="204825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56032" y="2331720"/>
            <a:ext cx="8631936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2608" y="233172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Billing Engine (cơ bản)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2907792" y="236829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66" name="Text 64"/>
          <p:cNvSpPr/>
          <p:nvPr/>
        </p:nvSpPr>
        <p:spPr>
          <a:xfrm>
            <a:off x="2907792" y="23682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785616" y="2368296"/>
            <a:ext cx="74980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8" name="Text 66"/>
          <p:cNvSpPr/>
          <p:nvPr/>
        </p:nvSpPr>
        <p:spPr>
          <a:xfrm>
            <a:off x="3785616" y="23682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4155"/>
                </a:solidFill>
              </a:rPr>
              <a:t>EXT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663440" y="2368296"/>
            <a:ext cx="74980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0" name="Text 68"/>
          <p:cNvSpPr/>
          <p:nvPr/>
        </p:nvSpPr>
        <p:spPr>
          <a:xfrm>
            <a:off x="4663440" y="23682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4155"/>
                </a:solidFill>
              </a:rPr>
              <a:t>EXT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541264" y="2368296"/>
            <a:ext cx="74980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2" name="Text 70"/>
          <p:cNvSpPr/>
          <p:nvPr/>
        </p:nvSpPr>
        <p:spPr>
          <a:xfrm>
            <a:off x="5541264" y="23682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4155"/>
                </a:solidFill>
              </a:rPr>
              <a:t>EXT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419088" y="236829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74" name="Text 72"/>
          <p:cNvSpPr/>
          <p:nvPr/>
        </p:nvSpPr>
        <p:spPr>
          <a:xfrm>
            <a:off x="6419088" y="23682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296912" y="2368296"/>
            <a:ext cx="74980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6" name="Text 74"/>
          <p:cNvSpPr/>
          <p:nvPr/>
        </p:nvSpPr>
        <p:spPr>
          <a:xfrm>
            <a:off x="7296912" y="23682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4155"/>
                </a:solidFill>
              </a:rPr>
              <a:t>EXT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174736" y="2368296"/>
            <a:ext cx="74980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8" name="Text 76"/>
          <p:cNvSpPr/>
          <p:nvPr/>
        </p:nvSpPr>
        <p:spPr>
          <a:xfrm>
            <a:off x="8174736" y="23682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4155"/>
                </a:solidFill>
              </a:rPr>
              <a:t>EXT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56032" y="2651760"/>
            <a:ext cx="86319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92608" y="265176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Lease / Rent Management</a:t>
            </a:r>
            <a:endParaRPr lang="en-US" sz="880" dirty="0"/>
          </a:p>
        </p:txBody>
      </p:sp>
      <p:sp>
        <p:nvSpPr>
          <p:cNvPr id="81" name="Shape 79"/>
          <p:cNvSpPr/>
          <p:nvPr/>
        </p:nvSpPr>
        <p:spPr>
          <a:xfrm>
            <a:off x="2907792" y="2688336"/>
            <a:ext cx="749808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80"/>
          <p:cNvSpPr/>
          <p:nvPr/>
        </p:nvSpPr>
        <p:spPr>
          <a:xfrm>
            <a:off x="2907792" y="26883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N/A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3785616" y="268833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84" name="Text 82"/>
          <p:cNvSpPr/>
          <p:nvPr/>
        </p:nvSpPr>
        <p:spPr>
          <a:xfrm>
            <a:off x="3785616" y="26883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663440" y="268833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86" name="Text 84"/>
          <p:cNvSpPr/>
          <p:nvPr/>
        </p:nvSpPr>
        <p:spPr>
          <a:xfrm>
            <a:off x="4663440" y="26883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541264" y="268833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88" name="Text 86"/>
          <p:cNvSpPr/>
          <p:nvPr/>
        </p:nvSpPr>
        <p:spPr>
          <a:xfrm>
            <a:off x="5541264" y="26883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6419088" y="2688336"/>
            <a:ext cx="74980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0" name="Text 88"/>
          <p:cNvSpPr/>
          <p:nvPr/>
        </p:nvSpPr>
        <p:spPr>
          <a:xfrm>
            <a:off x="6419088" y="26883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4155"/>
                </a:solidFill>
              </a:rPr>
              <a:t>EXT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7296912" y="268833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92" name="Text 90"/>
          <p:cNvSpPr/>
          <p:nvPr/>
        </p:nvSpPr>
        <p:spPr>
          <a:xfrm>
            <a:off x="7296912" y="26883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8174736" y="2688336"/>
            <a:ext cx="749808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4" name="Text 92"/>
          <p:cNvSpPr/>
          <p:nvPr/>
        </p:nvSpPr>
        <p:spPr>
          <a:xfrm>
            <a:off x="8174736" y="26883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N/A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56032" y="2971800"/>
            <a:ext cx="8631936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92608" y="297180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Turnover Rent (% DT)</a:t>
            </a:r>
            <a:endParaRPr lang="en-US" sz="880" dirty="0"/>
          </a:p>
        </p:txBody>
      </p:sp>
      <p:sp>
        <p:nvSpPr>
          <p:cNvPr id="97" name="Shape 95"/>
          <p:cNvSpPr/>
          <p:nvPr/>
        </p:nvSpPr>
        <p:spPr>
          <a:xfrm>
            <a:off x="2907792" y="3008376"/>
            <a:ext cx="749808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8" name="Text 96"/>
          <p:cNvSpPr/>
          <p:nvPr/>
        </p:nvSpPr>
        <p:spPr>
          <a:xfrm>
            <a:off x="2907792" y="30083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N/A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3785616" y="3008376"/>
            <a:ext cx="749808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0" name="Text 98"/>
          <p:cNvSpPr/>
          <p:nvPr/>
        </p:nvSpPr>
        <p:spPr>
          <a:xfrm>
            <a:off x="3785616" y="30083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N/A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663440" y="3008376"/>
            <a:ext cx="749808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2" name="Text 100"/>
          <p:cNvSpPr/>
          <p:nvPr/>
        </p:nvSpPr>
        <p:spPr>
          <a:xfrm>
            <a:off x="4663440" y="30083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N/A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5541264" y="3008376"/>
            <a:ext cx="74980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4" name="Text 102"/>
          <p:cNvSpPr/>
          <p:nvPr/>
        </p:nvSpPr>
        <p:spPr>
          <a:xfrm>
            <a:off x="5541264" y="30083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NEW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6419088" y="3008376"/>
            <a:ext cx="749808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6" name="Text 104"/>
          <p:cNvSpPr/>
          <p:nvPr/>
        </p:nvSpPr>
        <p:spPr>
          <a:xfrm>
            <a:off x="6419088" y="30083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N/A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7296912" y="3008376"/>
            <a:ext cx="749808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8" name="Text 106"/>
          <p:cNvSpPr/>
          <p:nvPr/>
        </p:nvSpPr>
        <p:spPr>
          <a:xfrm>
            <a:off x="7296912" y="30083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N/A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8174736" y="3008376"/>
            <a:ext cx="749808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0" name="Text 108"/>
          <p:cNvSpPr/>
          <p:nvPr/>
        </p:nvSpPr>
        <p:spPr>
          <a:xfrm>
            <a:off x="8174736" y="30083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N/A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256032" y="3291840"/>
            <a:ext cx="86319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92608" y="32918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Payment (App/MSB)</a:t>
            </a:r>
            <a:endParaRPr lang="en-US" sz="880" dirty="0"/>
          </a:p>
        </p:txBody>
      </p:sp>
      <p:sp>
        <p:nvSpPr>
          <p:cNvPr id="113" name="Shape 111"/>
          <p:cNvSpPr/>
          <p:nvPr/>
        </p:nvSpPr>
        <p:spPr>
          <a:xfrm>
            <a:off x="2907792" y="332841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114" name="Text 112"/>
          <p:cNvSpPr/>
          <p:nvPr/>
        </p:nvSpPr>
        <p:spPr>
          <a:xfrm>
            <a:off x="2907792" y="332841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3785616" y="3328416"/>
            <a:ext cx="74980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6" name="Text 114"/>
          <p:cNvSpPr/>
          <p:nvPr/>
        </p:nvSpPr>
        <p:spPr>
          <a:xfrm>
            <a:off x="3785616" y="332841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4155"/>
                </a:solidFill>
              </a:rPr>
              <a:t>EXT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4663440" y="3328416"/>
            <a:ext cx="74980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8" name="Text 116"/>
          <p:cNvSpPr/>
          <p:nvPr/>
        </p:nvSpPr>
        <p:spPr>
          <a:xfrm>
            <a:off x="4663440" y="332841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4155"/>
                </a:solidFill>
              </a:rPr>
              <a:t>EXT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5541264" y="3328416"/>
            <a:ext cx="74980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0" name="Text 118"/>
          <p:cNvSpPr/>
          <p:nvPr/>
        </p:nvSpPr>
        <p:spPr>
          <a:xfrm>
            <a:off x="5541264" y="332841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4155"/>
                </a:solidFill>
              </a:rPr>
              <a:t>EXT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6419088" y="332841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122" name="Text 120"/>
          <p:cNvSpPr/>
          <p:nvPr/>
        </p:nvSpPr>
        <p:spPr>
          <a:xfrm>
            <a:off x="6419088" y="332841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7296912" y="3328416"/>
            <a:ext cx="74980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4" name="Text 122"/>
          <p:cNvSpPr/>
          <p:nvPr/>
        </p:nvSpPr>
        <p:spPr>
          <a:xfrm>
            <a:off x="7296912" y="332841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4155"/>
                </a:solidFill>
              </a:rPr>
              <a:t>EXT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8174736" y="3328416"/>
            <a:ext cx="74980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6" name="Text 124"/>
          <p:cNvSpPr/>
          <p:nvPr/>
        </p:nvSpPr>
        <p:spPr>
          <a:xfrm>
            <a:off x="8174736" y="332841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4155"/>
                </a:solidFill>
              </a:rPr>
              <a:t>EXT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256032" y="3611880"/>
            <a:ext cx="8631936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92608" y="361188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Vendor Management</a:t>
            </a:r>
            <a:endParaRPr lang="en-US" sz="880" dirty="0"/>
          </a:p>
        </p:txBody>
      </p:sp>
      <p:sp>
        <p:nvSpPr>
          <p:cNvPr id="129" name="Shape 127"/>
          <p:cNvSpPr/>
          <p:nvPr/>
        </p:nvSpPr>
        <p:spPr>
          <a:xfrm>
            <a:off x="2907792" y="3648456"/>
            <a:ext cx="74980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0" name="Text 128"/>
          <p:cNvSpPr/>
          <p:nvPr/>
        </p:nvSpPr>
        <p:spPr>
          <a:xfrm>
            <a:off x="2907792" y="364845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4155"/>
                </a:solidFill>
              </a:rPr>
              <a:t>EXT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3785616" y="3648456"/>
            <a:ext cx="74980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2" name="Text 130"/>
          <p:cNvSpPr/>
          <p:nvPr/>
        </p:nvSpPr>
        <p:spPr>
          <a:xfrm>
            <a:off x="3785616" y="364845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4155"/>
                </a:solidFill>
              </a:rPr>
              <a:t>EXT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4663440" y="3648456"/>
            <a:ext cx="74980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4" name="Text 132"/>
          <p:cNvSpPr/>
          <p:nvPr/>
        </p:nvSpPr>
        <p:spPr>
          <a:xfrm>
            <a:off x="4663440" y="364845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4155"/>
                </a:solidFill>
              </a:rPr>
              <a:t>EXT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5541264" y="3648456"/>
            <a:ext cx="74980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6" name="Text 134"/>
          <p:cNvSpPr/>
          <p:nvPr/>
        </p:nvSpPr>
        <p:spPr>
          <a:xfrm>
            <a:off x="5541264" y="364845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4155"/>
                </a:solidFill>
              </a:rPr>
              <a:t>EXT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6419088" y="3648456"/>
            <a:ext cx="74980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19088" y="364845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4155"/>
                </a:solidFill>
              </a:rPr>
              <a:t>EXT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7296912" y="3648456"/>
            <a:ext cx="74980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0" name="Text 138"/>
          <p:cNvSpPr/>
          <p:nvPr/>
        </p:nvSpPr>
        <p:spPr>
          <a:xfrm>
            <a:off x="7296912" y="364845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4155"/>
                </a:solidFill>
              </a:rPr>
              <a:t>EXT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8174736" y="3648456"/>
            <a:ext cx="749808" cy="219456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142" name="Text 140"/>
          <p:cNvSpPr/>
          <p:nvPr/>
        </p:nvSpPr>
        <p:spPr>
          <a:xfrm>
            <a:off x="8174736" y="364845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256032" y="3931920"/>
            <a:ext cx="86319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92608" y="393192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Multi-tenant Platform</a:t>
            </a:r>
            <a:endParaRPr lang="en-US" sz="880" dirty="0"/>
          </a:p>
        </p:txBody>
      </p:sp>
      <p:sp>
        <p:nvSpPr>
          <p:cNvPr id="145" name="Shape 143"/>
          <p:cNvSpPr/>
          <p:nvPr/>
        </p:nvSpPr>
        <p:spPr>
          <a:xfrm>
            <a:off x="2907792" y="3968496"/>
            <a:ext cx="74980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6" name="Text 144"/>
          <p:cNvSpPr/>
          <p:nvPr/>
        </p:nvSpPr>
        <p:spPr>
          <a:xfrm>
            <a:off x="2907792" y="39684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NEW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3785616" y="3968496"/>
            <a:ext cx="74980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8" name="Text 146"/>
          <p:cNvSpPr/>
          <p:nvPr/>
        </p:nvSpPr>
        <p:spPr>
          <a:xfrm>
            <a:off x="3785616" y="39684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NEW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4663440" y="3968496"/>
            <a:ext cx="74980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0" name="Text 148"/>
          <p:cNvSpPr/>
          <p:nvPr/>
        </p:nvSpPr>
        <p:spPr>
          <a:xfrm>
            <a:off x="4663440" y="39684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NEW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5541264" y="3968496"/>
            <a:ext cx="74980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2" name="Text 150"/>
          <p:cNvSpPr/>
          <p:nvPr/>
        </p:nvSpPr>
        <p:spPr>
          <a:xfrm>
            <a:off x="5541264" y="39684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NEW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6419088" y="3968496"/>
            <a:ext cx="74980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4" name="Text 152"/>
          <p:cNvSpPr/>
          <p:nvPr/>
        </p:nvSpPr>
        <p:spPr>
          <a:xfrm>
            <a:off x="6419088" y="39684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NEW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7296912" y="3968496"/>
            <a:ext cx="74980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6" name="Text 154"/>
          <p:cNvSpPr/>
          <p:nvPr/>
        </p:nvSpPr>
        <p:spPr>
          <a:xfrm>
            <a:off x="7296912" y="39684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NEW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8174736" y="3968496"/>
            <a:ext cx="74980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8" name="Text 156"/>
          <p:cNvSpPr/>
          <p:nvPr/>
        </p:nvSpPr>
        <p:spPr>
          <a:xfrm>
            <a:off x="8174736" y="39684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NEW</a:t>
            </a: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256032" y="4251960"/>
            <a:ext cx="8631936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92608" y="425196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Báo cáo theo dự án</a:t>
            </a:r>
            <a:endParaRPr lang="en-US" sz="880" dirty="0"/>
          </a:p>
        </p:txBody>
      </p:sp>
      <p:sp>
        <p:nvSpPr>
          <p:cNvPr id="161" name="Shape 159"/>
          <p:cNvSpPr/>
          <p:nvPr/>
        </p:nvSpPr>
        <p:spPr>
          <a:xfrm>
            <a:off x="2907792" y="4288536"/>
            <a:ext cx="74980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2" name="Text 160"/>
          <p:cNvSpPr/>
          <p:nvPr/>
        </p:nvSpPr>
        <p:spPr>
          <a:xfrm>
            <a:off x="2907792" y="42885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NEW</a:t>
            </a:r>
            <a:endParaRPr lang="en-US" sz="750" dirty="0"/>
          </a:p>
        </p:txBody>
      </p:sp>
      <p:sp>
        <p:nvSpPr>
          <p:cNvPr id="163" name="Shape 161"/>
          <p:cNvSpPr/>
          <p:nvPr/>
        </p:nvSpPr>
        <p:spPr>
          <a:xfrm>
            <a:off x="3785616" y="4288536"/>
            <a:ext cx="74980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4" name="Text 162"/>
          <p:cNvSpPr/>
          <p:nvPr/>
        </p:nvSpPr>
        <p:spPr>
          <a:xfrm>
            <a:off x="3785616" y="42885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NEW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4663440" y="4288536"/>
            <a:ext cx="74980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6" name="Text 164"/>
          <p:cNvSpPr/>
          <p:nvPr/>
        </p:nvSpPr>
        <p:spPr>
          <a:xfrm>
            <a:off x="4663440" y="42885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NEW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5541264" y="4288536"/>
            <a:ext cx="74980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8" name="Text 166"/>
          <p:cNvSpPr/>
          <p:nvPr/>
        </p:nvSpPr>
        <p:spPr>
          <a:xfrm>
            <a:off x="5541264" y="42885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NEW</a:t>
            </a:r>
            <a:endParaRPr lang="en-US" sz="750" dirty="0"/>
          </a:p>
        </p:txBody>
      </p:sp>
      <p:sp>
        <p:nvSpPr>
          <p:cNvPr id="169" name="Shape 167"/>
          <p:cNvSpPr/>
          <p:nvPr/>
        </p:nvSpPr>
        <p:spPr>
          <a:xfrm>
            <a:off x="6419088" y="4288536"/>
            <a:ext cx="74980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0" name="Text 168"/>
          <p:cNvSpPr/>
          <p:nvPr/>
        </p:nvSpPr>
        <p:spPr>
          <a:xfrm>
            <a:off x="6419088" y="42885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NEW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7296912" y="4288536"/>
            <a:ext cx="74980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2" name="Text 170"/>
          <p:cNvSpPr/>
          <p:nvPr/>
        </p:nvSpPr>
        <p:spPr>
          <a:xfrm>
            <a:off x="7296912" y="42885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NEW</a:t>
            </a:r>
            <a:endParaRPr lang="en-US" sz="750" dirty="0"/>
          </a:p>
        </p:txBody>
      </p:sp>
      <p:sp>
        <p:nvSpPr>
          <p:cNvPr id="173" name="Shape 171"/>
          <p:cNvSpPr/>
          <p:nvPr/>
        </p:nvSpPr>
        <p:spPr>
          <a:xfrm>
            <a:off x="8174736" y="4288536"/>
            <a:ext cx="74980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4" name="Text 172"/>
          <p:cNvSpPr/>
          <p:nvPr/>
        </p:nvSpPr>
        <p:spPr>
          <a:xfrm>
            <a:off x="8174736" y="42885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NEW</a:t>
            </a:r>
            <a:endParaRPr lang="en-US" sz="750" dirty="0"/>
          </a:p>
        </p:txBody>
      </p:sp>
      <p:sp>
        <p:nvSpPr>
          <p:cNvPr id="175" name="Shape 173"/>
          <p:cNvSpPr/>
          <p:nvPr/>
        </p:nvSpPr>
        <p:spPr>
          <a:xfrm>
            <a:off x="256032" y="4572000"/>
            <a:ext cx="86319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292608" y="457200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B2G Compliance</a:t>
            </a:r>
            <a:endParaRPr lang="en-US" sz="880" dirty="0"/>
          </a:p>
        </p:txBody>
      </p:sp>
      <p:sp>
        <p:nvSpPr>
          <p:cNvPr id="177" name="Shape 175"/>
          <p:cNvSpPr/>
          <p:nvPr/>
        </p:nvSpPr>
        <p:spPr>
          <a:xfrm>
            <a:off x="2907792" y="4608576"/>
            <a:ext cx="749808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8" name="Text 176"/>
          <p:cNvSpPr/>
          <p:nvPr/>
        </p:nvSpPr>
        <p:spPr>
          <a:xfrm>
            <a:off x="2907792" y="46085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N/A</a:t>
            </a:r>
            <a:endParaRPr lang="en-US" sz="750" dirty="0"/>
          </a:p>
        </p:txBody>
      </p:sp>
      <p:sp>
        <p:nvSpPr>
          <p:cNvPr id="179" name="Shape 177"/>
          <p:cNvSpPr/>
          <p:nvPr/>
        </p:nvSpPr>
        <p:spPr>
          <a:xfrm>
            <a:off x="3785616" y="4608576"/>
            <a:ext cx="749808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0" name="Text 178"/>
          <p:cNvSpPr/>
          <p:nvPr/>
        </p:nvSpPr>
        <p:spPr>
          <a:xfrm>
            <a:off x="3785616" y="46085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N/A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>
            <a:off x="4663440" y="4608576"/>
            <a:ext cx="749808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2" name="Text 180"/>
          <p:cNvSpPr/>
          <p:nvPr/>
        </p:nvSpPr>
        <p:spPr>
          <a:xfrm>
            <a:off x="4663440" y="46085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N/A</a:t>
            </a:r>
            <a:endParaRPr lang="en-US" sz="750" dirty="0"/>
          </a:p>
        </p:txBody>
      </p:sp>
      <p:sp>
        <p:nvSpPr>
          <p:cNvPr id="183" name="Shape 181"/>
          <p:cNvSpPr/>
          <p:nvPr/>
        </p:nvSpPr>
        <p:spPr>
          <a:xfrm>
            <a:off x="5541264" y="4608576"/>
            <a:ext cx="749808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4" name="Text 182"/>
          <p:cNvSpPr/>
          <p:nvPr/>
        </p:nvSpPr>
        <p:spPr>
          <a:xfrm>
            <a:off x="5541264" y="46085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N/A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6419088" y="4608576"/>
            <a:ext cx="749808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6" name="Text 184"/>
          <p:cNvSpPr/>
          <p:nvPr/>
        </p:nvSpPr>
        <p:spPr>
          <a:xfrm>
            <a:off x="6419088" y="46085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N/A</a:t>
            </a:r>
            <a:endParaRPr lang="en-US" sz="750" dirty="0"/>
          </a:p>
        </p:txBody>
      </p:sp>
      <p:sp>
        <p:nvSpPr>
          <p:cNvPr id="187" name="Shape 185"/>
          <p:cNvSpPr/>
          <p:nvPr/>
        </p:nvSpPr>
        <p:spPr>
          <a:xfrm>
            <a:off x="7296912" y="4608576"/>
            <a:ext cx="749808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8" name="Text 186"/>
          <p:cNvSpPr/>
          <p:nvPr/>
        </p:nvSpPr>
        <p:spPr>
          <a:xfrm>
            <a:off x="7296912" y="46085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NEW</a:t>
            </a:r>
            <a:endParaRPr lang="en-US" sz="750" dirty="0"/>
          </a:p>
        </p:txBody>
      </p:sp>
      <p:sp>
        <p:nvSpPr>
          <p:cNvPr id="189" name="Shape 187"/>
          <p:cNvSpPr/>
          <p:nvPr/>
        </p:nvSpPr>
        <p:spPr>
          <a:xfrm>
            <a:off x="8174736" y="4608576"/>
            <a:ext cx="749808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0" name="Text 188"/>
          <p:cNvSpPr/>
          <p:nvPr/>
        </p:nvSpPr>
        <p:spPr>
          <a:xfrm>
            <a:off x="8174736" y="46085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</a:rPr>
              <a:t>N/A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Kiến trúc Multi-tenant – 1 Platform, nhiều Dự án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C"/>
                </a:solidFill>
              </a:rPr>
              <a:t>Multi-tenant Architecture for TNPM Portfolio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</a:rPr>
              <a:t>© 2026 </a:t>
            </a:r>
            <a:r>
              <a:rPr lang="en-US" sz="750" dirty="0">
                <a:solidFill>
                  <a:srgbClr val="E2E8F0"/>
                </a:solidFill>
              </a:rPr>
              <a:t>TNPM – ROX Key | Property Management Platform HLD v2.0 | TOGAF-aligned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8631936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9875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🏗️  TNPM Platform – Lớp quản lý Portfolio &amp; Báo cáo tổng hợp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6032" y="1435608"/>
            <a:ext cx="8631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PROJECT LAYER – Mỗi dự án là 1 tenant độc lập, dữ liệu cô lập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" y="1700784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F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700784"/>
            <a:ext cx="1627632" cy="36576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" y="170078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Chung cư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XYZ Tower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" y="210312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D7F8C"/>
                </a:solidFill>
              </a:rPr>
              <a:t>Residential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140817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0D7F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7744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CRM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2615184"/>
            <a:ext cx="140817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0D7F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1518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Billing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2852928"/>
            <a:ext cx="140817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0D7F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5292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Payment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993392" y="1700784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993392" y="1700784"/>
            <a:ext cx="1627632" cy="3657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2" name="Text 20"/>
          <p:cNvSpPr/>
          <p:nvPr/>
        </p:nvSpPr>
        <p:spPr>
          <a:xfrm>
            <a:off x="1993392" y="170078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Văn phòng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ABC Building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93392" y="210312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A2B4A"/>
                </a:solidFill>
              </a:rPr>
              <a:t>Office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03120" y="2377440"/>
            <a:ext cx="140817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237744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CRM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103120" y="2615184"/>
            <a:ext cx="140817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261518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Billing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103120" y="2852928"/>
            <a:ext cx="140817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285292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Payment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730752" y="1700784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730752" y="1700784"/>
            <a:ext cx="1627632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2" name="Text 30"/>
          <p:cNvSpPr/>
          <p:nvPr/>
        </p:nvSpPr>
        <p:spPr>
          <a:xfrm>
            <a:off x="3730752" y="170078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KCN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IMC Delta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30752" y="210312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A580C"/>
                </a:solidFill>
              </a:rPr>
              <a:t>Industrial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840480" y="2377440"/>
            <a:ext cx="140817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237744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CRM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840480" y="2615184"/>
            <a:ext cx="140817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261518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Billing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840480" y="2852928"/>
            <a:ext cx="140817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0" y="285292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Payment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468112" y="1700784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68112" y="1700784"/>
            <a:ext cx="1627632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5468112" y="170078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TTTM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ROX Mall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68112" y="210312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C3AED"/>
                </a:solidFill>
              </a:rPr>
              <a:t>Retail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577840" y="2377440"/>
            <a:ext cx="140817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0" y="237744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CRM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577840" y="2615184"/>
            <a:ext cx="140817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261518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Billing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577840" y="2852928"/>
            <a:ext cx="140817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77840" y="285292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Payment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205472" y="1700784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205472" y="1700784"/>
            <a:ext cx="1627632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2" name="Text 50"/>
          <p:cNvSpPr/>
          <p:nvPr/>
        </p:nvSpPr>
        <p:spPr>
          <a:xfrm>
            <a:off x="7205472" y="170078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Villa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ROX Green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05472" y="210312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59669"/>
                </a:solidFill>
              </a:rPr>
              <a:t>Low-rise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315200" y="2377440"/>
            <a:ext cx="140817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0" y="237744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CRM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315200" y="2615184"/>
            <a:ext cx="140817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0" y="261518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Billing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315200" y="2852928"/>
            <a:ext cx="1408176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0" y="285292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Payment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56032" y="3172968"/>
            <a:ext cx="8631936" cy="29260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1" name="Text 59"/>
          <p:cNvSpPr/>
          <p:nvPr/>
        </p:nvSpPr>
        <p:spPr>
          <a:xfrm>
            <a:off x="256032" y="3172968"/>
            <a:ext cx="8631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SHARED SERVICES – Dùng chung: Auth/IAM  |  Vendor Management  |  Notification  |  File Storage  |  Audit Log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56032" y="352044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7F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56032" y="3520440"/>
            <a:ext cx="4206240" cy="32004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64" name="Text 62"/>
          <p:cNvSpPr/>
          <p:nvPr/>
        </p:nvSpPr>
        <p:spPr>
          <a:xfrm>
            <a:off x="256032" y="3520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🔒  Chiến lược Data Isolation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47472" y="3886200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</a:rPr>
              <a:t>Schema-per-tenant: Mỗi project có schema DB riêng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</a:rPr>
              <a:t>Shared infra: DB server, cache, queue dùng chung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</a:rPr>
              <a:t>Row-level security cho báo cáo tổng hợp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4681728" y="352044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681728" y="3520440"/>
            <a:ext cx="420624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8" name="Text 66"/>
          <p:cNvSpPr/>
          <p:nvPr/>
        </p:nvSpPr>
        <p:spPr>
          <a:xfrm>
            <a:off x="4681728" y="3520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 Báo cáo đa cấp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773168" y="3886200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</a:rPr>
              <a:t>Project level: P&amp;L, công nợ, KPI riêng từng dự án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</a:rPr>
              <a:t>Portfolio level: tổng hợp TNPM → gửi Chủ đầu tư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</a:rPr>
              <a:t>Phân quyền: Chủ ĐT chỉ thấy dự án của mình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03. Kiến trúc phân hệ ứng dụng (Full TNPM)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C"/>
                </a:solidFill>
              </a:rPr>
              <a:t>Application Architecture – All Modules incl. Vendor &amp; Multi-property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</a:rPr>
              <a:t>© 2026 </a:t>
            </a:r>
            <a:r>
              <a:rPr lang="en-US" sz="750" dirty="0">
                <a:solidFill>
                  <a:srgbClr val="E2E8F0"/>
                </a:solidFill>
              </a:rPr>
              <a:t>TNPM – ROX Key | Property Management Platform HLD v2.0 | TOGAF-aligned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8686800" cy="3858768"/>
          </a:xfrm>
          <a:prstGeom prst="rect">
            <a:avLst/>
          </a:prstGeom>
          <a:solidFill>
            <a:srgbClr val="F0FFFE"/>
          </a:solidFill>
          <a:ln w="12700">
            <a:solidFill>
              <a:srgbClr val="0D7F8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92608" y="967233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F8C"/>
                </a:solidFill>
              </a:rPr>
              <a:t>TNPM Platform – Property Management System (Multi-tenant)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093889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A"/>
                </a:solidFill>
              </a:rPr>
              <a:t>Customer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2B4A"/>
                </a:solidFill>
              </a:rPr>
              <a:t>&amp; Contract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" y="1413929"/>
            <a:ext cx="1508760" cy="585216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" y="1413929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CRM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47472" y="2072297"/>
            <a:ext cx="1508760" cy="585216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" y="2072297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Hợp đồng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dịch vụ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47472" y="2730665"/>
            <a:ext cx="1508760" cy="585216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7472" y="2730665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Lease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Management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2039112" y="1093889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7F8C"/>
                </a:solidFill>
              </a:rPr>
              <a:t>Billing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D7F8C"/>
                </a:solidFill>
              </a:rPr>
              <a:t>Engine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39112" y="1413929"/>
            <a:ext cx="1508760" cy="585216"/>
          </a:xfrm>
          <a:prstGeom prst="rect">
            <a:avLst/>
          </a:prstGeom>
          <a:solidFill>
            <a:srgbClr val="0D7F8C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39112" y="1413929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Nhập liệu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chỉ số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039112" y="2072297"/>
            <a:ext cx="1508760" cy="585216"/>
          </a:xfrm>
          <a:prstGeom prst="rect">
            <a:avLst/>
          </a:prstGeom>
          <a:solidFill>
            <a:srgbClr val="0D7F8C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39112" y="2072297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Công thức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phí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039112" y="2730665"/>
            <a:ext cx="1508760" cy="585216"/>
          </a:xfrm>
          <a:prstGeom prst="rect">
            <a:avLst/>
          </a:prstGeom>
          <a:solidFill>
            <a:srgbClr val="0D7F8C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039112" y="2730665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Turnover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Rent (NEW)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3730752" y="1093889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A580C"/>
                </a:solidFill>
              </a:rPr>
              <a:t>Payment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A580C"/>
                </a:solidFill>
              </a:rPr>
              <a:t>&amp; Debt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730752" y="1413929"/>
            <a:ext cx="1508760" cy="58521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730752" y="1413929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Thông báo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phí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3730752" y="2072297"/>
            <a:ext cx="1508760" cy="58521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30752" y="2072297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Payment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Gateway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3730752" y="2730665"/>
            <a:ext cx="1508760" cy="58521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30752" y="2730665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Gạch nợ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auto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422392" y="1093889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338CA"/>
                </a:solidFill>
              </a:rPr>
              <a:t>Vendor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4338CA"/>
                </a:solidFill>
              </a:rPr>
              <a:t>Management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22392" y="1413929"/>
            <a:ext cx="1508760" cy="585216"/>
          </a:xfrm>
          <a:prstGeom prst="rect">
            <a:avLst/>
          </a:prstGeom>
          <a:solidFill>
            <a:srgbClr val="4338CA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22392" y="1413929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Danh mục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NCC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422392" y="2072297"/>
            <a:ext cx="1508760" cy="585216"/>
          </a:xfrm>
          <a:prstGeom prst="rect">
            <a:avLst/>
          </a:prstGeom>
          <a:solidFill>
            <a:srgbClr val="4338CA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22392" y="2072297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Hợp đồng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NCC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422392" y="2730665"/>
            <a:ext cx="1508760" cy="585216"/>
          </a:xfrm>
          <a:prstGeom prst="rect">
            <a:avLst/>
          </a:prstGeom>
          <a:solidFill>
            <a:srgbClr val="4338CA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22392" y="2730665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KPI &amp;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Thanh toán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7114032" y="1093889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</a:rPr>
              <a:t>Integration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</a:rPr>
              <a:t>&amp; Reporting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114032" y="1413929"/>
            <a:ext cx="1508760" cy="585216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114032" y="1413929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App Timi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MSB Pay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7114032" y="2072297"/>
            <a:ext cx="1508760" cy="585216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114032" y="2072297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>
                <a:solidFill>
                  <a:srgbClr val="FFFFFF"/>
                </a:solidFill>
              </a:rPr>
              <a:t>Reborn (Fee)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Kế toán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7114032" y="2730665"/>
            <a:ext cx="1508760" cy="585216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14032" y="2730665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Dashboard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BI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1709928" y="2447201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401568" y="2447201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093208" y="2447201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784848" y="2447201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47472" y="3319272"/>
            <a:ext cx="8485632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" y="3407321"/>
            <a:ext cx="8485632" cy="2743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0" name="Text 48"/>
          <p:cNvSpPr/>
          <p:nvPr/>
        </p:nvSpPr>
        <p:spPr>
          <a:xfrm>
            <a:off x="347472" y="3407321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🔀  SHARED / CROSS-CUTTING: Operations &amp; Service Request  |  Phân công Nhân sự  |  Multi-tenant Core  |  Audit Log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11480" y="3745649"/>
            <a:ext cx="1325880" cy="82296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11480" y="3745649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Yêu cầu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Dịch vụ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828800" y="3745649"/>
            <a:ext cx="1325880" cy="822960"/>
          </a:xfrm>
          <a:prstGeom prst="rect">
            <a:avLst/>
          </a:prstGeom>
          <a:solidFill>
            <a:srgbClr val="0D7F8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828800" y="3745649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Phân công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KST/NCC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46120" y="3745649"/>
            <a:ext cx="1325880" cy="822960"/>
          </a:xfrm>
          <a:prstGeom prst="rect">
            <a:avLst/>
          </a:prstGeom>
          <a:solidFill>
            <a:srgbClr val="1A2B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246120" y="3745649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Multi-tenant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Core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63440" y="3745649"/>
            <a:ext cx="1325880" cy="822960"/>
          </a:xfrm>
          <a:prstGeom prst="rect">
            <a:avLst/>
          </a:prstGeom>
          <a:solidFill>
            <a:srgbClr val="EA580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663440" y="3745649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Báo cáo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theo DA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080760" y="3745649"/>
            <a:ext cx="1325880" cy="822960"/>
          </a:xfrm>
          <a:prstGeom prst="rect">
            <a:avLst/>
          </a:prstGeom>
          <a:solidFill>
            <a:srgbClr val="4338C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080760" y="3745649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Auth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IAM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498080" y="3745649"/>
            <a:ext cx="1325880" cy="822960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7498080" y="3745649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Notification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Engine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Billing Engine – Đa dạng công thức theo loại hình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C"/>
                </a:solidFill>
              </a:rPr>
              <a:t>Flexible Billing Engine for All Property Types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</a:rPr>
              <a:t>© 2026 </a:t>
            </a:r>
            <a:r>
              <a:rPr lang="en-US" sz="750" dirty="0">
                <a:solidFill>
                  <a:srgbClr val="E2E8F0"/>
                </a:solidFill>
              </a:rPr>
              <a:t>TNPM – ROX Key | Property Management Platform HLD v2.0 | TOGAF-aligned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969264"/>
            <a:ext cx="8631936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969264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 nhóm Billing Formula – Cấu hình theo từng loại hình &amp; hợp đồng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344168"/>
            <a:ext cx="2798064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344168"/>
            <a:ext cx="2798064" cy="566928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" y="13441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Phí dịch vụ định kỳ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(Service-based)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195681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7F8C"/>
                </a:solidFill>
              </a:rPr>
              <a:t>Áp dụng: Chung cư, Văn phòng, KCN, Nhà TT, TTTM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2267712"/>
            <a:ext cx="2615184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28600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Phí quản lý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2336" y="246888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Cố định/tháng HOẶC diện tích × đơn giá/m²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47472" y="2743200"/>
            <a:ext cx="2615184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76148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Phí điện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" y="294436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Chỉ số × đơn giá (EVN bậc thang hoặc giá tòa nhà)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47472" y="3218688"/>
            <a:ext cx="2615184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23697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Phí nước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2336" y="341985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Chỉ số × đơn giá (m³)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47472" y="3694176"/>
            <a:ext cx="2615184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371246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Phí gửi xe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2336" y="389534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Loại xe × số lượng × đơn giá/tháng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347472" y="4169664"/>
            <a:ext cx="2615184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418795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Phí dịch vụ khác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2336" y="437083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Config linh hoạt per HĐ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3182112" y="1344168"/>
            <a:ext cx="2798064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82112" y="1344168"/>
            <a:ext cx="2798064" cy="5669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0" name="Text 28"/>
          <p:cNvSpPr/>
          <p:nvPr/>
        </p:nvSpPr>
        <p:spPr>
          <a:xfrm>
            <a:off x="3182112" y="13441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🏢 Phí thuê mặt bằng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(Lease-based) [MỞ RỘNG]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73552" y="195681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A580C"/>
                </a:solidFill>
              </a:rPr>
              <a:t>Áp dụng: Văn phòng, KCN, TTTM, Khu HC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73552" y="2267712"/>
            <a:ext cx="2615184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228600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Base Rent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28416" y="246888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Giá thuê cố định/m²/tháng × diện tích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3273552" y="2743200"/>
            <a:ext cx="2615184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28416" y="276148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Service Charge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28416" y="294436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Chi phí vận hành phân bổ theo tỷ lệ diện tích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3273552" y="3218688"/>
            <a:ext cx="2615184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28416" y="323697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Escalation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28416" y="341985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Tăng % theo năm hoặc theo CPI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3273552" y="3694176"/>
            <a:ext cx="2615184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28416" y="371246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Deposit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28416" y="389534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Tiền cọc = N tháng, hoàn trả khi kết thúc HĐ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3273552" y="4169664"/>
            <a:ext cx="2615184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28416" y="418795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Overtime charges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28416" y="437083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Điều hòa/điện ngoài giờ hành chính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6108192" y="1344168"/>
            <a:ext cx="2798064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08192" y="1344168"/>
            <a:ext cx="2798064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6108192" y="13441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💰 Phí % Doanh thu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(Turnover Rent) [MỚI]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99632" y="195681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C3AED"/>
                </a:solidFill>
              </a:rPr>
              <a:t>Áp dụng: TTTM (Trung tâm thương mại)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99632" y="2267712"/>
            <a:ext cx="2615184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54496" y="228600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Base Rent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54496" y="246888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Phí thuê tối thiểu cố định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6199632" y="2743200"/>
            <a:ext cx="2615184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54496" y="276148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Turnover Rent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54496" y="294436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MAX(Base, % × Doanh thu tháng của tenant)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6199632" y="3218688"/>
            <a:ext cx="2615184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54496" y="323697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CAM Charges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54496" y="341985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Chi phí khu vực chung phân bổ theo m²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6199632" y="3694176"/>
            <a:ext cx="2615184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54496" y="371246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Marketing Levy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254496" y="389534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% doanh thu đóng vào quỹ marketing TTTM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6199632" y="4169664"/>
            <a:ext cx="2615184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54496" y="418795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Reporting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254496" y="437083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Tenant submit doanh thu hàng tháng → tính phí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Kiến trúc Dữ liệu – Mô hình thực thể mở rộng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C"/>
                </a:solidFill>
              </a:rPr>
              <a:t>Data Architecture – Extended Entity Model for TNPM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</a:rPr>
              <a:t>© 2026 </a:t>
            </a:r>
            <a:r>
              <a:rPr lang="en-US" sz="750" dirty="0">
                <a:solidFill>
                  <a:srgbClr val="E2E8F0"/>
                </a:solidFill>
              </a:rPr>
              <a:t>TNPM – ROX Key | Property Management Platform HLD v2.0 | TOGAF-aligned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162763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987552"/>
            <a:ext cx="1627632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9875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PORTFOLIO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9184" y="135331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portfolio_id PK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9184" y="160934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name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9184" y="18653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owner (TNPM)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9184" y="2121408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created_at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148840" y="987552"/>
            <a:ext cx="162763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48840" y="987552"/>
            <a:ext cx="1627632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6" name="Text 14"/>
          <p:cNvSpPr/>
          <p:nvPr/>
        </p:nvSpPr>
        <p:spPr>
          <a:xfrm>
            <a:off x="2148840" y="9875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PROJECT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21992" y="135331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project_id PK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21992" y="160934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portfolio_id FK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21992" y="18653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project_type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21992" y="2121408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location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221992" y="237744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status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041648" y="987552"/>
            <a:ext cx="162763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F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041648" y="987552"/>
            <a:ext cx="1627632" cy="32004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24" name="Text 22"/>
          <p:cNvSpPr/>
          <p:nvPr/>
        </p:nvSpPr>
        <p:spPr>
          <a:xfrm>
            <a:off x="4041648" y="9875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CUSTOMER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0" y="135331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customer_id PK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114800" y="160934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project_id FK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114800" y="18653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full_name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114800" y="2121408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type (B2C/B2B/B2G)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114800" y="237744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unit_id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943600" y="987552"/>
            <a:ext cx="162763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F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0" y="987552"/>
            <a:ext cx="1627632" cy="32004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9875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CONTRACT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16752" y="135331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contract_id PK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016752" y="160934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customer_id FK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016752" y="18653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contract_type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016752" y="2121408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services[]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016752" y="237744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rent_terms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498080" y="987552"/>
            <a:ext cx="162763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98080" y="987552"/>
            <a:ext cx="1627632" cy="3200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0" y="9875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INVOICE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135331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invoice_id PK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571232" y="160934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contract_id FK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571232" y="18653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period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571232" y="2121408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amount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571232" y="237744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status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56032" y="2816352"/>
            <a:ext cx="162763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56032" y="2816352"/>
            <a:ext cx="1627632" cy="3200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48" name="Text 46"/>
          <p:cNvSpPr/>
          <p:nvPr/>
        </p:nvSpPr>
        <p:spPr>
          <a:xfrm>
            <a:off x="256032" y="28163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VENDOR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29184" y="318211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vendor_id PK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29184" y="343814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name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29184" y="36941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service_types[]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29184" y="3950208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rating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29184" y="420624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status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148840" y="2816352"/>
            <a:ext cx="162763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148840" y="2816352"/>
            <a:ext cx="1627632" cy="3200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56" name="Text 54"/>
          <p:cNvSpPr/>
          <p:nvPr/>
        </p:nvSpPr>
        <p:spPr>
          <a:xfrm>
            <a:off x="2148840" y="28163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VENDOR_CONTRACT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221992" y="318211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vc_id PK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221992" y="343814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vendor_id FK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2221992" y="36941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project_id FK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2221992" y="3950208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sla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2221992" y="420624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value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221992" y="446227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expiry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041648" y="2816352"/>
            <a:ext cx="162763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041648" y="2816352"/>
            <a:ext cx="1627632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5" name="Text 63"/>
          <p:cNvSpPr/>
          <p:nvPr/>
        </p:nvSpPr>
        <p:spPr>
          <a:xfrm>
            <a:off x="4041648" y="28163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SERVICE_REQUEST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114800" y="318211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sr_id PK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114800" y="343814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project_id FK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4114800" y="36941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customer_id FK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114800" y="3950208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vendor_id FK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114800" y="420624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status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943600" y="2816352"/>
            <a:ext cx="162763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5943600" y="2816352"/>
            <a:ext cx="1627632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3" name="Text 71"/>
          <p:cNvSpPr/>
          <p:nvPr/>
        </p:nvSpPr>
        <p:spPr>
          <a:xfrm>
            <a:off x="5943600" y="28163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PAYMENT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016752" y="318211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payment_id PK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016752" y="343814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invoice_id FK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6016752" y="36941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channel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016752" y="3950208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amount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016752" y="420624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txn_ref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7498080" y="2816352"/>
            <a:ext cx="162763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7498080" y="2816352"/>
            <a:ext cx="1627632" cy="3200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1" name="Text 79"/>
          <p:cNvSpPr/>
          <p:nvPr/>
        </p:nvSpPr>
        <p:spPr>
          <a:xfrm>
            <a:off x="7498080" y="28163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VENDOR_INVOICE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7571232" y="318211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vi_id PK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7571232" y="343814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2B4A"/>
                </a:solidFill>
              </a:rPr>
              <a:t>🔑 vc_id FK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7571232" y="36941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amount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7571232" y="3950208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approval_status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7571232" y="420624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  paid_at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Kiến trúc Tích hợp &amp; Luồng dữ liệu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C"/>
                </a:solidFill>
              </a:rPr>
              <a:t>Integration &amp; Data Flow 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</a:rPr>
              <a:t>© 2026 </a:t>
            </a:r>
            <a:r>
              <a:rPr lang="en-US" sz="750" dirty="0">
                <a:solidFill>
                  <a:srgbClr val="E2E8F0"/>
                </a:solidFill>
              </a:rPr>
              <a:t>TNPM – ROX Key | Property Management Platform HLD v2.0 | TOGAF-aligned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286000" cy="1188720"/>
          </a:xfrm>
          <a:prstGeom prst="ellipse">
            <a:avLst/>
          </a:prstGeom>
          <a:solidFill>
            <a:srgbClr val="1A2B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7830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TNPM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Platform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987552"/>
            <a:ext cx="2011680" cy="822960"/>
          </a:xfrm>
          <a:prstGeom prst="rect">
            <a:avLst/>
          </a:prstGeom>
          <a:solidFill>
            <a:srgbClr val="0D7F8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" y="1060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Reborn (FEE)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" y="13533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CD34D"/>
                </a:solidFill>
              </a:rPr>
              <a:t>REST API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FCD34D"/>
                </a:solidFill>
              </a:rPr>
              <a:t>Tính phí, gạch nợ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67712" y="1399032"/>
            <a:ext cx="116128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56032" y="2103120"/>
            <a:ext cx="2011680" cy="822960"/>
          </a:xfrm>
          <a:prstGeom prst="rect">
            <a:avLst/>
          </a:prstGeom>
          <a:solidFill>
            <a:srgbClr val="EA580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 Timi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" y="2468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CD34D"/>
                </a:solidFill>
              </a:rPr>
              <a:t>Webhook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FCD34D"/>
                </a:solidFill>
              </a:rPr>
              <a:t>Công nợ, Noti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67712" y="2514600"/>
            <a:ext cx="116128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56032" y="3218688"/>
            <a:ext cx="2011680" cy="82296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6032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Email SMTP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" y="35844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CD34D"/>
                </a:solidFill>
              </a:rPr>
              <a:t>Email API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FCD34D"/>
                </a:solidFill>
              </a:rPr>
              <a:t>Thông báo phí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67712" y="3630168"/>
            <a:ext cx="116128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858000" y="987552"/>
            <a:ext cx="2011680" cy="822960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0" y="1060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MSB Pay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13533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CD34D"/>
                </a:solidFill>
              </a:rPr>
              <a:t>REST/Webhook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FCD34D"/>
                </a:solidFill>
              </a:rPr>
              <a:t>QR, VA, Debit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715000" y="1399032"/>
            <a:ext cx="11430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858000" y="2103120"/>
            <a:ext cx="2011680" cy="82296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0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Hệ thống SMS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2468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CD34D"/>
                </a:solidFill>
              </a:rPr>
              <a:t>SMS Gateway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FCD34D"/>
                </a:solidFill>
              </a:rPr>
              <a:t>OTP, nhắc hẹn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715000" y="2514600"/>
            <a:ext cx="11430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858000" y="3218688"/>
            <a:ext cx="2011680" cy="822960"/>
          </a:xfrm>
          <a:prstGeom prst="rect">
            <a:avLst/>
          </a:prstGeom>
          <a:solidFill>
            <a:srgbClr val="4338C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5800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Vendor Portal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35844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CD34D"/>
                </a:solidFill>
              </a:rPr>
              <a:t>API/Web Portal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FCD34D"/>
                </a:solidFill>
              </a:rPr>
              <a:t>NCC submit invoice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715000" y="3630168"/>
            <a:ext cx="11430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200400" y="1005840"/>
            <a:ext cx="2743200" cy="36576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🔗  API Gateway / Integration Bus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1371600"/>
            <a:ext cx="0" cy="411480"/>
          </a:xfrm>
          <a:prstGeom prst="line">
            <a:avLst/>
          </a:prstGeom>
          <a:noFill/>
          <a:ln w="25400">
            <a:solidFill>
              <a:srgbClr val="0D7F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3429000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0" y="3429000"/>
            <a:ext cx="274320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📊  BI &amp; Reporting Layer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91840" y="3794760"/>
            <a:ext cx="25603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Export Excel / PDF theo dự án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Dashboard Chủ đầu tư (role-based)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</a:rPr>
              <a:t>Portfolio view cho TNPM leadership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Kiến trúc Kỹ thuật &amp; Hạ tầng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C"/>
                </a:solidFill>
              </a:rPr>
              <a:t>Technology Architecture – TNPM Platform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</a:rPr>
              <a:t>© 2026 </a:t>
            </a:r>
            <a:r>
              <a:rPr lang="en-US" sz="750" dirty="0">
                <a:solidFill>
                  <a:srgbClr val="E2E8F0"/>
                </a:solidFill>
              </a:rPr>
              <a:t>TNPM – ROX Key | Property Management Platform HLD v2.0 | TOGAF-aligned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969264"/>
            <a:ext cx="863193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F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969264"/>
            <a:ext cx="1325880" cy="896112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969264"/>
            <a:ext cx="1325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Client Layer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64208" y="10424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▶ Web Admin (React/Vue) – BQL, Kế toán, QLDA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664208" y="13167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▶ Mobile App Cư dân (React Native) – Timi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664208" y="15910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▶ Vendor Portal (Web) – NCC submit invoice &amp; tracking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56032" y="1947672"/>
            <a:ext cx="863193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947672"/>
            <a:ext cx="1325880" cy="89611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" y="1947672"/>
            <a:ext cx="1325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API Gateway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64208" y="202082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▶ API Gateway: Auth, Rate limit, Routing, Tenant-context injection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664208" y="229514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▶ BFF per client type (Web/Mobile/Vendor)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664208" y="25694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▶ OAuth2 / JWT + Tenant claims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56032" y="2926080"/>
            <a:ext cx="863193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926080"/>
            <a:ext cx="1325880" cy="89611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" y="2926080"/>
            <a:ext cx="1325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Business Services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64208" y="29992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▶ CRM · Contract · Billing · Lease · Turnover · Payment · Vendor Mgmt · Notification · OPS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664208" y="32735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▶ Mỗi service deploy độc lập | giao tiếp qua Message Bus (Kafka/RabbitMQ)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664208" y="354787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▶ Multi-tenant context propagated qua header X-Tenant-ID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56032" y="3904488"/>
            <a:ext cx="863193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3904488"/>
            <a:ext cx="1325880" cy="8961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" y="3904488"/>
            <a:ext cx="1325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Layer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64208" y="39776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334155"/>
                </a:solidFill>
              </a:rPr>
              <a:t>▶ Mysql/PostgreSQL </a:t>
            </a:r>
            <a:r>
              <a:rPr lang="en-US" sz="880" dirty="0">
                <a:solidFill>
                  <a:srgbClr val="334155"/>
                </a:solidFill>
              </a:rPr>
              <a:t>(schema-per-tenant) · Redis (cache/session) · S3 (files/contracts)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664208" y="42519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▶ Kafka (event streaming) · ElasticSearch (search/log) · Prometheus + Grafana (monitoring)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56032" y="4846320"/>
            <a:ext cx="8631936" cy="1828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484632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EA580C"/>
                </a:solidFill>
              </a:rPr>
              <a:t>⚡ NFR: Uptime ≥ 99.5% · Thanh toán &lt; 3s · Multi-tenant isolation · Encrypted at rest &amp; transit · Full Audit Log · NHNN payment compliance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Lộ trình Triển khai – TNPM Platform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C"/>
                </a:solidFill>
              </a:rPr>
              <a:t>Implementation Roadmap – 4 Phases </a:t>
            </a:r>
            <a:r>
              <a:rPr lang="en-US" sz="1000">
                <a:solidFill>
                  <a:srgbClr val="0D7F8C"/>
                </a:solidFill>
              </a:rPr>
              <a:t>/ 20 weeks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</a:rPr>
              <a:t>© 2026 </a:t>
            </a:r>
            <a:r>
              <a:rPr lang="en-US" sz="750" dirty="0">
                <a:solidFill>
                  <a:srgbClr val="E2E8F0"/>
                </a:solidFill>
              </a:rPr>
              <a:t>TNPM – ROX Key | Property Management Platform HLD v2.0 | TOGAF-aligned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60605" y="977138"/>
            <a:ext cx="20574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56032" y="969264"/>
            <a:ext cx="2057400" cy="65836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6032" y="9692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Foundation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3533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CD34D"/>
                </a:solidFill>
              </a:rPr>
              <a:t>T1–T8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59" y="1753362"/>
            <a:ext cx="1833371" cy="231508"/>
          </a:xfrm>
          <a:prstGeom prst="rect">
            <a:avLst/>
          </a:prstGeom>
          <a:solidFill>
            <a:srgbClr val="F8FAFC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" y="1764792"/>
            <a:ext cx="182880" cy="18288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" y="1700784"/>
            <a:ext cx="1389126" cy="29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CRM + Hợp đồng dịch vụ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63220" y="2120784"/>
            <a:ext cx="1835911" cy="220079"/>
          </a:xfrm>
          <a:prstGeom prst="rect">
            <a:avLst/>
          </a:prstGeom>
          <a:solidFill>
            <a:srgbClr val="F8FAFC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" y="2132215"/>
            <a:ext cx="182880" cy="18288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16" name="Text 14"/>
          <p:cNvSpPr/>
          <p:nvPr/>
        </p:nvSpPr>
        <p:spPr>
          <a:xfrm>
            <a:off x="675386" y="2114238"/>
            <a:ext cx="1444752" cy="201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Billing Engine cơ bản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370332" y="2476777"/>
            <a:ext cx="1828800" cy="213221"/>
          </a:xfrm>
          <a:prstGeom prst="rect">
            <a:avLst/>
          </a:prstGeom>
          <a:solidFill>
            <a:srgbClr val="F8FAFC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0624" y="2488208"/>
            <a:ext cx="182880" cy="18288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19" name="Text 17"/>
          <p:cNvSpPr/>
          <p:nvPr/>
        </p:nvSpPr>
        <p:spPr>
          <a:xfrm>
            <a:off x="675386" y="2447174"/>
            <a:ext cx="1389126" cy="208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Payment: </a:t>
            </a:r>
            <a:r>
              <a:rPr lang="en-US" sz="820" dirty="0" err="1">
                <a:solidFill>
                  <a:srgbClr val="334155"/>
                </a:solidFill>
              </a:rPr>
              <a:t>Tiền</a:t>
            </a:r>
            <a:r>
              <a:rPr lang="en-US" sz="820" dirty="0">
                <a:solidFill>
                  <a:srgbClr val="334155"/>
                </a:solidFill>
              </a:rPr>
              <a:t> </a:t>
            </a:r>
            <a:r>
              <a:rPr lang="en-US" sz="820" dirty="0" err="1">
                <a:solidFill>
                  <a:srgbClr val="334155"/>
                </a:solidFill>
              </a:rPr>
              <a:t>mặt</a:t>
            </a:r>
            <a:r>
              <a:rPr lang="en-US" sz="820" dirty="0">
                <a:solidFill>
                  <a:srgbClr val="334155"/>
                </a:solidFill>
              </a:rPr>
              <a:t> &amp; CK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347472" y="2824665"/>
            <a:ext cx="1859536" cy="240238"/>
          </a:xfrm>
          <a:prstGeom prst="rect">
            <a:avLst/>
          </a:prstGeom>
          <a:solidFill>
            <a:srgbClr val="F8FAFC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r>
              <a:rPr lang="en-US" sz="1100" dirty="0"/>
              <a:t>        </a:t>
            </a:r>
            <a:r>
              <a:rPr lang="en-US" sz="800" dirty="0"/>
              <a:t>Multi – tenant core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2834640"/>
            <a:ext cx="182880" cy="18288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23" name="Shape 21"/>
          <p:cNvSpPr/>
          <p:nvPr/>
        </p:nvSpPr>
        <p:spPr>
          <a:xfrm>
            <a:off x="375920" y="4506214"/>
            <a:ext cx="1828800" cy="1828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" y="448792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" y="4506214"/>
            <a:ext cx="1444752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45309"/>
                </a:solidFill>
              </a:rPr>
              <a:t>Áp dụng: Chung cư, Nhà TT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2313432" y="283464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468877" y="983765"/>
            <a:ext cx="20574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D7F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50592" y="969264"/>
            <a:ext cx="2057400" cy="658368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29" name="Text 27"/>
          <p:cNvSpPr/>
          <p:nvPr/>
        </p:nvSpPr>
        <p:spPr>
          <a:xfrm>
            <a:off x="2450592" y="9692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Payment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Vendor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50592" y="13533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CD34D"/>
                </a:solidFill>
              </a:rPr>
              <a:t>T8–T10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98064" y="1700784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54964" y="3133897"/>
            <a:ext cx="1859535" cy="258526"/>
          </a:xfrm>
          <a:prstGeom prst="rect">
            <a:avLst/>
          </a:prstGeom>
          <a:solidFill>
            <a:srgbClr val="F8FAFC"/>
          </a:solidFill>
          <a:ln w="12700">
            <a:solidFill>
              <a:srgbClr val="0D7F8C"/>
            </a:solidFill>
            <a:prstDash val="solid"/>
          </a:ln>
        </p:spPr>
        <p:txBody>
          <a:bodyPr/>
          <a:lstStyle/>
          <a:p>
            <a:r>
              <a:rPr lang="en-US" sz="820" dirty="0"/>
              <a:t>          MSB Pay + Timi</a:t>
            </a:r>
          </a:p>
        </p:txBody>
      </p:sp>
      <p:sp>
        <p:nvSpPr>
          <p:cNvPr id="34" name="Shape 32"/>
          <p:cNvSpPr/>
          <p:nvPr/>
        </p:nvSpPr>
        <p:spPr>
          <a:xfrm>
            <a:off x="2587753" y="1760220"/>
            <a:ext cx="1801365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0D7F8C"/>
            </a:solidFill>
            <a:prstDash val="solid"/>
          </a:ln>
        </p:spPr>
        <p:txBody>
          <a:bodyPr/>
          <a:lstStyle/>
          <a:p>
            <a:r>
              <a:rPr lang="en-US" dirty="0"/>
              <a:t>    </a:t>
            </a:r>
            <a:r>
              <a:rPr lang="en-US" sz="800" dirty="0">
                <a:solidFill>
                  <a:srgbClr val="334155"/>
                </a:solidFill>
              </a:rPr>
              <a:t>Auto-debit &amp; </a:t>
            </a:r>
            <a:r>
              <a:rPr lang="en-US" sz="800" dirty="0" err="1">
                <a:solidFill>
                  <a:srgbClr val="334155"/>
                </a:solidFill>
              </a:rPr>
              <a:t>gạch</a:t>
            </a:r>
            <a:r>
              <a:rPr lang="en-US" sz="800" dirty="0">
                <a:solidFill>
                  <a:srgbClr val="334155"/>
                </a:solidFill>
              </a:rPr>
              <a:t> </a:t>
            </a:r>
            <a:r>
              <a:rPr lang="en-US" sz="800" dirty="0" err="1">
                <a:solidFill>
                  <a:srgbClr val="334155"/>
                </a:solidFill>
              </a:rPr>
              <a:t>nợ</a:t>
            </a:r>
            <a:r>
              <a:rPr lang="en-US" sz="800" dirty="0">
                <a:solidFill>
                  <a:srgbClr val="334155"/>
                </a:solidFill>
              </a:rPr>
              <a:t> auto</a:t>
            </a:r>
            <a:endParaRPr lang="en-US" sz="800" dirty="0"/>
          </a:p>
          <a:p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2610611" y="1879116"/>
            <a:ext cx="182880" cy="182880"/>
          </a:xfrm>
          <a:prstGeom prst="ellipse">
            <a:avLst/>
          </a:prstGeom>
          <a:solidFill>
            <a:srgbClr val="0D7F8C"/>
          </a:solidFill>
          <a:ln/>
        </p:spPr>
      </p:sp>
      <p:sp>
        <p:nvSpPr>
          <p:cNvPr id="37" name="Shape 35"/>
          <p:cNvSpPr/>
          <p:nvPr/>
        </p:nvSpPr>
        <p:spPr>
          <a:xfrm>
            <a:off x="2587753" y="2507118"/>
            <a:ext cx="1801364" cy="702426"/>
          </a:xfrm>
          <a:prstGeom prst="rect">
            <a:avLst/>
          </a:prstGeom>
          <a:solidFill>
            <a:srgbClr val="F8FAFC"/>
          </a:solidFill>
          <a:ln w="12700">
            <a:solidFill>
              <a:srgbClr val="0D7F8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15184" y="2771140"/>
            <a:ext cx="182880" cy="182880"/>
          </a:xfrm>
          <a:prstGeom prst="ellipse">
            <a:avLst/>
          </a:prstGeom>
          <a:solidFill>
            <a:srgbClr val="0D7F8C"/>
          </a:solidFill>
          <a:ln/>
        </p:spPr>
      </p:sp>
      <p:sp>
        <p:nvSpPr>
          <p:cNvPr id="39" name="Text 37"/>
          <p:cNvSpPr/>
          <p:nvPr/>
        </p:nvSpPr>
        <p:spPr>
          <a:xfrm>
            <a:off x="2871724" y="2258568"/>
            <a:ext cx="141681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Vendor Management module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2582929" y="3416924"/>
            <a:ext cx="1806189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0D7F8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15184" y="3654668"/>
            <a:ext cx="182880" cy="182880"/>
          </a:xfrm>
          <a:prstGeom prst="ellipse">
            <a:avLst/>
          </a:prstGeom>
          <a:solidFill>
            <a:srgbClr val="0D7F8C"/>
          </a:solidFill>
          <a:ln/>
        </p:spPr>
      </p:sp>
      <p:sp>
        <p:nvSpPr>
          <p:cNvPr id="42" name="Text 40"/>
          <p:cNvSpPr/>
          <p:nvPr/>
        </p:nvSpPr>
        <p:spPr>
          <a:xfrm>
            <a:off x="2843784" y="3392423"/>
            <a:ext cx="1444752" cy="704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Báo cáo theo dự án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2544317" y="4178808"/>
            <a:ext cx="1844801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10611" y="434340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2843784" y="4187952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45309"/>
                </a:solidFill>
              </a:rPr>
              <a:t>Áp dụng: Văn phòng, KCN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4507992" y="283464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645152" y="969264"/>
            <a:ext cx="20574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45152" y="969264"/>
            <a:ext cx="2057400" cy="65836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9" name="Text 47"/>
          <p:cNvSpPr/>
          <p:nvPr/>
        </p:nvSpPr>
        <p:spPr>
          <a:xfrm>
            <a:off x="4645152" y="9692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Lease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Retail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45152" y="13533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FCD34D"/>
                </a:solidFill>
              </a:rPr>
              <a:t>T11–T16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54880" y="1691640"/>
            <a:ext cx="1828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9744" y="1764792"/>
            <a:ext cx="182880" cy="1828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53" name="Text 51"/>
          <p:cNvSpPr/>
          <p:nvPr/>
        </p:nvSpPr>
        <p:spPr>
          <a:xfrm>
            <a:off x="5038344" y="1700784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Lease Management module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4754880" y="2313432"/>
            <a:ext cx="1828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09744" y="2386584"/>
            <a:ext cx="182880" cy="1828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56" name="Text 54"/>
          <p:cNvSpPr/>
          <p:nvPr/>
        </p:nvSpPr>
        <p:spPr>
          <a:xfrm>
            <a:off x="5038344" y="2322576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Turnover Rent (TTTM)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4754880" y="2935224"/>
            <a:ext cx="1828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9744" y="3008376"/>
            <a:ext cx="182880" cy="1828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59" name="Text 57"/>
          <p:cNvSpPr/>
          <p:nvPr/>
        </p:nvSpPr>
        <p:spPr>
          <a:xfrm>
            <a:off x="5038344" y="2944368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B2G compliance module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4754880" y="3557016"/>
            <a:ext cx="1828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9744" y="3630168"/>
            <a:ext cx="182880" cy="1828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2" name="Text 60"/>
          <p:cNvSpPr/>
          <p:nvPr/>
        </p:nvSpPr>
        <p:spPr>
          <a:xfrm>
            <a:off x="5038344" y="3566160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CAM charges engine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4754880" y="4178808"/>
            <a:ext cx="182880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09744" y="425196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5" name="Text 63"/>
          <p:cNvSpPr/>
          <p:nvPr/>
        </p:nvSpPr>
        <p:spPr>
          <a:xfrm>
            <a:off x="5038344" y="4187952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45309"/>
                </a:solidFill>
              </a:rPr>
              <a:t>Áp dụng: TTTM, Khu HC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6702552" y="283464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839712" y="969264"/>
            <a:ext cx="20574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839712" y="969264"/>
            <a:ext cx="205740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9" name="Text 67"/>
          <p:cNvSpPr/>
          <p:nvPr/>
        </p:nvSpPr>
        <p:spPr>
          <a:xfrm>
            <a:off x="6839712" y="9692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Optimize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Scale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839712" y="13533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FCD34D"/>
                </a:solidFill>
              </a:rPr>
              <a:t>T17–T20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949440" y="1691640"/>
            <a:ext cx="1828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004304" y="1764792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3" name="Text 71"/>
          <p:cNvSpPr/>
          <p:nvPr/>
        </p:nvSpPr>
        <p:spPr>
          <a:xfrm>
            <a:off x="7232904" y="1700784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Dashboard BI toàn portfolio</a:t>
            </a:r>
            <a:endParaRPr lang="en-US" sz="820" dirty="0"/>
          </a:p>
        </p:txBody>
      </p:sp>
      <p:sp>
        <p:nvSpPr>
          <p:cNvPr id="74" name="Shape 72"/>
          <p:cNvSpPr/>
          <p:nvPr/>
        </p:nvSpPr>
        <p:spPr>
          <a:xfrm>
            <a:off x="6949440" y="2313432"/>
            <a:ext cx="1828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004304" y="2386584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6" name="Text 74"/>
          <p:cNvSpPr/>
          <p:nvPr/>
        </p:nvSpPr>
        <p:spPr>
          <a:xfrm>
            <a:off x="7232904" y="2322576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AI phân tích công nợ</a:t>
            </a:r>
            <a:endParaRPr lang="en-US" sz="820" dirty="0"/>
          </a:p>
        </p:txBody>
      </p:sp>
      <p:sp>
        <p:nvSpPr>
          <p:cNvPr id="77" name="Shape 75"/>
          <p:cNvSpPr/>
          <p:nvPr/>
        </p:nvSpPr>
        <p:spPr>
          <a:xfrm>
            <a:off x="6949440" y="2935224"/>
            <a:ext cx="1828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004304" y="3008376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9" name="Text 77"/>
          <p:cNvSpPr/>
          <p:nvPr/>
        </p:nvSpPr>
        <p:spPr>
          <a:xfrm>
            <a:off x="7232904" y="2944368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Vendor KPI dashboard</a:t>
            </a:r>
            <a:endParaRPr lang="en-US" sz="820" dirty="0"/>
          </a:p>
        </p:txBody>
      </p:sp>
      <p:sp>
        <p:nvSpPr>
          <p:cNvPr id="80" name="Shape 78"/>
          <p:cNvSpPr/>
          <p:nvPr/>
        </p:nvSpPr>
        <p:spPr>
          <a:xfrm>
            <a:off x="6949440" y="3557016"/>
            <a:ext cx="1828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04304" y="3630168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2" name="Text 80"/>
          <p:cNvSpPr/>
          <p:nvPr/>
        </p:nvSpPr>
        <p:spPr>
          <a:xfrm>
            <a:off x="7232904" y="3566160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API mở cho CĐT tự kết nối</a:t>
            </a:r>
            <a:endParaRPr lang="en-US" sz="820" dirty="0"/>
          </a:p>
        </p:txBody>
      </p:sp>
      <p:sp>
        <p:nvSpPr>
          <p:cNvPr id="83" name="Shape 81"/>
          <p:cNvSpPr/>
          <p:nvPr/>
        </p:nvSpPr>
        <p:spPr>
          <a:xfrm>
            <a:off x="6949440" y="4178808"/>
            <a:ext cx="1828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004304" y="425196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5" name="Text 83"/>
          <p:cNvSpPr/>
          <p:nvPr/>
        </p:nvSpPr>
        <p:spPr>
          <a:xfrm>
            <a:off x="7232904" y="4187952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Mobile app NCC đầy đủ</a:t>
            </a:r>
            <a:endParaRPr lang="en-US" sz="820" dirty="0"/>
          </a:p>
        </p:txBody>
      </p:sp>
      <p:sp>
        <p:nvSpPr>
          <p:cNvPr id="86" name="Shape 19">
            <a:extLst>
              <a:ext uri="{FF2B5EF4-FFF2-40B4-BE49-F238E27FC236}">
                <a16:creationId xmlns:a16="http://schemas.microsoft.com/office/drawing/2014/main" id="{4C16A433-AE68-D3BA-49BD-4342193CBA9B}"/>
              </a:ext>
            </a:extLst>
          </p:cNvPr>
          <p:cNvSpPr/>
          <p:nvPr/>
        </p:nvSpPr>
        <p:spPr>
          <a:xfrm>
            <a:off x="411480" y="3162473"/>
            <a:ext cx="182880" cy="18288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92" name="Shape 29">
            <a:extLst>
              <a:ext uri="{FF2B5EF4-FFF2-40B4-BE49-F238E27FC236}">
                <a16:creationId xmlns:a16="http://schemas.microsoft.com/office/drawing/2014/main" id="{7DC042AC-A762-1AE4-F348-69850C3CDB06}"/>
              </a:ext>
            </a:extLst>
          </p:cNvPr>
          <p:cNvSpPr/>
          <p:nvPr/>
        </p:nvSpPr>
        <p:spPr>
          <a:xfrm>
            <a:off x="339597" y="3463082"/>
            <a:ext cx="1867411" cy="258526"/>
          </a:xfrm>
          <a:prstGeom prst="rect">
            <a:avLst/>
          </a:prstGeom>
          <a:solidFill>
            <a:srgbClr val="F8FAFC"/>
          </a:solidFill>
          <a:ln w="12700">
            <a:solidFill>
              <a:srgbClr val="0D7F8C"/>
            </a:solidFill>
            <a:prstDash val="solid"/>
          </a:ln>
        </p:spPr>
        <p:txBody>
          <a:bodyPr/>
          <a:lstStyle/>
          <a:p>
            <a:r>
              <a:rPr lang="en-US" sz="800" dirty="0"/>
              <a:t>           </a:t>
            </a:r>
            <a:r>
              <a:rPr lang="en-US" sz="800" dirty="0" err="1"/>
              <a:t>Kênh</a:t>
            </a:r>
            <a:r>
              <a:rPr lang="en-US" sz="800" dirty="0"/>
              <a:t> </a:t>
            </a:r>
            <a:r>
              <a:rPr lang="en-US" sz="800" dirty="0" err="1"/>
              <a:t>tiếp</a:t>
            </a:r>
            <a:r>
              <a:rPr lang="en-US" sz="800" dirty="0"/>
              <a:t> </a:t>
            </a:r>
            <a:r>
              <a:rPr lang="en-US" sz="800" dirty="0" err="1"/>
              <a:t>nhận</a:t>
            </a:r>
            <a:r>
              <a:rPr lang="en-US" sz="800" dirty="0"/>
              <a:t> </a:t>
            </a:r>
            <a:r>
              <a:rPr lang="en-US" sz="800" dirty="0" err="1"/>
              <a:t>yêu</a:t>
            </a:r>
            <a:r>
              <a:rPr lang="en-US" sz="800" dirty="0"/>
              <a:t> </a:t>
            </a:r>
            <a:r>
              <a:rPr lang="en-US" sz="800" dirty="0" err="1"/>
              <a:t>cầu</a:t>
            </a:r>
            <a:r>
              <a:rPr lang="en-US" sz="800" dirty="0"/>
              <a:t> KH</a:t>
            </a:r>
          </a:p>
        </p:txBody>
      </p:sp>
      <p:sp>
        <p:nvSpPr>
          <p:cNvPr id="88" name="Shape 19">
            <a:extLst>
              <a:ext uri="{FF2B5EF4-FFF2-40B4-BE49-F238E27FC236}">
                <a16:creationId xmlns:a16="http://schemas.microsoft.com/office/drawing/2014/main" id="{E02972D8-3BA4-694B-59AC-C1B54C282AE9}"/>
              </a:ext>
            </a:extLst>
          </p:cNvPr>
          <p:cNvSpPr/>
          <p:nvPr/>
        </p:nvSpPr>
        <p:spPr>
          <a:xfrm>
            <a:off x="406908" y="3487833"/>
            <a:ext cx="173736" cy="182880"/>
          </a:xfrm>
          <a:prstGeom prst="ellipse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4" name="Shape 29">
            <a:extLst>
              <a:ext uri="{FF2B5EF4-FFF2-40B4-BE49-F238E27FC236}">
                <a16:creationId xmlns:a16="http://schemas.microsoft.com/office/drawing/2014/main" id="{0934CED1-88DE-9FE4-730C-3F87D557CEC2}"/>
              </a:ext>
            </a:extLst>
          </p:cNvPr>
          <p:cNvSpPr/>
          <p:nvPr/>
        </p:nvSpPr>
        <p:spPr>
          <a:xfrm>
            <a:off x="339597" y="3801768"/>
            <a:ext cx="1859535" cy="258526"/>
          </a:xfrm>
          <a:prstGeom prst="rect">
            <a:avLst/>
          </a:prstGeom>
          <a:solidFill>
            <a:srgbClr val="F8FAFC"/>
          </a:solidFill>
          <a:ln w="12700">
            <a:solidFill>
              <a:srgbClr val="0D7F8C"/>
            </a:solidFill>
            <a:prstDash val="solid"/>
          </a:ln>
        </p:spPr>
        <p:txBody>
          <a:bodyPr/>
          <a:lstStyle/>
          <a:p>
            <a:r>
              <a:rPr lang="en-US" sz="820" dirty="0"/>
              <a:t>        </a:t>
            </a:r>
          </a:p>
        </p:txBody>
      </p:sp>
      <p:sp>
        <p:nvSpPr>
          <p:cNvPr id="93" name="Shape 19">
            <a:extLst>
              <a:ext uri="{FF2B5EF4-FFF2-40B4-BE49-F238E27FC236}">
                <a16:creationId xmlns:a16="http://schemas.microsoft.com/office/drawing/2014/main" id="{BDF3D213-C71C-86C3-A1F6-DFD45C3C36B7}"/>
              </a:ext>
            </a:extLst>
          </p:cNvPr>
          <p:cNvSpPr/>
          <p:nvPr/>
        </p:nvSpPr>
        <p:spPr>
          <a:xfrm>
            <a:off x="406908" y="3840480"/>
            <a:ext cx="173736" cy="182880"/>
          </a:xfrm>
          <a:prstGeom prst="ellipse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5" name="Shape 29">
            <a:extLst>
              <a:ext uri="{FF2B5EF4-FFF2-40B4-BE49-F238E27FC236}">
                <a16:creationId xmlns:a16="http://schemas.microsoft.com/office/drawing/2014/main" id="{F9299E38-DE56-1A67-602C-98D3ED8BAAB6}"/>
              </a:ext>
            </a:extLst>
          </p:cNvPr>
          <p:cNvSpPr/>
          <p:nvPr/>
        </p:nvSpPr>
        <p:spPr>
          <a:xfrm>
            <a:off x="363220" y="4153407"/>
            <a:ext cx="1859535" cy="258526"/>
          </a:xfrm>
          <a:prstGeom prst="rect">
            <a:avLst/>
          </a:prstGeom>
          <a:solidFill>
            <a:srgbClr val="F8FAFC"/>
          </a:solidFill>
          <a:ln w="12700">
            <a:solidFill>
              <a:srgbClr val="0D7F8C"/>
            </a:solidFill>
            <a:prstDash val="solid"/>
          </a:ln>
        </p:spPr>
        <p:txBody>
          <a:bodyPr/>
          <a:lstStyle/>
          <a:p>
            <a:r>
              <a:rPr lang="en-US" sz="820" dirty="0"/>
              <a:t>          Hotline</a:t>
            </a:r>
          </a:p>
        </p:txBody>
      </p:sp>
      <p:sp>
        <p:nvSpPr>
          <p:cNvPr id="90" name="Shape 19">
            <a:extLst>
              <a:ext uri="{FF2B5EF4-FFF2-40B4-BE49-F238E27FC236}">
                <a16:creationId xmlns:a16="http://schemas.microsoft.com/office/drawing/2014/main" id="{995ADBDB-1B54-1A1A-1F98-E42A1420C397}"/>
              </a:ext>
            </a:extLst>
          </p:cNvPr>
          <p:cNvSpPr/>
          <p:nvPr/>
        </p:nvSpPr>
        <p:spPr>
          <a:xfrm>
            <a:off x="406908" y="4170680"/>
            <a:ext cx="182880" cy="18288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A256997-6F6E-E62B-AED0-52599CEDCDB3}"/>
              </a:ext>
            </a:extLst>
          </p:cNvPr>
          <p:cNvSpPr txBox="1"/>
          <p:nvPr/>
        </p:nvSpPr>
        <p:spPr>
          <a:xfrm>
            <a:off x="1016000" y="3943350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DDF8170-3856-00D3-B05D-CE92D0F3192F}"/>
              </a:ext>
            </a:extLst>
          </p:cNvPr>
          <p:cNvSpPr txBox="1"/>
          <p:nvPr/>
        </p:nvSpPr>
        <p:spPr>
          <a:xfrm>
            <a:off x="582168" y="3804054"/>
            <a:ext cx="19621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Ticket </a:t>
            </a:r>
            <a:r>
              <a:rPr lang="en-US" sz="800" dirty="0" err="1"/>
              <a:t>xử</a:t>
            </a:r>
            <a:r>
              <a:rPr lang="en-US" sz="800" dirty="0"/>
              <a:t> </a:t>
            </a:r>
            <a:r>
              <a:rPr lang="en-US" sz="800" dirty="0" err="1"/>
              <a:t>lý</a:t>
            </a:r>
            <a:r>
              <a:rPr lang="en-US" sz="800" dirty="0"/>
              <a:t> </a:t>
            </a:r>
            <a:r>
              <a:rPr lang="en-US" sz="800" dirty="0" err="1"/>
              <a:t>khiếu</a:t>
            </a:r>
            <a:r>
              <a:rPr lang="en-US" sz="800" dirty="0"/>
              <a:t> </a:t>
            </a:r>
            <a:r>
              <a:rPr lang="en-US" sz="800" dirty="0" err="1"/>
              <a:t>nại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Rủi ro &amp; Khuyến nghị Giảm thiểu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C"/>
                </a:solidFill>
              </a:rPr>
              <a:t>Risks &amp; Mitigation Strategy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</a:rPr>
              <a:t>© 2026 </a:t>
            </a:r>
            <a:r>
              <a:rPr lang="en-US" sz="750" dirty="0">
                <a:solidFill>
                  <a:srgbClr val="E2E8F0"/>
                </a:solidFill>
              </a:rPr>
              <a:t>TNPM – ROX Key | Property Management Platform HLD v2.0 | TOGAF-aligned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969264"/>
            <a:ext cx="50292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96926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Mức độ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04672" y="969264"/>
            <a:ext cx="233172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96926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Rủi ro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969264"/>
            <a:ext cx="210312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9692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Tác động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49240" y="969264"/>
            <a:ext cx="3538728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4" name="Text 12"/>
          <p:cNvSpPr/>
          <p:nvPr/>
        </p:nvSpPr>
        <p:spPr>
          <a:xfrm>
            <a:off x="5349240" y="969264"/>
            <a:ext cx="3538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Biện pháp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1344168"/>
            <a:ext cx="8631936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490472"/>
            <a:ext cx="50292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" y="14904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CAO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04672" y="1344168"/>
            <a:ext cx="233172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2B4A"/>
                </a:solidFill>
              </a:rPr>
              <a:t>Turnover Rent: Tenant khai gian doanh thu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200400" y="1344168"/>
            <a:ext cx="210312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Mất phí thuê TTTM, tranh chấp pháp lý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5349240" y="1344168"/>
            <a:ext cx="353872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POS integration hoặc cross-check với báo cáo thuế; penalty clause trong HĐ thuê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256032" y="1956816"/>
            <a:ext cx="86319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2103120"/>
            <a:ext cx="50292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CAO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04672" y="1956816"/>
            <a:ext cx="233172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2B4A"/>
                </a:solidFill>
              </a:rPr>
              <a:t>Multi-tenant data leak giữa các dự án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3200400" y="1956816"/>
            <a:ext cx="210312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Vi phạm bảo mật, mất niềm tin CĐT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5349240" y="1956816"/>
            <a:ext cx="353872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Schema isolation, penetration test định kỳ, audit log toàn bộ cross-tenant query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256032" y="2569464"/>
            <a:ext cx="8631936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715768"/>
            <a:ext cx="50292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256032" y="2715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CAO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04672" y="2569464"/>
            <a:ext cx="233172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2B4A"/>
                </a:solidFill>
              </a:rPr>
              <a:t>Vendor payment fraud – NCC giả mạo invoice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3200400" y="2569464"/>
            <a:ext cx="210312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Thất thoát tài chính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5349240" y="2569464"/>
            <a:ext cx="353872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3-way match bắt buộc; phân quyền approve đa cấp; digital signature trên invoice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56032" y="3182112"/>
            <a:ext cx="86319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" y="3328416"/>
            <a:ext cx="502920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5" name="Text 33"/>
          <p:cNvSpPr/>
          <p:nvPr/>
        </p:nvSpPr>
        <p:spPr>
          <a:xfrm>
            <a:off x="256032" y="33284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TRUNG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04672" y="3182112"/>
            <a:ext cx="233172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2B4A"/>
                </a:solidFill>
              </a:rPr>
              <a:t>B2G compliance – thủ tục thanh toán kho bạc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3200400" y="3182112"/>
            <a:ext cx="210312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Chậm thanh toán, vướng pháp lý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5349240" y="3182112"/>
            <a:ext cx="353872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Module B2G riêng với workflow phê duyệt đặc biệt; tư vấn pháp lý trước triển khai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256032" y="3794760"/>
            <a:ext cx="8631936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" y="3941064"/>
            <a:ext cx="502920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1" name="Text 39"/>
          <p:cNvSpPr/>
          <p:nvPr/>
        </p:nvSpPr>
        <p:spPr>
          <a:xfrm>
            <a:off x="256032" y="39410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TRUNG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04672" y="3794760"/>
            <a:ext cx="233172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2B4A"/>
                </a:solidFill>
              </a:rPr>
              <a:t>Hiệu năng tính phí hàng loạt (nhiều DA)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3200400" y="3794760"/>
            <a:ext cx="210312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Hệ thống chậm ngày mồng 8 với portfolio lớn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5349240" y="3794760"/>
            <a:ext cx="353872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Distributed batch job, queue per project, horizontal scaling Billing service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256032" y="4407408"/>
            <a:ext cx="86319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032" y="4553712"/>
            <a:ext cx="50292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7" name="Text 45"/>
          <p:cNvSpPr/>
          <p:nvPr/>
        </p:nvSpPr>
        <p:spPr>
          <a:xfrm>
            <a:off x="256032" y="45537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THẤP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04672" y="4407408"/>
            <a:ext cx="233172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2B4A"/>
                </a:solidFill>
              </a:rPr>
              <a:t>Khách hàng B2B chậm adopt App Timi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3200400" y="4407408"/>
            <a:ext cx="210312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Vẫn thanh toán thủ công, tốn công gạch nợ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5349240" y="4407408"/>
            <a:ext cx="353872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Giữ kênh CK + NET30 invoice song song; onboarding từng doanh nghiệp</a:t>
            </a:r>
            <a:endParaRPr lang="en-US" sz="8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KPIs &amp; Chỉ số Thành công – TNPM Platform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C"/>
                </a:solidFill>
              </a:rPr>
              <a:t>Key Performance Indicators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</a:rPr>
              <a:t>© 2026 </a:t>
            </a:r>
            <a:r>
              <a:rPr lang="en-US" sz="750" dirty="0">
                <a:solidFill>
                  <a:srgbClr val="E2E8F0"/>
                </a:solidFill>
              </a:rPr>
              <a:t>TNPM – ROX Key | Property Management Platform HLD v2.0 | TOGAF-aligned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969264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969264"/>
            <a:ext cx="4206240" cy="384048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9692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💳 Thanh toán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28346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" y="1472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Tỷ lệ TT đúng hạn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444752"/>
            <a:ext cx="1152144" cy="347472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44752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≥ 85%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1874520"/>
            <a:ext cx="28346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" y="1901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Xử lý giao dịch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874520"/>
            <a:ext cx="1152144" cy="347472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18745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&lt; 3s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304288"/>
            <a:ext cx="28346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" y="2331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Auto-debit success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304288"/>
            <a:ext cx="1152144" cy="347472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2304288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≥ 90%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18304" y="969264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18304" y="969264"/>
            <a:ext cx="4206240" cy="384048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4" name="Text 22"/>
          <p:cNvSpPr/>
          <p:nvPr/>
        </p:nvSpPr>
        <p:spPr>
          <a:xfrm>
            <a:off x="4718304" y="9692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🏭 Vendor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28032" y="1444752"/>
            <a:ext cx="28346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4882896" y="1472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SLA NCC met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62672" y="1444752"/>
            <a:ext cx="1152144" cy="34747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8" name="Text 26"/>
          <p:cNvSpPr/>
          <p:nvPr/>
        </p:nvSpPr>
        <p:spPr>
          <a:xfrm>
            <a:off x="7662672" y="1444752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≥ 95%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28032" y="1874520"/>
            <a:ext cx="28346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882896" y="1901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Thời gian approve TT NCC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662672" y="1874520"/>
            <a:ext cx="1152144" cy="34747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2" name="Text 30"/>
          <p:cNvSpPr/>
          <p:nvPr/>
        </p:nvSpPr>
        <p:spPr>
          <a:xfrm>
            <a:off x="7662672" y="18745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&lt; 5 ngày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28032" y="2304288"/>
            <a:ext cx="28346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4882896" y="2331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NCC rating trung bình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62672" y="2304288"/>
            <a:ext cx="1152144" cy="34747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6" name="Text 34"/>
          <p:cNvSpPr/>
          <p:nvPr/>
        </p:nvSpPr>
        <p:spPr>
          <a:xfrm>
            <a:off x="7662672" y="2304288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≥ 4/5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2980944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2980944"/>
            <a:ext cx="420624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9" name="Text 37"/>
          <p:cNvSpPr/>
          <p:nvPr/>
        </p:nvSpPr>
        <p:spPr>
          <a:xfrm>
            <a:off x="256032" y="29809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🏢 Vận hành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456432"/>
            <a:ext cx="28346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420624" y="34838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Xử lý SR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0" y="3456432"/>
            <a:ext cx="1152144" cy="34747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0" y="3456432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&lt; 24h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" y="3886200"/>
            <a:ext cx="28346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420624" y="3913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Hoàn thành SR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0" y="3886200"/>
            <a:ext cx="1152144" cy="34747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0" y="388620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≥ 95%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" y="4315968"/>
            <a:ext cx="28346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420624" y="4343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Uptime platform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0" y="4315968"/>
            <a:ext cx="1152144" cy="34747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51" name="Text 49"/>
          <p:cNvSpPr/>
          <p:nvPr/>
        </p:nvSpPr>
        <p:spPr>
          <a:xfrm>
            <a:off x="3200400" y="4315968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≥ 99.5%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18304" y="2980944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18304" y="2980944"/>
            <a:ext cx="420624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4718304" y="29809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Tài chính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828032" y="3456432"/>
            <a:ext cx="28346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6" name="Text 54"/>
          <p:cNvSpPr/>
          <p:nvPr/>
        </p:nvSpPr>
        <p:spPr>
          <a:xfrm>
            <a:off x="4882896" y="34838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Báo cáo P&amp;L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662672" y="3456432"/>
            <a:ext cx="1152144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8" name="Text 56"/>
          <p:cNvSpPr/>
          <p:nvPr/>
        </p:nvSpPr>
        <p:spPr>
          <a:xfrm>
            <a:off x="7662672" y="3456432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T+0 auto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828032" y="3886200"/>
            <a:ext cx="28346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Text 58"/>
          <p:cNvSpPr/>
          <p:nvPr/>
        </p:nvSpPr>
        <p:spPr>
          <a:xfrm>
            <a:off x="4882896" y="3913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Chênh lệch đối soát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662672" y="3886200"/>
            <a:ext cx="1152144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2" name="Text 60"/>
          <p:cNvSpPr/>
          <p:nvPr/>
        </p:nvSpPr>
        <p:spPr>
          <a:xfrm>
            <a:off x="7662672" y="388620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&lt; 0.01%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828032" y="4315968"/>
            <a:ext cx="28346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4" name="Text 62"/>
          <p:cNvSpPr/>
          <p:nvPr/>
        </p:nvSpPr>
        <p:spPr>
          <a:xfrm>
            <a:off x="4882896" y="4343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Giảm chi phí thủ công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662672" y="4315968"/>
            <a:ext cx="1152144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6" name="Text 64"/>
          <p:cNvSpPr/>
          <p:nvPr/>
        </p:nvSpPr>
        <p:spPr>
          <a:xfrm>
            <a:off x="7662672" y="4315968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≥ 60%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Tổng kết &amp; Bước tiếp theo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C"/>
                </a:solidFill>
              </a:rPr>
              <a:t>Summary &amp; Next Steps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2E8F0"/>
                </a:solidFill>
              </a:rPr>
              <a:t>© 2026 </a:t>
            </a:r>
            <a:r>
              <a:rPr lang="en-US" sz="750" dirty="0">
                <a:solidFill>
                  <a:srgbClr val="E2E8F0"/>
                </a:solidFill>
              </a:rPr>
              <a:t>TNPM – ROX Key | Property Management Platform HLD v2.0 | TOGAF-aligned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53035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987552"/>
            <a:ext cx="5303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987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📌  Tóm tắt giải pháp TNPM Platform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1435608"/>
            <a:ext cx="51206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✅  Fit cao (&gt;80%)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01952" y="146304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Chung cư, Nhà TT, Văn phòng, KCN – dùng ngay core platform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47472" y="1911096"/>
            <a:ext cx="5120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938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⚠️  Mở rộng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01952" y="193852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TTTM: cần thêm Turnover Rent + POS integration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47472" y="2386584"/>
            <a:ext cx="51206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4140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❌  Gap lớn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01952" y="2414016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Khu HC (B2G): cần module compliance + workflow riêng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47472" y="2862072"/>
            <a:ext cx="5120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8895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🏭  NCC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01952" y="288950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Vendor Management module cần phát triển mới – quan trọng cho tất cả loại hình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347472" y="3337560"/>
            <a:ext cx="51206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33649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🏗️  Multi-tenant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01952" y="336499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Redesign core với schema-per-tenant – nền tảng cho TNPM vận hành portfolio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47472" y="3813048"/>
            <a:ext cx="5120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840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📊  Phân hệ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01952" y="384048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6 core + 2 new (Lease Mgmt, Turnover Rent) + 1 major (Vendor Mgmt)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347472" y="4288536"/>
            <a:ext cx="51206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43159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🗓️  Roadmap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01952" y="431596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4 phases </a:t>
            </a:r>
            <a:r>
              <a:rPr lang="en-US" sz="880">
                <a:solidFill>
                  <a:srgbClr val="334155"/>
                </a:solidFill>
              </a:rPr>
              <a:t>/ 20 tuần, </a:t>
            </a:r>
            <a:r>
              <a:rPr lang="en-US" sz="880" dirty="0">
                <a:solidFill>
                  <a:srgbClr val="334155"/>
                </a:solidFill>
              </a:rPr>
              <a:t>MVP Phase 1 </a:t>
            </a:r>
            <a:r>
              <a:rPr lang="en-US" sz="880">
                <a:solidFill>
                  <a:srgbClr val="334155"/>
                </a:solidFill>
              </a:rPr>
              <a:t>trong 3 </a:t>
            </a:r>
            <a:r>
              <a:rPr lang="en-US" sz="880" dirty="0">
                <a:solidFill>
                  <a:srgbClr val="334155"/>
                </a:solidFill>
              </a:rPr>
              <a:t>tháng đầu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806440" y="987552"/>
            <a:ext cx="310896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06440" y="987552"/>
            <a:ext cx="3108960" cy="384048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33" name="Text 31"/>
          <p:cNvSpPr/>
          <p:nvPr/>
        </p:nvSpPr>
        <p:spPr>
          <a:xfrm>
            <a:off x="5806440" y="9875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 Bước tiếp theo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70448" y="1481328"/>
            <a:ext cx="274320" cy="274320"/>
          </a:xfrm>
          <a:prstGeom prst="ellipse">
            <a:avLst/>
          </a:prstGeom>
          <a:solidFill>
            <a:srgbClr val="0D7F8C"/>
          </a:solidFill>
          <a:ln/>
        </p:spPr>
      </p:sp>
      <p:sp>
        <p:nvSpPr>
          <p:cNvPr id="35" name="Text 33"/>
          <p:cNvSpPr/>
          <p:nvPr/>
        </p:nvSpPr>
        <p:spPr>
          <a:xfrm>
            <a:off x="5870448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7920" y="1481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Confirm Scope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1664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Workshop với TNPM xác nhận loại hình ưu tiên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5870448" y="2121408"/>
            <a:ext cx="274320" cy="274320"/>
          </a:xfrm>
          <a:prstGeom prst="ellipse">
            <a:avLst/>
          </a:prstGeom>
          <a:solidFill>
            <a:srgbClr val="0D7F8C"/>
          </a:solidFill>
          <a:ln/>
        </p:spPr>
      </p:sp>
      <p:sp>
        <p:nvSpPr>
          <p:cNvPr id="39" name="Text 37"/>
          <p:cNvSpPr/>
          <p:nvPr/>
        </p:nvSpPr>
        <p:spPr>
          <a:xfrm>
            <a:off x="5870448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0" y="2121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HLD Sign-off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17920" y="23042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Review &amp; phê duyệt kiến trúc này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5870448" y="2761488"/>
            <a:ext cx="274320" cy="274320"/>
          </a:xfrm>
          <a:prstGeom prst="ellipse">
            <a:avLst/>
          </a:prstGeom>
          <a:solidFill>
            <a:srgbClr val="0D7F8C"/>
          </a:solidFill>
          <a:ln/>
        </p:spPr>
      </p:sp>
      <p:sp>
        <p:nvSpPr>
          <p:cNvPr id="43" name="Text 41"/>
          <p:cNvSpPr/>
          <p:nvPr/>
        </p:nvSpPr>
        <p:spPr>
          <a:xfrm>
            <a:off x="5870448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27614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LLD Design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0" y="29443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Chi tiết hóa Vendor Mgmt + Multi-tenant core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5870448" y="3401568"/>
            <a:ext cx="274320" cy="274320"/>
          </a:xfrm>
          <a:prstGeom prst="ellipse">
            <a:avLst/>
          </a:prstGeom>
          <a:solidFill>
            <a:srgbClr val="0D7F8C"/>
          </a:solidFill>
          <a:ln/>
        </p:spPr>
      </p:sp>
      <p:sp>
        <p:nvSpPr>
          <p:cNvPr id="47" name="Text 45"/>
          <p:cNvSpPr/>
          <p:nvPr/>
        </p:nvSpPr>
        <p:spPr>
          <a:xfrm>
            <a:off x="5870448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17920" y="34015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PoC Payment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17920" y="3584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Tích hợp thử nghiệm MSB Pay + App Timi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5870448" y="4041648"/>
            <a:ext cx="274320" cy="274320"/>
          </a:xfrm>
          <a:prstGeom prst="ellipse">
            <a:avLst/>
          </a:prstGeom>
          <a:solidFill>
            <a:srgbClr val="0D7F8C"/>
          </a:solidFill>
          <a:ln/>
        </p:spPr>
      </p:sp>
      <p:sp>
        <p:nvSpPr>
          <p:cNvPr id="51" name="Text 49"/>
          <p:cNvSpPr/>
          <p:nvPr/>
        </p:nvSpPr>
        <p:spPr>
          <a:xfrm>
            <a:off x="5870448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17920" y="4041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Phase 1 Kickoff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17920" y="4224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Bắt đầu development – Chung cư + Nhà TT</a:t>
            </a:r>
            <a:endParaRPr lang="en-US" sz="8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7F8C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13716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>
                    <a:alpha val="82000"/>
                  </a:srgbClr>
                </a:solidFill>
              </a:rPr>
              <a:t>Q&amp;A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749040" y="7772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Cảm ơn!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749040" y="169164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</a:rPr>
              <a:t>TNPM – ROX Key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</a:rPr>
              <a:t>Nền tảng Quản lý Vận hành BĐS Đa năng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49040" y="260604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27889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📋  HLD v2.0 | TOGAF-aligned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32461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🏢  7 loại hình BĐS | 8 phân hệ chính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37033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📦  4 Phases </a:t>
            </a:r>
            <a:r>
              <a:rPr lang="en-US" sz="1100">
                <a:solidFill>
                  <a:srgbClr val="E2E8F0"/>
                </a:solidFill>
              </a:rPr>
              <a:t>| 20 tuần </a:t>
            </a:r>
            <a:r>
              <a:rPr lang="en-US" sz="1100" dirty="0">
                <a:solidFill>
                  <a:srgbClr val="E2E8F0"/>
                </a:solidFill>
              </a:rPr>
              <a:t>| Multi-tenant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41605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🏭  Vendor Management | Turnover Rent | Lease Mgmt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8FAFC"/>
        </a:solidFill>
        <a:ln w="12700">
          <a:solidFill>
            <a:srgbClr val="1A2B4A"/>
          </a:solidFill>
          <a:prstDash val="solid"/>
        </a:ln>
      </a:spPr>
      <a:bodyPr/>
      <a:lstStyle/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3855</Words>
  <Application>Microsoft Office PowerPoint</Application>
  <PresentationFormat>On-screen Show (16:9)</PresentationFormat>
  <Paragraphs>848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TNPM – HLD Property Management Platform</dc:title>
  <dc:subject>PptxGenJS Presentation</dc:subject>
  <dc:creator>PptxGenJS</dc:creator>
  <cp:lastModifiedBy>Cham Bui Thi Huyen (ROX Key-VP TDKD&amp;LK)</cp:lastModifiedBy>
  <cp:revision>31</cp:revision>
  <dcterms:created xsi:type="dcterms:W3CDTF">2026-04-01T10:55:15Z</dcterms:created>
  <dcterms:modified xsi:type="dcterms:W3CDTF">2026-04-14T10:42:07Z</dcterms:modified>
</cp:coreProperties>
</file>